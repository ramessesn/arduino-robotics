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45"/>
  </p:notesMasterIdLst>
  <p:sldIdLst>
    <p:sldId id="256" r:id="rId3"/>
    <p:sldId id="285" r:id="rId4"/>
    <p:sldId id="286" r:id="rId5"/>
    <p:sldId id="287" r:id="rId6"/>
    <p:sldId id="288" r:id="rId7"/>
    <p:sldId id="289" r:id="rId8"/>
    <p:sldId id="283" r:id="rId9"/>
    <p:sldId id="284" r:id="rId10"/>
    <p:sldId id="291" r:id="rId11"/>
    <p:sldId id="280" r:id="rId12"/>
    <p:sldId id="257" r:id="rId13"/>
    <p:sldId id="277" r:id="rId14"/>
    <p:sldId id="269" r:id="rId15"/>
    <p:sldId id="270" r:id="rId16"/>
    <p:sldId id="272" r:id="rId17"/>
    <p:sldId id="271" r:id="rId18"/>
    <p:sldId id="278" r:id="rId19"/>
    <p:sldId id="275" r:id="rId20"/>
    <p:sldId id="273" r:id="rId21"/>
    <p:sldId id="276" r:id="rId22"/>
    <p:sldId id="262" r:id="rId23"/>
    <p:sldId id="279" r:id="rId24"/>
    <p:sldId id="293" r:id="rId25"/>
    <p:sldId id="294" r:id="rId26"/>
    <p:sldId id="297" r:id="rId27"/>
    <p:sldId id="295" r:id="rId28"/>
    <p:sldId id="296" r:id="rId29"/>
    <p:sldId id="263" r:id="rId30"/>
    <p:sldId id="281" r:id="rId31"/>
    <p:sldId id="264" r:id="rId32"/>
    <p:sldId id="292" r:id="rId33"/>
    <p:sldId id="298" r:id="rId34"/>
    <p:sldId id="307" r:id="rId35"/>
    <p:sldId id="299" r:id="rId36"/>
    <p:sldId id="300" r:id="rId37"/>
    <p:sldId id="301" r:id="rId38"/>
    <p:sldId id="302" r:id="rId39"/>
    <p:sldId id="303" r:id="rId40"/>
    <p:sldId id="304" r:id="rId41"/>
    <p:sldId id="305" r:id="rId42"/>
    <p:sldId id="306" r:id="rId43"/>
    <p:sldId id="261"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5D8A"/>
    <a:srgbClr val="DCE6F2"/>
    <a:srgbClr val="EBF1DE"/>
    <a:srgbClr val="3583C5"/>
    <a:srgbClr val="8064A2"/>
    <a:srgbClr val="8C3836"/>
    <a:srgbClr val="EFF4F4"/>
    <a:srgbClr val="DEE8E8"/>
    <a:srgbClr val="9CBE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C42CE-8535-4815-AACD-27253B78FC62}" v="3" dt="2024-04-10T10:12:47.27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91" autoAdjust="0"/>
    <p:restoredTop sz="94660"/>
  </p:normalViewPr>
  <p:slideViewPr>
    <p:cSldViewPr snapToGrid="0">
      <p:cViewPr varScale="1">
        <p:scale>
          <a:sx n="66" d="100"/>
          <a:sy n="66" d="100"/>
        </p:scale>
        <p:origin x="48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on Bullock" userId="3215beb814d09e4a" providerId="LiveId" clId="{3D8C42CE-8535-4815-AACD-27253B78FC62}"/>
    <pc:docChg chg="custSel addSld modSld sldOrd">
      <pc:chgData name="Leon Bullock" userId="3215beb814d09e4a" providerId="LiveId" clId="{3D8C42CE-8535-4815-AACD-27253B78FC62}" dt="2024-04-10T10:30:41.946" v="2496" actId="20577"/>
      <pc:docMkLst>
        <pc:docMk/>
      </pc:docMkLst>
      <pc:sldChg chg="modSp mod ord">
        <pc:chgData name="Leon Bullock" userId="3215beb814d09e4a" providerId="LiveId" clId="{3D8C42CE-8535-4815-AACD-27253B78FC62}" dt="2024-04-10T10:30:41.946" v="2496" actId="20577"/>
        <pc:sldMkLst>
          <pc:docMk/>
          <pc:sldMk cId="0" sldId="261"/>
        </pc:sldMkLst>
        <pc:spChg chg="mod">
          <ac:chgData name="Leon Bullock" userId="3215beb814d09e4a" providerId="LiveId" clId="{3D8C42CE-8535-4815-AACD-27253B78FC62}" dt="2024-04-10T10:30:41.946" v="2496" actId="20577"/>
          <ac:spMkLst>
            <pc:docMk/>
            <pc:sldMk cId="0" sldId="261"/>
            <ac:spMk id="3" creationId="{00000000-0000-0000-0000-000000000000}"/>
          </ac:spMkLst>
        </pc:spChg>
      </pc:sldChg>
      <pc:sldChg chg="modSp mod">
        <pc:chgData name="Leon Bullock" userId="3215beb814d09e4a" providerId="LiveId" clId="{3D8C42CE-8535-4815-AACD-27253B78FC62}" dt="2024-04-10T10:11:55.183" v="2379" actId="27636"/>
        <pc:sldMkLst>
          <pc:docMk/>
          <pc:sldMk cId="0" sldId="294"/>
        </pc:sldMkLst>
        <pc:spChg chg="mod">
          <ac:chgData name="Leon Bullock" userId="3215beb814d09e4a" providerId="LiveId" clId="{3D8C42CE-8535-4815-AACD-27253B78FC62}" dt="2024-04-10T10:11:55.183" v="2379" actId="27636"/>
          <ac:spMkLst>
            <pc:docMk/>
            <pc:sldMk cId="0" sldId="294"/>
            <ac:spMk id="3" creationId="{00000000-0000-0000-0000-000000000000}"/>
          </ac:spMkLst>
        </pc:spChg>
      </pc:sldChg>
      <pc:sldChg chg="modSp new mod">
        <pc:chgData name="Leon Bullock" userId="3215beb814d09e4a" providerId="LiveId" clId="{3D8C42CE-8535-4815-AACD-27253B78FC62}" dt="2024-04-10T09:57:48.531" v="391" actId="21"/>
        <pc:sldMkLst>
          <pc:docMk/>
          <pc:sldMk cId="3369188912" sldId="298"/>
        </pc:sldMkLst>
        <pc:spChg chg="mod">
          <ac:chgData name="Leon Bullock" userId="3215beb814d09e4a" providerId="LiveId" clId="{3D8C42CE-8535-4815-AACD-27253B78FC62}" dt="2024-04-10T09:57:48.531" v="391" actId="21"/>
          <ac:spMkLst>
            <pc:docMk/>
            <pc:sldMk cId="3369188912" sldId="298"/>
            <ac:spMk id="2" creationId="{9143B9DF-CA25-F26F-AB3D-7CBB9A73B144}"/>
          </ac:spMkLst>
        </pc:spChg>
        <pc:spChg chg="mod">
          <ac:chgData name="Leon Bullock" userId="3215beb814d09e4a" providerId="LiveId" clId="{3D8C42CE-8535-4815-AACD-27253B78FC62}" dt="2024-04-10T09:57:44.118" v="390" actId="5793"/>
          <ac:spMkLst>
            <pc:docMk/>
            <pc:sldMk cId="3369188912" sldId="298"/>
            <ac:spMk id="3" creationId="{C779C792-124D-3339-6183-389BEDD2BCC2}"/>
          </ac:spMkLst>
        </pc:spChg>
      </pc:sldChg>
      <pc:sldChg chg="modSp new mod">
        <pc:chgData name="Leon Bullock" userId="3215beb814d09e4a" providerId="LiveId" clId="{3D8C42CE-8535-4815-AACD-27253B78FC62}" dt="2024-04-10T10:00:17.740" v="986" actId="20577"/>
        <pc:sldMkLst>
          <pc:docMk/>
          <pc:sldMk cId="753967339" sldId="299"/>
        </pc:sldMkLst>
        <pc:spChg chg="mod">
          <ac:chgData name="Leon Bullock" userId="3215beb814d09e4a" providerId="LiveId" clId="{3D8C42CE-8535-4815-AACD-27253B78FC62}" dt="2024-04-10T09:57:54.014" v="393"/>
          <ac:spMkLst>
            <pc:docMk/>
            <pc:sldMk cId="753967339" sldId="299"/>
            <ac:spMk id="2" creationId="{C0F87DCB-1D57-5563-C1E7-A42B9E4B9C9A}"/>
          </ac:spMkLst>
        </pc:spChg>
        <pc:spChg chg="mod">
          <ac:chgData name="Leon Bullock" userId="3215beb814d09e4a" providerId="LiveId" clId="{3D8C42CE-8535-4815-AACD-27253B78FC62}" dt="2024-04-10T10:00:17.740" v="986" actId="20577"/>
          <ac:spMkLst>
            <pc:docMk/>
            <pc:sldMk cId="753967339" sldId="299"/>
            <ac:spMk id="3" creationId="{7FEFB4C9-1C65-54B0-F5C0-D761AA4E0893}"/>
          </ac:spMkLst>
        </pc:spChg>
      </pc:sldChg>
      <pc:sldChg chg="addSp delSp modSp new mod">
        <pc:chgData name="Leon Bullock" userId="3215beb814d09e4a" providerId="LiveId" clId="{3D8C42CE-8535-4815-AACD-27253B78FC62}" dt="2024-04-10T10:01:15.441" v="1045" actId="20577"/>
        <pc:sldMkLst>
          <pc:docMk/>
          <pc:sldMk cId="347552487" sldId="300"/>
        </pc:sldMkLst>
        <pc:spChg chg="del">
          <ac:chgData name="Leon Bullock" userId="3215beb814d09e4a" providerId="LiveId" clId="{3D8C42CE-8535-4815-AACD-27253B78FC62}" dt="2024-04-10T10:00:38.348" v="988" actId="3680"/>
          <ac:spMkLst>
            <pc:docMk/>
            <pc:sldMk cId="347552487" sldId="300"/>
            <ac:spMk id="3" creationId="{061174AB-2080-3853-5E39-65D86482622D}"/>
          </ac:spMkLst>
        </pc:spChg>
        <pc:graphicFrameChg chg="add mod ord modGraphic">
          <ac:chgData name="Leon Bullock" userId="3215beb814d09e4a" providerId="LiveId" clId="{3D8C42CE-8535-4815-AACD-27253B78FC62}" dt="2024-04-10T10:01:15.441" v="1045" actId="20577"/>
          <ac:graphicFrameMkLst>
            <pc:docMk/>
            <pc:sldMk cId="347552487" sldId="300"/>
            <ac:graphicFrameMk id="7" creationId="{AA1A6B8B-6AD8-8C15-A3F6-62C4C28E4432}"/>
          </ac:graphicFrameMkLst>
        </pc:graphicFrameChg>
      </pc:sldChg>
      <pc:sldChg chg="modSp new mod">
        <pc:chgData name="Leon Bullock" userId="3215beb814d09e4a" providerId="LiveId" clId="{3D8C42CE-8535-4815-AACD-27253B78FC62}" dt="2024-04-10T10:02:32.564" v="1242" actId="20577"/>
        <pc:sldMkLst>
          <pc:docMk/>
          <pc:sldMk cId="3628636363" sldId="301"/>
        </pc:sldMkLst>
        <pc:spChg chg="mod">
          <ac:chgData name="Leon Bullock" userId="3215beb814d09e4a" providerId="LiveId" clId="{3D8C42CE-8535-4815-AACD-27253B78FC62}" dt="2024-04-10T10:02:32.564" v="1242" actId="20577"/>
          <ac:spMkLst>
            <pc:docMk/>
            <pc:sldMk cId="3628636363" sldId="301"/>
            <ac:spMk id="3" creationId="{BF4B9A09-E29F-607C-AAB8-A880F0E0F33A}"/>
          </ac:spMkLst>
        </pc:spChg>
      </pc:sldChg>
      <pc:sldChg chg="modSp new mod">
        <pc:chgData name="Leon Bullock" userId="3215beb814d09e4a" providerId="LiveId" clId="{3D8C42CE-8535-4815-AACD-27253B78FC62}" dt="2024-04-10T10:05:27.823" v="1445" actId="12"/>
        <pc:sldMkLst>
          <pc:docMk/>
          <pc:sldMk cId="3840085197" sldId="302"/>
        </pc:sldMkLst>
        <pc:spChg chg="mod">
          <ac:chgData name="Leon Bullock" userId="3215beb814d09e4a" providerId="LiveId" clId="{3D8C42CE-8535-4815-AACD-27253B78FC62}" dt="2024-04-10T10:05:27.823" v="1445" actId="12"/>
          <ac:spMkLst>
            <pc:docMk/>
            <pc:sldMk cId="3840085197" sldId="302"/>
            <ac:spMk id="3" creationId="{2910E92B-422B-E821-A7B1-13BCA6328BC7}"/>
          </ac:spMkLst>
        </pc:spChg>
      </pc:sldChg>
      <pc:sldChg chg="modSp new mod">
        <pc:chgData name="Leon Bullock" userId="3215beb814d09e4a" providerId="LiveId" clId="{3D8C42CE-8535-4815-AACD-27253B78FC62}" dt="2024-04-10T10:06:09.512" v="1607" actId="20577"/>
        <pc:sldMkLst>
          <pc:docMk/>
          <pc:sldMk cId="3490416058" sldId="303"/>
        </pc:sldMkLst>
        <pc:spChg chg="mod">
          <ac:chgData name="Leon Bullock" userId="3215beb814d09e4a" providerId="LiveId" clId="{3D8C42CE-8535-4815-AACD-27253B78FC62}" dt="2024-04-10T10:06:09.512" v="1607" actId="20577"/>
          <ac:spMkLst>
            <pc:docMk/>
            <pc:sldMk cId="3490416058" sldId="303"/>
            <ac:spMk id="3" creationId="{35BF7D0E-0295-4712-87E1-D453BA6D47C4}"/>
          </ac:spMkLst>
        </pc:spChg>
      </pc:sldChg>
      <pc:sldChg chg="modSp new mod">
        <pc:chgData name="Leon Bullock" userId="3215beb814d09e4a" providerId="LiveId" clId="{3D8C42CE-8535-4815-AACD-27253B78FC62}" dt="2024-04-10T10:07:38.869" v="1909" actId="12"/>
        <pc:sldMkLst>
          <pc:docMk/>
          <pc:sldMk cId="1433839467" sldId="304"/>
        </pc:sldMkLst>
        <pc:spChg chg="mod">
          <ac:chgData name="Leon Bullock" userId="3215beb814d09e4a" providerId="LiveId" clId="{3D8C42CE-8535-4815-AACD-27253B78FC62}" dt="2024-04-10T10:07:38.869" v="1909" actId="12"/>
          <ac:spMkLst>
            <pc:docMk/>
            <pc:sldMk cId="1433839467" sldId="304"/>
            <ac:spMk id="3" creationId="{8BB7E0AE-D0CB-ACA9-A1AF-2003D8A7CC41}"/>
          </ac:spMkLst>
        </pc:spChg>
      </pc:sldChg>
      <pc:sldChg chg="modSp new mod">
        <pc:chgData name="Leon Bullock" userId="3215beb814d09e4a" providerId="LiveId" clId="{3D8C42CE-8535-4815-AACD-27253B78FC62}" dt="2024-04-10T10:09:13.823" v="2206" actId="20577"/>
        <pc:sldMkLst>
          <pc:docMk/>
          <pc:sldMk cId="2865757631" sldId="305"/>
        </pc:sldMkLst>
        <pc:spChg chg="mod">
          <ac:chgData name="Leon Bullock" userId="3215beb814d09e4a" providerId="LiveId" clId="{3D8C42CE-8535-4815-AACD-27253B78FC62}" dt="2024-04-10T10:09:13.823" v="2206" actId="20577"/>
          <ac:spMkLst>
            <pc:docMk/>
            <pc:sldMk cId="2865757631" sldId="305"/>
            <ac:spMk id="2" creationId="{F499F313-AA37-8682-B544-03593132E0E2}"/>
          </ac:spMkLst>
        </pc:spChg>
        <pc:spChg chg="mod">
          <ac:chgData name="Leon Bullock" userId="3215beb814d09e4a" providerId="LiveId" clId="{3D8C42CE-8535-4815-AACD-27253B78FC62}" dt="2024-04-10T10:09:07.382" v="2189" actId="20577"/>
          <ac:spMkLst>
            <pc:docMk/>
            <pc:sldMk cId="2865757631" sldId="305"/>
            <ac:spMk id="3" creationId="{3F2387ED-F2F8-02C5-4BDA-49C7E5D21F0E}"/>
          </ac:spMkLst>
        </pc:spChg>
      </pc:sldChg>
      <pc:sldChg chg="modSp new mod">
        <pc:chgData name="Leon Bullock" userId="3215beb814d09e4a" providerId="LiveId" clId="{3D8C42CE-8535-4815-AACD-27253B78FC62}" dt="2024-04-10T10:09:51.763" v="2372" actId="20577"/>
        <pc:sldMkLst>
          <pc:docMk/>
          <pc:sldMk cId="1549088836" sldId="306"/>
        </pc:sldMkLst>
        <pc:spChg chg="mod">
          <ac:chgData name="Leon Bullock" userId="3215beb814d09e4a" providerId="LiveId" clId="{3D8C42CE-8535-4815-AACD-27253B78FC62}" dt="2024-04-10T10:09:51.763" v="2372" actId="20577"/>
          <ac:spMkLst>
            <pc:docMk/>
            <pc:sldMk cId="1549088836" sldId="306"/>
            <ac:spMk id="3" creationId="{7C9DC6E2-886A-F210-888D-42E206E8044C}"/>
          </ac:spMkLst>
        </pc:spChg>
      </pc:sldChg>
      <pc:sldChg chg="addSp delSp modSp new mod">
        <pc:chgData name="Leon Bullock" userId="3215beb814d09e4a" providerId="LiveId" clId="{3D8C42CE-8535-4815-AACD-27253B78FC62}" dt="2024-04-10T10:12:50.647" v="2392" actId="1076"/>
        <pc:sldMkLst>
          <pc:docMk/>
          <pc:sldMk cId="3129978396" sldId="307"/>
        </pc:sldMkLst>
        <pc:spChg chg="del">
          <ac:chgData name="Leon Bullock" userId="3215beb814d09e4a" providerId="LiveId" clId="{3D8C42CE-8535-4815-AACD-27253B78FC62}" dt="2024-04-10T10:11:54.960" v="2378"/>
          <ac:spMkLst>
            <pc:docMk/>
            <pc:sldMk cId="3129978396" sldId="307"/>
            <ac:spMk id="3" creationId="{183C731F-89AE-5C66-665E-6B54F8067A6A}"/>
          </ac:spMkLst>
        </pc:spChg>
        <pc:spChg chg="add mod">
          <ac:chgData name="Leon Bullock" userId="3215beb814d09e4a" providerId="LiveId" clId="{3D8C42CE-8535-4815-AACD-27253B78FC62}" dt="2024-04-10T10:12:46.422" v="2390" actId="1076"/>
          <ac:spMkLst>
            <pc:docMk/>
            <pc:sldMk cId="3129978396" sldId="307"/>
            <ac:spMk id="9" creationId="{66CD0ED8-80CD-932B-7032-EF6C312478D5}"/>
          </ac:spMkLst>
        </pc:spChg>
        <pc:spChg chg="add mod">
          <ac:chgData name="Leon Bullock" userId="3215beb814d09e4a" providerId="LiveId" clId="{3D8C42CE-8535-4815-AACD-27253B78FC62}" dt="2024-04-10T10:12:50.647" v="2392" actId="1076"/>
          <ac:spMkLst>
            <pc:docMk/>
            <pc:sldMk cId="3129978396" sldId="307"/>
            <ac:spMk id="10" creationId="{A6F3F6FE-BEC4-3F41-74EC-76AAD0C2CFC3}"/>
          </ac:spMkLst>
        </pc:spChg>
        <pc:picChg chg="add mod modCrop">
          <ac:chgData name="Leon Bullock" userId="3215beb814d09e4a" providerId="LiveId" clId="{3D8C42CE-8535-4815-AACD-27253B78FC62}" dt="2024-04-10T10:12:24.198" v="2388" actId="14100"/>
          <ac:picMkLst>
            <pc:docMk/>
            <pc:sldMk cId="3129978396" sldId="307"/>
            <ac:picMk id="8" creationId="{281A9340-31DF-4196-92CD-DE8FA3C01FF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B838B-1409-43BE-9D99-8325D7EA9B76}" type="datetimeFigureOut">
              <a:rPr lang="en-GB" smtClean="0"/>
              <a:t>10/04/2024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54B1E-2D3A-4674-9452-DFC6177EE6D1}"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9144000" cy="4572001"/>
          </a:xfrm>
          <a:prstGeom prst="rect">
            <a:avLst/>
          </a:prstGeom>
          <a:solidFill>
            <a:srgbClr val="3583C5"/>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3750" spc="15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200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r>
              <a:rPr lang="en-US"/>
              <a:t>September 2018</a:t>
            </a:r>
            <a:endParaRPr lang="en-GB"/>
          </a:p>
        </p:txBody>
      </p:sp>
      <p:cxnSp>
        <p:nvCxnSpPr>
          <p:cNvPr id="8" name="Straight Connector 7"/>
          <p:cNvCxnSpPr/>
          <p:nvPr/>
        </p:nvCxnSpPr>
        <p:spPr>
          <a:xfrm flipV="1">
            <a:off x="6290132" y="5264106"/>
            <a:ext cx="0" cy="914400"/>
          </a:xfrm>
          <a:prstGeom prst="line">
            <a:avLst/>
          </a:prstGeom>
          <a:ln w="19050">
            <a:solidFill>
              <a:srgbClr val="9CBEBD"/>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38963" y="354710"/>
            <a:ext cx="1438659" cy="7193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180975" indent="-180975">
              <a:buFont typeface="Wingdings" panose="05000000000000000000" pitchFamily="2" charset="2"/>
              <a:buChar char="§"/>
              <a:defRPr/>
            </a:lvl1pPr>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8095" y="6470704"/>
            <a:ext cx="1615607" cy="274320"/>
          </a:xfrm>
        </p:spPr>
        <p:txBody>
          <a:bodyPr/>
          <a:lstStyle/>
          <a:p>
            <a:r>
              <a:rPr lang="en-US" dirty="0"/>
              <a:t>January ‘21</a:t>
            </a:r>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lvl1pPr algn="r">
              <a:defRPr/>
            </a:lvl1pPr>
          </a:lstStyle>
          <a:p>
            <a:fld id="{4D9A0FCD-C181-41F7-AE76-3F64F16EDCFD}"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9144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3750" b="0" spc="15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2000">
                <a:solidFill>
                  <a:schemeClr val="tx1">
                    <a:lumMod val="90000"/>
                    <a:lumOff val="1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lgn="just">
              <a:defRPr/>
            </a:lvl1pPr>
          </a:lstStyle>
          <a:p>
            <a:r>
              <a:rPr lang="en-US" dirty="0"/>
              <a:t>January ‘21</a:t>
            </a:r>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D9A0FCD-C181-41F7-AE76-3F64F16EDCFD}" type="slidenum">
              <a:rPr lang="en-GB" smtClean="0"/>
              <a:t>‹#›</a:t>
            </a:fld>
            <a:endParaRPr lang="en-GB"/>
          </a:p>
        </p:txBody>
      </p:sp>
      <p:cxnSp>
        <p:nvCxnSpPr>
          <p:cNvPr id="8" name="Straight Connector 7"/>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607950" cy="1155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1902068"/>
            <a:ext cx="3726000" cy="4407292"/>
          </a:xfrm>
        </p:spPr>
        <p:txBody>
          <a:bodyPr/>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0046" y="1902068"/>
            <a:ext cx="3726000" cy="4407292"/>
          </a:xfrm>
        </p:spPr>
        <p:txBody>
          <a:bodyPr/>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607950" cy="1155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1902068"/>
            <a:ext cx="5220000" cy="4407292"/>
          </a:xfrm>
        </p:spPr>
        <p:txBody>
          <a:bodyPr/>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January ‘21</a:t>
            </a:r>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D9A0FCD-C181-41F7-AE76-3F64F16EDCFD}" type="slidenum">
              <a:rPr lang="en-GB" smtClean="0"/>
              <a:t>‹#›</a:t>
            </a:fld>
            <a:endParaRPr lang="en-GB"/>
          </a:p>
        </p:txBody>
      </p:sp>
      <p:sp>
        <p:nvSpPr>
          <p:cNvPr id="9" name="Picture Placeholder 8"/>
          <p:cNvSpPr>
            <a:spLocks noGrp="1"/>
          </p:cNvSpPr>
          <p:nvPr>
            <p:ph type="pic" sz="quarter" idx="13"/>
          </p:nvPr>
        </p:nvSpPr>
        <p:spPr>
          <a:xfrm>
            <a:off x="6099586" y="1902068"/>
            <a:ext cx="2276460" cy="4407292"/>
          </a:xfrm>
        </p:spPr>
        <p:txBody>
          <a:bodyPr/>
          <a:lstStyle/>
          <a:p>
            <a:r>
              <a:rPr lang="en-US"/>
              <a:t>Click icon to add picture</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6800"/>
            <a:ext cx="7607950" cy="11556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1901212"/>
            <a:ext cx="3726000" cy="822960"/>
          </a:xfrm>
        </p:spPr>
        <p:txBody>
          <a:bodyPr lIns="137160" rIns="137160" anchor="ctr">
            <a:normAutofit/>
          </a:bodyPr>
          <a:lstStyle>
            <a:lvl1pPr marL="0" indent="0">
              <a:spcBef>
                <a:spcPts val="0"/>
              </a:spcBef>
              <a:spcAft>
                <a:spcPts val="0"/>
              </a:spcAft>
              <a:buNone/>
              <a:defRPr sz="1725" b="0" cap="none" baseline="0">
                <a:solidFill>
                  <a:srgbClr val="3583C5"/>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68096" y="2724172"/>
            <a:ext cx="3726000" cy="3585188"/>
          </a:xfrm>
        </p:spPr>
        <p:txBody>
          <a:bodyPr lIns="45720" rIns="45720"/>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0046" y="1901212"/>
            <a:ext cx="3726000" cy="822960"/>
          </a:xfrm>
        </p:spPr>
        <p:txBody>
          <a:bodyPr lIns="137160" rIns="137160" anchor="ctr">
            <a:normAutofit/>
          </a:bodyPr>
          <a:lstStyle>
            <a:lvl1pPr marL="0" indent="0">
              <a:spcBef>
                <a:spcPts val="0"/>
              </a:spcBef>
              <a:spcAft>
                <a:spcPts val="0"/>
              </a:spcAft>
              <a:buNone/>
              <a:defRPr lang="en-US" sz="1725" b="0" kern="1200" cap="none" baseline="0" dirty="0">
                <a:solidFill>
                  <a:srgbClr val="3583C5"/>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en-US"/>
              <a:t>Click to edit Master text styles</a:t>
            </a:r>
          </a:p>
        </p:txBody>
      </p:sp>
      <p:sp>
        <p:nvSpPr>
          <p:cNvPr id="6" name="Content Placeholder 5"/>
          <p:cNvSpPr>
            <a:spLocks noGrp="1"/>
          </p:cNvSpPr>
          <p:nvPr>
            <p:ph sz="quarter" idx="4"/>
          </p:nvPr>
        </p:nvSpPr>
        <p:spPr>
          <a:xfrm>
            <a:off x="4650046" y="2724172"/>
            <a:ext cx="3726000" cy="3585188"/>
          </a:xfrm>
        </p:spPr>
        <p:txBody>
          <a:bodyPr lIns="45720" rIns="45720"/>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January ‘21</a:t>
            </a:r>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8095" y="586800"/>
            <a:ext cx="7607951" cy="1155508"/>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dirty="0"/>
              <a:t>January ‘21</a:t>
            </a:r>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dirty="0"/>
              <a:t>January ‘21</a:t>
            </a:r>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417581"/>
          </a:xfrm>
        </p:spPr>
        <p:txBody>
          <a:bodyPr>
            <a:noAutofit/>
          </a:bodyPr>
          <a:lstStyle>
            <a:lvl1pPr>
              <a:lnSpc>
                <a:spcPct val="80000"/>
              </a:lnSpc>
              <a:defRPr sz="30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lstStyle>
            <a:lvl1pPr>
              <a:defRPr sz="1800"/>
            </a:lvl1pPr>
            <a:lvl2pPr marL="452755" indent="-193675">
              <a:defRPr lang="en-US" sz="1400" kern="1200" dirty="0">
                <a:solidFill>
                  <a:schemeClr val="tx1"/>
                </a:solidFill>
                <a:latin typeface="+mn-lt"/>
                <a:ea typeface="+mn-ea"/>
                <a:cs typeface="+mn-cs"/>
              </a:defRPr>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029767"/>
            <a:ext cx="3291840" cy="3990033"/>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September 2018</a:t>
            </a:r>
            <a:endParaRPr lang="en-GB"/>
          </a:p>
        </p:txBody>
      </p:sp>
      <p:sp>
        <p:nvSpPr>
          <p:cNvPr id="6" name="Footer Placeholder 5"/>
          <p:cNvSpPr>
            <a:spLocks noGrp="1"/>
          </p:cNvSpPr>
          <p:nvPr>
            <p:ph type="ftr" sz="quarter" idx="11"/>
          </p:nvPr>
        </p:nvSpPr>
        <p:spPr/>
        <p:txBody>
          <a:bodyPr/>
          <a:lstStyle/>
          <a:p>
            <a:r>
              <a:rPr lang="en-GB"/>
              <a:t>B37GD - A - 1.0</a:t>
            </a:r>
          </a:p>
        </p:txBody>
      </p:sp>
      <p:sp>
        <p:nvSpPr>
          <p:cNvPr id="7" name="Slide Number Placeholder 6"/>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3750" spc="15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rIns="45720" bIns="4572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35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September 2018</a:t>
            </a:r>
            <a:endParaRPr lang="en-GB"/>
          </a:p>
        </p:txBody>
      </p:sp>
      <p:sp>
        <p:nvSpPr>
          <p:cNvPr id="6" name="Footer Placeholder 5"/>
          <p:cNvSpPr>
            <a:spLocks noGrp="1"/>
          </p:cNvSpPr>
          <p:nvPr>
            <p:ph type="ftr" sz="quarter" idx="11"/>
          </p:nvPr>
        </p:nvSpPr>
        <p:spPr/>
        <p:txBody>
          <a:bodyPr/>
          <a:lstStyle/>
          <a:p>
            <a:r>
              <a:rPr lang="en-GB"/>
              <a:t>B37GD - A - 1.0</a:t>
            </a:r>
          </a:p>
        </p:txBody>
      </p:sp>
      <p:sp>
        <p:nvSpPr>
          <p:cNvPr id="7" name="Slide Number Placeholder 6"/>
          <p:cNvSpPr>
            <a:spLocks noGrp="1"/>
          </p:cNvSpPr>
          <p:nvPr>
            <p:ph type="sldNum" sz="quarter" idx="12"/>
          </p:nvPr>
        </p:nvSpPr>
        <p:spPr/>
        <p:txBody>
          <a:bodyPr/>
          <a:lstStyle/>
          <a:p>
            <a:fld id="{4D9A0FCD-C181-41F7-AE76-3F64F16EDCFD}" type="slidenum">
              <a:rPr lang="en-GB" smtClean="0"/>
              <a:t>‹#›</a:t>
            </a:fld>
            <a:endParaRPr lang="en-GB"/>
          </a:p>
        </p:txBody>
      </p:sp>
      <p:cxnSp>
        <p:nvCxnSpPr>
          <p:cNvPr id="9" name="Straight Connector 8"/>
          <p:cNvCxnSpPr/>
          <p:nvPr/>
        </p:nvCxnSpPr>
        <p:spPr>
          <a:xfrm flipV="1">
            <a:off x="6290132" y="5264106"/>
            <a:ext cx="0" cy="914400"/>
          </a:xfrm>
          <a:prstGeom prst="line">
            <a:avLst/>
          </a:prstGeom>
          <a:ln w="19050">
            <a:solidFill>
              <a:srgbClr val="3583C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September 2018</a:t>
            </a:r>
            <a:endParaRPr lang="en-GB"/>
          </a:p>
        </p:txBody>
      </p:sp>
      <p:sp>
        <p:nvSpPr>
          <p:cNvPr id="5" name="Footer Placeholder 4"/>
          <p:cNvSpPr>
            <a:spLocks noGrp="1"/>
          </p:cNvSpPr>
          <p:nvPr>
            <p:ph type="ftr" sz="quarter" idx="11"/>
          </p:nvPr>
        </p:nvSpPr>
        <p:spPr/>
        <p:txBody>
          <a:bodyPr/>
          <a:lstStyle/>
          <a:p>
            <a:r>
              <a:rPr lang="en-GB"/>
              <a:t>B37GD - A - 1.0</a:t>
            </a:r>
          </a:p>
        </p:txBody>
      </p:sp>
      <p:sp>
        <p:nvSpPr>
          <p:cNvPr id="6" name="Slide Number Placeholder 5"/>
          <p:cNvSpPr>
            <a:spLocks noGrp="1"/>
          </p:cNvSpPr>
          <p:nvPr>
            <p:ph type="sldNum" sz="quarter" idx="12"/>
          </p:nvPr>
        </p:nvSpPr>
        <p:spPr/>
        <p:txBody>
          <a:bodyPr/>
          <a:lstStyle/>
          <a:p>
            <a:fld id="{4D9A0FCD-C181-41F7-AE76-3F64F16EDCFD}"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0" y="762000"/>
            <a:ext cx="5686425" cy="5410200"/>
          </a:xfrm>
        </p:spPr>
        <p:txBody>
          <a:bodyPr vert="eaVert"/>
          <a:lstStyle>
            <a:lvl2pPr marL="452755" indent="-193675">
              <a:defRPr lang="en-US" sz="1600" kern="1200" dirty="0">
                <a:solidFill>
                  <a:schemeClr val="tx1"/>
                </a:solidFill>
                <a:latin typeface="+mn-lt"/>
                <a:ea typeface="+mn-ea"/>
                <a:cs typeface="+mn-cs"/>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September 2018</a:t>
            </a:r>
            <a:endParaRPr lang="en-GB" dirty="0"/>
          </a:p>
        </p:txBody>
      </p:sp>
      <p:sp>
        <p:nvSpPr>
          <p:cNvPr id="5" name="Footer Placeholder 4"/>
          <p:cNvSpPr>
            <a:spLocks noGrp="1"/>
          </p:cNvSpPr>
          <p:nvPr>
            <p:ph type="ftr" sz="quarter" idx="11"/>
          </p:nvPr>
        </p:nvSpPr>
        <p:spPr/>
        <p:txBody>
          <a:bodyPr/>
          <a:lstStyle/>
          <a:p>
            <a:r>
              <a:rPr lang="en-GB"/>
              <a:t>B37GD - A - 1.0</a:t>
            </a:r>
          </a:p>
        </p:txBody>
      </p:sp>
      <p:sp>
        <p:nvSpPr>
          <p:cNvPr id="6" name="Slide Number Placeholder 5"/>
          <p:cNvSpPr>
            <a:spLocks noGrp="1"/>
          </p:cNvSpPr>
          <p:nvPr>
            <p:ph type="sldNum" sz="quarter" idx="12"/>
          </p:nvPr>
        </p:nvSpPr>
        <p:spPr/>
        <p:txBody>
          <a:bodyPr/>
          <a:lstStyle/>
          <a:p>
            <a:fld id="{4D9A0FCD-C181-41F7-AE76-3F64F16EDCFD}" type="slidenum">
              <a:rPr lang="en-GB" smtClean="0"/>
              <a:t>‹#›</a:t>
            </a:fld>
            <a:endParaRPr lang="en-GB"/>
          </a:p>
        </p:txBody>
      </p:sp>
      <p:cxnSp>
        <p:nvCxnSpPr>
          <p:cNvPr id="7" name="Straight Connector 6"/>
          <p:cNvCxnSpPr/>
          <p:nvPr/>
        </p:nvCxnSpPr>
        <p:spPr>
          <a:xfrm rot="5400000" flipV="1">
            <a:off x="7543800" y="173563"/>
            <a:ext cx="0" cy="685800"/>
          </a:xfrm>
          <a:prstGeom prst="line">
            <a:avLst/>
          </a:prstGeom>
          <a:ln w="19050">
            <a:solidFill>
              <a:srgbClr val="3583C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9144000" cy="457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3750" spc="15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350">
                <a:solidFill>
                  <a:schemeClr val="bg1"/>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r>
              <a:rPr lang="en-US"/>
              <a:t>September 2018</a:t>
            </a:r>
            <a:endParaRPr lang="en-US" dirty="0"/>
          </a:p>
        </p:txBody>
      </p:sp>
      <p:sp>
        <p:nvSpPr>
          <p:cNvPr id="5" name="Footer Placeholder 4"/>
          <p:cNvSpPr>
            <a:spLocks noGrp="1"/>
          </p:cNvSpPr>
          <p:nvPr>
            <p:ph type="ftr" sz="quarter" idx="11"/>
          </p:nvPr>
        </p:nvSpPr>
        <p:spPr/>
        <p:txBody>
          <a:bodyPr/>
          <a:lstStyle/>
          <a:p>
            <a:r>
              <a:rPr lang="en-US"/>
              <a:t>B37GD - A - 1.0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6290132" y="5264106"/>
            <a:ext cx="0" cy="914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September 2018</a:t>
            </a:r>
            <a:endParaRPr lang="en-US" dirty="0"/>
          </a:p>
        </p:txBody>
      </p:sp>
      <p:sp>
        <p:nvSpPr>
          <p:cNvPr id="5" name="Footer Placeholder 4"/>
          <p:cNvSpPr>
            <a:spLocks noGrp="1"/>
          </p:cNvSpPr>
          <p:nvPr>
            <p:ph type="ftr" sz="quarter" idx="11"/>
          </p:nvPr>
        </p:nvSpPr>
        <p:spPr/>
        <p:txBody>
          <a:bodyPr/>
          <a:lstStyle/>
          <a:p>
            <a:r>
              <a:rPr lang="en-US"/>
              <a:t>B37GD - A - 1.0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flipV="1">
            <a:off x="0" y="4571999"/>
            <a:ext cx="9144000" cy="2286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3750" b="0" spc="15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350">
                <a:solidFill>
                  <a:schemeClr val="tx1">
                    <a:lumMod val="90000"/>
                    <a:lumOff val="1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September 2018</a:t>
            </a:r>
            <a:endParaRPr lang="en-US" dirty="0"/>
          </a:p>
        </p:txBody>
      </p:sp>
      <p:sp>
        <p:nvSpPr>
          <p:cNvPr id="5" name="Footer Placeholder 4"/>
          <p:cNvSpPr>
            <a:spLocks noGrp="1"/>
          </p:cNvSpPr>
          <p:nvPr>
            <p:ph type="ftr" sz="quarter" idx="11"/>
          </p:nvPr>
        </p:nvSpPr>
        <p:spPr/>
        <p:txBody>
          <a:bodyPr/>
          <a:lstStyle/>
          <a:p>
            <a:r>
              <a:rPr lang="en-US"/>
              <a:t>B37GD - A - 1.0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6290132" y="5264106"/>
            <a:ext cx="0" cy="914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1"/>
            <a:ext cx="9144000" cy="457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607950" cy="1155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1902068"/>
            <a:ext cx="3726000" cy="44072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0046" y="1902068"/>
            <a:ext cx="3726000" cy="44072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September 2018</a:t>
            </a:r>
            <a:endParaRPr lang="en-US" dirty="0"/>
          </a:p>
        </p:txBody>
      </p:sp>
      <p:sp>
        <p:nvSpPr>
          <p:cNvPr id="6" name="Footer Placeholder 5"/>
          <p:cNvSpPr>
            <a:spLocks noGrp="1"/>
          </p:cNvSpPr>
          <p:nvPr>
            <p:ph type="ftr" sz="quarter" idx="11"/>
          </p:nvPr>
        </p:nvSpPr>
        <p:spPr/>
        <p:txBody>
          <a:bodyPr/>
          <a:lstStyle/>
          <a:p>
            <a:r>
              <a:rPr lang="en-US"/>
              <a:t>B37GD - A - 1.0</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607950" cy="11556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1902068"/>
            <a:ext cx="3726000" cy="822960"/>
          </a:xfrm>
        </p:spPr>
        <p:txBody>
          <a:bodyPr lIns="137160" rIns="137160" anchor="ctr">
            <a:normAutofit/>
          </a:bodyPr>
          <a:lstStyle>
            <a:lvl1pPr marL="0" indent="0">
              <a:spcBef>
                <a:spcPts val="0"/>
              </a:spcBef>
              <a:spcAft>
                <a:spcPts val="0"/>
              </a:spcAft>
              <a:buNone/>
              <a:defRPr sz="1725" b="0" cap="none" baseline="0">
                <a:solidFill>
                  <a:schemeClr val="bg1"/>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68096" y="2725028"/>
            <a:ext cx="3726000" cy="358433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50046" y="1902068"/>
            <a:ext cx="3726000" cy="822960"/>
          </a:xfrm>
        </p:spPr>
        <p:txBody>
          <a:bodyPr lIns="137160" rIns="137160" anchor="ctr">
            <a:normAutofit/>
          </a:bodyPr>
          <a:lstStyle>
            <a:lvl1pPr marL="0" indent="0">
              <a:spcBef>
                <a:spcPts val="0"/>
              </a:spcBef>
              <a:spcAft>
                <a:spcPts val="0"/>
              </a:spcAft>
              <a:buNone/>
              <a:defRPr lang="en-US" sz="1725" b="0" kern="1200" cap="none" baseline="0" dirty="0">
                <a:solidFill>
                  <a:schemeClr val="bg1"/>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en-US"/>
              <a:t>Click to edit Master text styles</a:t>
            </a:r>
          </a:p>
        </p:txBody>
      </p:sp>
      <p:sp>
        <p:nvSpPr>
          <p:cNvPr id="6" name="Content Placeholder 5"/>
          <p:cNvSpPr>
            <a:spLocks noGrp="1"/>
          </p:cNvSpPr>
          <p:nvPr>
            <p:ph sz="quarter" idx="4"/>
          </p:nvPr>
        </p:nvSpPr>
        <p:spPr>
          <a:xfrm>
            <a:off x="4650046" y="2725028"/>
            <a:ext cx="3726000" cy="358433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September 2018</a:t>
            </a:r>
            <a:endParaRPr lang="en-US" dirty="0"/>
          </a:p>
        </p:txBody>
      </p:sp>
      <p:sp>
        <p:nvSpPr>
          <p:cNvPr id="8" name="Footer Placeholder 7"/>
          <p:cNvSpPr>
            <a:spLocks noGrp="1"/>
          </p:cNvSpPr>
          <p:nvPr>
            <p:ph type="ftr" sz="quarter" idx="11"/>
          </p:nvPr>
        </p:nvSpPr>
        <p:spPr/>
        <p:txBody>
          <a:bodyPr/>
          <a:lstStyle/>
          <a:p>
            <a:r>
              <a:rPr lang="en-US"/>
              <a:t>B37GD - A - 1.0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September 2018</a:t>
            </a:r>
            <a:endParaRPr lang="en-US" dirty="0"/>
          </a:p>
        </p:txBody>
      </p:sp>
      <p:sp>
        <p:nvSpPr>
          <p:cNvPr id="4" name="Footer Placeholder 3"/>
          <p:cNvSpPr>
            <a:spLocks noGrp="1"/>
          </p:cNvSpPr>
          <p:nvPr>
            <p:ph type="ftr" sz="quarter" idx="11"/>
          </p:nvPr>
        </p:nvSpPr>
        <p:spPr/>
        <p:txBody>
          <a:bodyPr/>
          <a:lstStyle/>
          <a:p>
            <a:r>
              <a:rPr lang="en-US"/>
              <a:t>B37GD - A - 1.0</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September 2018</a:t>
            </a:r>
            <a:endParaRPr lang="en-US" dirty="0"/>
          </a:p>
        </p:txBody>
      </p:sp>
      <p:sp>
        <p:nvSpPr>
          <p:cNvPr id="3" name="Footer Placeholder 2"/>
          <p:cNvSpPr>
            <a:spLocks noGrp="1"/>
          </p:cNvSpPr>
          <p:nvPr>
            <p:ph type="ftr" sz="quarter" idx="11"/>
          </p:nvPr>
        </p:nvSpPr>
        <p:spPr/>
        <p:txBody>
          <a:bodyPr/>
          <a:lstStyle/>
          <a:p>
            <a:r>
              <a:rPr lang="en-US"/>
              <a:t>B37GD - A - 1.0</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418400"/>
          </a:xfrm>
        </p:spPr>
        <p:txBody>
          <a:bodyPr>
            <a:noAutofit/>
          </a:bodyPr>
          <a:lstStyle>
            <a:lvl1pPr>
              <a:lnSpc>
                <a:spcPct val="80000"/>
              </a:lnSpc>
              <a:defRPr sz="30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lstStyle>
            <a:lvl1pPr>
              <a:defRPr sz="1800"/>
            </a:lvl1pPr>
            <a:lvl2pPr>
              <a:defRPr sz="15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029767"/>
            <a:ext cx="3291840" cy="3990033"/>
          </a:xfrm>
        </p:spPr>
        <p:txBody>
          <a:bodyPr lIns="91440" rIns="91440">
            <a:normAutofit/>
          </a:bodyPr>
          <a:lstStyle>
            <a:lvl1pPr marL="0" indent="0">
              <a:lnSpc>
                <a:spcPct val="108000"/>
              </a:lnSpc>
              <a:spcBef>
                <a:spcPts val="450"/>
              </a:spcBef>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September 2018</a:t>
            </a:r>
            <a:endParaRPr lang="en-US" dirty="0"/>
          </a:p>
        </p:txBody>
      </p:sp>
      <p:sp>
        <p:nvSpPr>
          <p:cNvPr id="6" name="Footer Placeholder 5"/>
          <p:cNvSpPr>
            <a:spLocks noGrp="1"/>
          </p:cNvSpPr>
          <p:nvPr>
            <p:ph type="ftr" sz="quarter" idx="11"/>
          </p:nvPr>
        </p:nvSpPr>
        <p:spPr/>
        <p:txBody>
          <a:bodyPr/>
          <a:lstStyle/>
          <a:p>
            <a:r>
              <a:rPr lang="en-US"/>
              <a:t>B37GD - A - 1.0</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3750" spc="15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rIns="45720" bIns="4572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35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September 2018</a:t>
            </a:r>
            <a:endParaRPr lang="en-US" dirty="0"/>
          </a:p>
        </p:txBody>
      </p:sp>
      <p:sp>
        <p:nvSpPr>
          <p:cNvPr id="6" name="Footer Placeholder 5"/>
          <p:cNvSpPr>
            <a:spLocks noGrp="1"/>
          </p:cNvSpPr>
          <p:nvPr>
            <p:ph type="ftr" sz="quarter" idx="11"/>
          </p:nvPr>
        </p:nvSpPr>
        <p:spPr/>
        <p:txBody>
          <a:bodyPr/>
          <a:lstStyle/>
          <a:p>
            <a:r>
              <a:rPr lang="en-US"/>
              <a:t>B37GD - A - 1.0</a:t>
            </a:r>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9" name="Straight Connector 8"/>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September 2018</a:t>
            </a:r>
            <a:endParaRPr lang="en-US" dirty="0"/>
          </a:p>
        </p:txBody>
      </p:sp>
      <p:sp>
        <p:nvSpPr>
          <p:cNvPr id="5" name="Footer Placeholder 4"/>
          <p:cNvSpPr>
            <a:spLocks noGrp="1"/>
          </p:cNvSpPr>
          <p:nvPr>
            <p:ph type="ftr" sz="quarter" idx="11"/>
          </p:nvPr>
        </p:nvSpPr>
        <p:spPr/>
        <p:txBody>
          <a:bodyPr/>
          <a:lstStyle/>
          <a:p>
            <a:r>
              <a:rPr lang="en-US"/>
              <a:t>B37GD - A - 1.0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0"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September 2018</a:t>
            </a:r>
            <a:endParaRPr lang="en-US" dirty="0"/>
          </a:p>
        </p:txBody>
      </p:sp>
      <p:sp>
        <p:nvSpPr>
          <p:cNvPr id="5" name="Footer Placeholder 4"/>
          <p:cNvSpPr>
            <a:spLocks noGrp="1"/>
          </p:cNvSpPr>
          <p:nvPr>
            <p:ph type="ftr" sz="quarter" idx="11"/>
          </p:nvPr>
        </p:nvSpPr>
        <p:spPr/>
        <p:txBody>
          <a:bodyPr/>
          <a:lstStyle/>
          <a:p>
            <a:r>
              <a:rPr lang="en-US"/>
              <a:t>B37GD - A - 1.0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5" y="595264"/>
            <a:ext cx="7607951" cy="115550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7" y="1902068"/>
            <a:ext cx="7607950" cy="4407292"/>
          </a:xfrm>
          <a:prstGeom prst="rect">
            <a:avLst/>
          </a:prstGeom>
        </p:spPr>
        <p:txBody>
          <a:bodyPr vert="horz" lIns="45720" tIns="45720" rIns="4572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8096" y="6470704"/>
            <a:ext cx="1615607"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r>
              <a:rPr lang="en-US"/>
              <a:t>September 2018</a:t>
            </a:r>
            <a:endParaRPr lang="en-GB"/>
          </a:p>
        </p:txBody>
      </p:sp>
      <p:sp>
        <p:nvSpPr>
          <p:cNvPr id="5" name="Footer Placeholder 4"/>
          <p:cNvSpPr>
            <a:spLocks noGrp="1"/>
          </p:cNvSpPr>
          <p:nvPr>
            <p:ph type="ftr" sz="quarter" idx="3"/>
          </p:nvPr>
        </p:nvSpPr>
        <p:spPr>
          <a:xfrm>
            <a:off x="3632199" y="6470704"/>
            <a:ext cx="4426094"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r>
              <a:rPr lang="en-GB"/>
              <a:t>B37GD - A - 1.0</a:t>
            </a:r>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r">
              <a:defRPr sz="1000">
                <a:solidFill>
                  <a:schemeClr val="tx1">
                    <a:lumMod val="90000"/>
                    <a:lumOff val="10000"/>
                  </a:schemeClr>
                </a:solidFill>
                <a:latin typeface="+mj-lt"/>
              </a:defRPr>
            </a:lvl1pPr>
          </a:lstStyle>
          <a:p>
            <a:fld id="{4D9A0FCD-C181-41F7-AE76-3F64F16EDCFD}" type="slidenum">
              <a:rPr lang="en-GB" smtClean="0"/>
              <a:t>‹#›</a:t>
            </a:fld>
            <a:endParaRPr lang="en-GB"/>
          </a:p>
        </p:txBody>
      </p:sp>
      <p:cxnSp>
        <p:nvCxnSpPr>
          <p:cNvPr id="7" name="Straight Connector 6"/>
          <p:cNvCxnSpPr/>
          <p:nvPr/>
        </p:nvCxnSpPr>
        <p:spPr>
          <a:xfrm flipV="1">
            <a:off x="571500" y="705770"/>
            <a:ext cx="0" cy="914400"/>
          </a:xfrm>
          <a:prstGeom prst="line">
            <a:avLst/>
          </a:prstGeom>
          <a:ln w="19050">
            <a:solidFill>
              <a:srgbClr val="3583C5"/>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685800" rtl="0" eaLnBrk="1" latinLnBrk="0" hangingPunct="1">
        <a:lnSpc>
          <a:spcPct val="80000"/>
        </a:lnSpc>
        <a:spcBef>
          <a:spcPct val="0"/>
        </a:spcBef>
        <a:buNone/>
        <a:defRPr sz="3750" kern="1200" cap="all" spc="75" baseline="0">
          <a:solidFill>
            <a:schemeClr val="tx1">
              <a:lumMod val="90000"/>
              <a:lumOff val="10000"/>
            </a:schemeClr>
          </a:solidFill>
          <a:latin typeface="+mj-lt"/>
          <a:ea typeface="+mj-ea"/>
          <a:cs typeface="+mj-cs"/>
        </a:defRPr>
      </a:lvl1pPr>
    </p:titleStyle>
    <p:bodyStyle>
      <a:lvl1pPr marL="180975" indent="-180975" algn="l" defTabSz="685800" rtl="0" eaLnBrk="1" latinLnBrk="0" hangingPunct="1">
        <a:lnSpc>
          <a:spcPct val="100000"/>
        </a:lnSpc>
        <a:spcBef>
          <a:spcPts val="900"/>
        </a:spcBef>
        <a:spcAft>
          <a:spcPts val="150"/>
        </a:spcAft>
        <a:buClr>
          <a:srgbClr val="9CBEBD"/>
        </a:buClr>
        <a:buSzPct val="100000"/>
        <a:buFont typeface="Wingdings" panose="05000000000000000000" pitchFamily="2" charset="2"/>
        <a:buChar char="§"/>
        <a:defRPr lang="en-US" sz="1800" kern="1200" baseline="0" dirty="0">
          <a:solidFill>
            <a:schemeClr val="tx1"/>
          </a:solidFill>
          <a:latin typeface="+mn-lt"/>
          <a:ea typeface="+mn-ea"/>
          <a:cs typeface="+mn-cs"/>
        </a:defRPr>
      </a:lvl1pPr>
      <a:lvl2pPr marL="442595" indent="-183515" algn="l" defTabSz="685800" rtl="0" eaLnBrk="1" latinLnBrk="0" hangingPunct="1">
        <a:lnSpc>
          <a:spcPct val="90000"/>
        </a:lnSpc>
        <a:spcBef>
          <a:spcPts val="150"/>
        </a:spcBef>
        <a:spcAft>
          <a:spcPts val="300"/>
        </a:spcAft>
        <a:buClr>
          <a:srgbClr val="9CBEBD"/>
        </a:buClr>
        <a:buFont typeface="Wingdings 3" pitchFamily="18" charset="2"/>
        <a:buChar char=""/>
        <a:defRPr lang="en-US" sz="1600" kern="1200" dirty="0">
          <a:solidFill>
            <a:schemeClr val="tx1"/>
          </a:solidFill>
          <a:latin typeface="+mn-lt"/>
          <a:ea typeface="+mn-ea"/>
          <a:cs typeface="+mn-cs"/>
        </a:defRPr>
      </a:lvl2pPr>
      <a:lvl3pPr marL="622300" indent="-180975" algn="l" defTabSz="685800" rtl="0" eaLnBrk="1" latinLnBrk="0" hangingPunct="1">
        <a:lnSpc>
          <a:spcPct val="90000"/>
        </a:lnSpc>
        <a:spcBef>
          <a:spcPts val="150"/>
        </a:spcBef>
        <a:spcAft>
          <a:spcPts val="300"/>
        </a:spcAft>
        <a:buClr>
          <a:srgbClr val="9CBEBD"/>
        </a:buClr>
        <a:buFont typeface="Wingdings 3" pitchFamily="18" charset="2"/>
        <a:buChar char=""/>
        <a:defRPr sz="1400" kern="1200">
          <a:solidFill>
            <a:schemeClr val="tx1"/>
          </a:solidFill>
          <a:latin typeface="+mn-lt"/>
          <a:ea typeface="+mn-ea"/>
          <a:cs typeface="+mn-cs"/>
        </a:defRPr>
      </a:lvl3pPr>
      <a:lvl4pPr marL="803275" indent="-170180" algn="l" defTabSz="685800" rtl="0" eaLnBrk="1" latinLnBrk="0" hangingPunct="1">
        <a:lnSpc>
          <a:spcPct val="90000"/>
        </a:lnSpc>
        <a:spcBef>
          <a:spcPts val="150"/>
        </a:spcBef>
        <a:spcAft>
          <a:spcPts val="300"/>
        </a:spcAft>
        <a:buClr>
          <a:srgbClr val="9CBEBD"/>
        </a:buClr>
        <a:buFont typeface="Wingdings 3" pitchFamily="18" charset="2"/>
        <a:buChar char=""/>
        <a:defRPr sz="1200" kern="1200">
          <a:solidFill>
            <a:schemeClr val="tx1"/>
          </a:solidFill>
          <a:latin typeface="+mn-lt"/>
          <a:ea typeface="+mn-ea"/>
          <a:cs typeface="+mn-cs"/>
        </a:defRPr>
      </a:lvl4pPr>
      <a:lvl5pPr marL="984250" indent="-170180" algn="l" defTabSz="685800" rtl="0" eaLnBrk="1" latinLnBrk="0" hangingPunct="1">
        <a:lnSpc>
          <a:spcPct val="90000"/>
        </a:lnSpc>
        <a:spcBef>
          <a:spcPts val="150"/>
        </a:spcBef>
        <a:spcAft>
          <a:spcPts val="300"/>
        </a:spcAft>
        <a:buClr>
          <a:srgbClr val="9CBEBD"/>
        </a:buClr>
        <a:buFont typeface="Wingdings 3" pitchFamily="18" charset="2"/>
        <a:buChar char=""/>
        <a:defRPr sz="1100" kern="1200">
          <a:solidFill>
            <a:schemeClr val="tx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3583C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607950" cy="1155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7" y="1902068"/>
            <a:ext cx="7607949" cy="4407292"/>
          </a:xfrm>
          <a:prstGeom prst="rect">
            <a:avLst/>
          </a:prstGeom>
        </p:spPr>
        <p:txBody>
          <a:bodyPr vert="horz" lIns="45720" tIns="45720" rIns="4572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8096" y="6470704"/>
            <a:ext cx="1615607" cy="274320"/>
          </a:xfrm>
          <a:prstGeom prst="rect">
            <a:avLst/>
          </a:prstGeom>
        </p:spPr>
        <p:txBody>
          <a:bodyPr vert="horz" lIns="91440" tIns="45720" rIns="91440" bIns="45720" rtlCol="0" anchor="ctr"/>
          <a:lstStyle>
            <a:lvl1pPr algn="l">
              <a:defRPr sz="1000">
                <a:solidFill>
                  <a:schemeClr val="bg1"/>
                </a:solidFill>
                <a:latin typeface="+mj-lt"/>
              </a:defRPr>
            </a:lvl1pPr>
          </a:lstStyle>
          <a:p>
            <a:r>
              <a:rPr lang="en-US"/>
              <a:t>September 2018</a:t>
            </a:r>
            <a:endParaRPr lang="en-US" dirty="0"/>
          </a:p>
        </p:txBody>
      </p:sp>
      <p:sp>
        <p:nvSpPr>
          <p:cNvPr id="5" name="Footer Placeholder 4"/>
          <p:cNvSpPr>
            <a:spLocks noGrp="1"/>
          </p:cNvSpPr>
          <p:nvPr>
            <p:ph type="ftr" sz="quarter" idx="3"/>
          </p:nvPr>
        </p:nvSpPr>
        <p:spPr>
          <a:xfrm>
            <a:off x="3632199" y="6470704"/>
            <a:ext cx="4426094" cy="274320"/>
          </a:xfrm>
          <a:prstGeom prst="rect">
            <a:avLst/>
          </a:prstGeom>
        </p:spPr>
        <p:txBody>
          <a:bodyPr vert="horz" lIns="91440" tIns="45720" rIns="91440" bIns="45720" rtlCol="0" anchor="ctr"/>
          <a:lstStyle>
            <a:lvl1pPr algn="r">
              <a:defRPr sz="1000" cap="all" baseline="0">
                <a:solidFill>
                  <a:schemeClr val="bg1"/>
                </a:solidFill>
                <a:latin typeface="+mj-lt"/>
              </a:defRPr>
            </a:lvl1pPr>
          </a:lstStyle>
          <a:p>
            <a:r>
              <a:rPr lang="en-US"/>
              <a:t>B37GD - A - 1.0</a:t>
            </a:r>
            <a:endParaRPr lang="en-US" dirty="0"/>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r">
              <a:defRPr sz="1000">
                <a:solidFill>
                  <a:schemeClr val="bg1"/>
                </a:solidFill>
                <a:latin typeface="+mj-lt"/>
              </a:defRPr>
            </a:lvl1pPr>
          </a:lstStyle>
          <a:p>
            <a:fld id="{4FAB73BC-B049-4115-A692-8D63A059BFB8}" type="slidenum">
              <a:rPr lang="en-US" smtClean="0"/>
              <a:t>‹#›</a:t>
            </a:fld>
            <a:endParaRPr lang="en-US" dirty="0"/>
          </a:p>
        </p:txBody>
      </p:sp>
      <p:cxnSp>
        <p:nvCxnSpPr>
          <p:cNvPr id="7" name="Straight Connector 6"/>
          <p:cNvCxnSpPr/>
          <p:nvPr/>
        </p:nvCxnSpPr>
        <p:spPr>
          <a:xfrm flipV="1">
            <a:off x="571500" y="705816"/>
            <a:ext cx="0" cy="914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685800" rtl="0" eaLnBrk="1" latinLnBrk="0" hangingPunct="1">
        <a:lnSpc>
          <a:spcPct val="80000"/>
        </a:lnSpc>
        <a:spcBef>
          <a:spcPct val="0"/>
        </a:spcBef>
        <a:buNone/>
        <a:defRPr sz="3750" kern="1200" cap="all" spc="75" baseline="0">
          <a:solidFill>
            <a:schemeClr val="bg1"/>
          </a:solidFill>
          <a:latin typeface="+mj-lt"/>
          <a:ea typeface="+mj-ea"/>
          <a:cs typeface="+mj-cs"/>
        </a:defRPr>
      </a:lvl1pPr>
    </p:titleStyle>
    <p:bodyStyle>
      <a:lvl1pPr marL="180975" indent="-180975" algn="l" defTabSz="685800" rtl="0" eaLnBrk="1" latinLnBrk="0" hangingPunct="1">
        <a:lnSpc>
          <a:spcPct val="90000"/>
        </a:lnSpc>
        <a:spcBef>
          <a:spcPts val="900"/>
        </a:spcBef>
        <a:spcAft>
          <a:spcPts val="150"/>
        </a:spcAft>
        <a:buClr>
          <a:schemeClr val="accent2"/>
        </a:buClr>
        <a:buSzPct val="100000"/>
        <a:buFont typeface="Wingdings" panose="05000000000000000000" pitchFamily="2" charset="2"/>
        <a:buChar char="§"/>
        <a:defRPr sz="1800" kern="1200">
          <a:solidFill>
            <a:schemeClr val="bg1"/>
          </a:solidFill>
          <a:latin typeface="+mn-lt"/>
          <a:ea typeface="+mn-ea"/>
          <a:cs typeface="+mn-cs"/>
        </a:defRPr>
      </a:lvl1pPr>
      <a:lvl2pPr marL="452755" indent="-180975" algn="l" defTabSz="685800" rtl="0" eaLnBrk="1" latinLnBrk="0" hangingPunct="1">
        <a:lnSpc>
          <a:spcPct val="90000"/>
        </a:lnSpc>
        <a:spcBef>
          <a:spcPts val="150"/>
        </a:spcBef>
        <a:spcAft>
          <a:spcPts val="300"/>
        </a:spcAft>
        <a:buClr>
          <a:schemeClr val="accent2"/>
        </a:buClr>
        <a:buFont typeface="Wingdings 3" pitchFamily="18" charset="2"/>
        <a:buChar char=""/>
        <a:defRPr sz="1600" kern="1200">
          <a:solidFill>
            <a:schemeClr val="bg1"/>
          </a:solidFill>
          <a:latin typeface="+mn-lt"/>
          <a:ea typeface="+mn-ea"/>
          <a:cs typeface="+mn-cs"/>
        </a:defRPr>
      </a:lvl2pPr>
      <a:lvl3pPr marL="622300" indent="-170180" algn="l" defTabSz="685800" rtl="0" eaLnBrk="1" latinLnBrk="0" hangingPunct="1">
        <a:lnSpc>
          <a:spcPct val="90000"/>
        </a:lnSpc>
        <a:spcBef>
          <a:spcPts val="150"/>
        </a:spcBef>
        <a:spcAft>
          <a:spcPts val="300"/>
        </a:spcAft>
        <a:buClr>
          <a:schemeClr val="accent2"/>
        </a:buClr>
        <a:buFont typeface="Wingdings 3" pitchFamily="18" charset="2"/>
        <a:buChar char=""/>
        <a:defRPr sz="1400" kern="1200">
          <a:solidFill>
            <a:schemeClr val="bg1"/>
          </a:solidFill>
          <a:latin typeface="+mn-lt"/>
          <a:ea typeface="+mn-ea"/>
          <a:cs typeface="+mn-cs"/>
        </a:defRPr>
      </a:lvl3pPr>
      <a:lvl4pPr marL="803275" indent="-180975" algn="l" defTabSz="685800" rtl="0" eaLnBrk="1" latinLnBrk="0" hangingPunct="1">
        <a:lnSpc>
          <a:spcPct val="90000"/>
        </a:lnSpc>
        <a:spcBef>
          <a:spcPts val="150"/>
        </a:spcBef>
        <a:spcAft>
          <a:spcPts val="300"/>
        </a:spcAft>
        <a:buClr>
          <a:schemeClr val="accent2"/>
        </a:buClr>
        <a:buFont typeface="Wingdings 3" pitchFamily="18" charset="2"/>
        <a:buChar char=""/>
        <a:defRPr sz="1200" kern="1200">
          <a:solidFill>
            <a:schemeClr val="bg1"/>
          </a:solidFill>
          <a:latin typeface="+mn-lt"/>
          <a:ea typeface="+mn-ea"/>
          <a:cs typeface="+mn-cs"/>
        </a:defRPr>
      </a:lvl4pPr>
      <a:lvl5pPr marL="984250" indent="-180975" algn="l" defTabSz="685800" rtl="0" eaLnBrk="1" latinLnBrk="0" hangingPunct="1">
        <a:lnSpc>
          <a:spcPct val="90000"/>
        </a:lnSpc>
        <a:spcBef>
          <a:spcPts val="150"/>
        </a:spcBef>
        <a:spcAft>
          <a:spcPts val="300"/>
        </a:spcAft>
        <a:buClr>
          <a:schemeClr val="accent2"/>
        </a:buClr>
        <a:buFont typeface="Wingdings 3" pitchFamily="18" charset="2"/>
        <a:buChar char=""/>
        <a:defRPr sz="1100" kern="1200">
          <a:solidFill>
            <a:schemeClr val="bg1"/>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dirty="0">
                <a:solidFill>
                  <a:srgbClr val="2E2B21">
                    <a:lumMod val="90000"/>
                    <a:lumOff val="10000"/>
                  </a:srgbClr>
                </a:solidFill>
              </a:rPr>
              <a:t>B37VR </a:t>
            </a:r>
            <a:br>
              <a:rPr lang="en-GB" dirty="0">
                <a:solidFill>
                  <a:srgbClr val="2E2B21">
                    <a:lumMod val="90000"/>
                    <a:lumOff val="10000"/>
                  </a:srgbClr>
                </a:solidFill>
              </a:rPr>
            </a:br>
            <a:r>
              <a:rPr lang="en-GB" dirty="0">
                <a:solidFill>
                  <a:srgbClr val="2E2B21">
                    <a:lumMod val="90000"/>
                    <a:lumOff val="10000"/>
                  </a:srgbClr>
                </a:solidFill>
              </a:rPr>
              <a:t>Robotics Project</a:t>
            </a:r>
            <a:endParaRPr lang="en-GB" dirty="0"/>
          </a:p>
        </p:txBody>
      </p:sp>
      <p:sp>
        <p:nvSpPr>
          <p:cNvPr id="3" name="Subtitle 2"/>
          <p:cNvSpPr>
            <a:spLocks noGrp="1"/>
          </p:cNvSpPr>
          <p:nvPr>
            <p:ph type="subTitle" idx="1"/>
          </p:nvPr>
        </p:nvSpPr>
        <p:spPr/>
        <p:txBody>
          <a:bodyPr/>
          <a:lstStyle/>
          <a:p>
            <a:r>
              <a:rPr lang="en-GB" dirty="0"/>
              <a:t>3 Characterising motors and driving robot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A mystery…..</a:t>
            </a:r>
          </a:p>
        </p:txBody>
      </p:sp>
      <p:sp>
        <p:nvSpPr>
          <p:cNvPr id="3" name="Content Placeholder 2"/>
          <p:cNvSpPr>
            <a:spLocks noGrp="1"/>
          </p:cNvSpPr>
          <p:nvPr>
            <p:ph idx="1"/>
          </p:nvPr>
        </p:nvSpPr>
        <p:spPr/>
        <p:txBody>
          <a:bodyPr>
            <a:normAutofit lnSpcReduction="10000"/>
          </a:bodyPr>
          <a:lstStyle/>
          <a:p>
            <a:pPr marL="0" indent="0">
              <a:buNone/>
            </a:pPr>
            <a:r>
              <a:rPr lang="en-GB" sz="2400" dirty="0">
                <a:latin typeface="Arial" panose="020B0604020202020204" pitchFamily="34" charset="0"/>
                <a:cs typeface="Arial" panose="020B0604020202020204" pitchFamily="34" charset="0"/>
              </a:rPr>
              <a:t>I was debugging my Arduino a few days ago, and  I wanted to connect the OUTPUTs of my Arduino board to the INPUTS to read the signal and make sure that everything was working.</a:t>
            </a:r>
          </a:p>
          <a:p>
            <a:pPr marL="0" indent="0">
              <a:buNone/>
            </a:pPr>
            <a:endParaRPr lang="en-GB" sz="2400" dirty="0">
              <a:latin typeface="Arial" panose="020B0604020202020204" pitchFamily="34" charset="0"/>
              <a:cs typeface="Arial" panose="020B0604020202020204" pitchFamily="34" charset="0"/>
            </a:endParaRPr>
          </a:p>
          <a:p>
            <a:pPr marL="0" indent="0">
              <a:buNone/>
            </a:pPr>
            <a:r>
              <a:rPr lang="en-GB" sz="2400" dirty="0">
                <a:latin typeface="Arial" panose="020B0604020202020204" pitchFamily="34" charset="0"/>
                <a:cs typeface="Arial" panose="020B0604020202020204" pitchFamily="34" charset="0"/>
              </a:rPr>
              <a:t>I wanted to test that the correct values were being sent to the PINs and that all the wires worked correctly.</a:t>
            </a:r>
          </a:p>
          <a:p>
            <a:pPr marL="0" indent="0">
              <a:buNone/>
            </a:pPr>
            <a:r>
              <a:rPr lang="en-GB" sz="2400" dirty="0">
                <a:latin typeface="Arial" panose="020B0604020202020204" pitchFamily="34" charset="0"/>
                <a:cs typeface="Arial" panose="020B0604020202020204" pitchFamily="34" charset="0"/>
              </a:rPr>
              <a:t>Then I noticed something strange – even when the wires weren’t connected, the INPUT pin sometimes read a signal.</a:t>
            </a:r>
          </a:p>
          <a:p>
            <a:pPr marL="0" indent="0">
              <a:buNone/>
            </a:pPr>
            <a:r>
              <a:rPr lang="en-GB" sz="2400" dirty="0">
                <a:latin typeface="Arial" panose="020B0604020202020204" pitchFamily="34" charset="0"/>
                <a:cs typeface="Arial" panose="020B0604020202020204" pitchFamily="34" charset="0"/>
              </a:rPr>
              <a:t>So, I did a little research….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7" y="872455"/>
            <a:ext cx="7607950" cy="5436905"/>
          </a:xfrm>
        </p:spPr>
        <p:txBody>
          <a:bodyPr>
            <a:normAutofit fontScale="92500" lnSpcReduction="10000"/>
          </a:bodyPr>
          <a:lstStyle/>
          <a:p>
            <a:pPr marL="0" indent="0">
              <a:buNone/>
            </a:pPr>
            <a:r>
              <a:rPr lang="en-GB" sz="2800" dirty="0">
                <a:latin typeface="Arial" panose="020B0604020202020204" pitchFamily="34" charset="0"/>
                <a:cs typeface="Arial" panose="020B0604020202020204" pitchFamily="34" charset="0"/>
              </a:rPr>
              <a:t>I found that Arduino PINs don’t need much current to activate them.  Therefore random fluctuations in the air, nearby electric wires or whatever, can cause a very small voltage to randomly appear in the pin.  This is especially noticeable when nothing is connected to it.</a:t>
            </a:r>
          </a:p>
          <a:p>
            <a:pPr marL="0" indent="0">
              <a:buNone/>
            </a:pPr>
            <a:endParaRPr lang="en-GB" sz="2800" dirty="0">
              <a:latin typeface="Arial" panose="020B0604020202020204" pitchFamily="34" charset="0"/>
              <a:cs typeface="Arial" panose="020B0604020202020204" pitchFamily="34" charset="0"/>
            </a:endParaRPr>
          </a:p>
          <a:p>
            <a:pPr marL="0" indent="0">
              <a:buNone/>
            </a:pPr>
            <a:r>
              <a:rPr lang="en-GB" sz="2800" dirty="0">
                <a:latin typeface="Arial" panose="020B0604020202020204" pitchFamily="34" charset="0"/>
                <a:cs typeface="Arial" panose="020B0604020202020204" pitchFamily="34" charset="0"/>
              </a:rPr>
              <a:t>This is actually a common problem in electronic circuits.  Sometimes the state of a pin is unknown.  If it is not definitely supplying or sinking current, the value of it is random and can easily change.  It is called “floating”, and there is an easy way to solve it.  We use PULLUP RESISTORS or PULLDOWN RESISTORS.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ull up resis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2818" y="1322751"/>
            <a:ext cx="1905000" cy="310515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a:spLocks noGrp="1"/>
          </p:cNvSpPr>
          <p:nvPr>
            <p:ph type="title"/>
          </p:nvPr>
        </p:nvSpPr>
        <p:spPr>
          <a:xfrm>
            <a:off x="768095" y="595264"/>
            <a:ext cx="7607951" cy="537250"/>
          </a:xfrm>
        </p:spPr>
        <p:txBody>
          <a:bodyPr>
            <a:normAutofit fontScale="90000"/>
          </a:bodyPr>
          <a:lstStyle/>
          <a:p>
            <a:r>
              <a:rPr lang="en-GB" dirty="0">
                <a:latin typeface="Arial Black" panose="020B0A04020102020204" pitchFamily="34" charset="0"/>
              </a:rPr>
              <a:t>Pullup resistor</a:t>
            </a:r>
          </a:p>
        </p:txBody>
      </p:sp>
      <p:sp>
        <p:nvSpPr>
          <p:cNvPr id="10" name="TextBox 9"/>
          <p:cNvSpPr txBox="1"/>
          <p:nvPr/>
        </p:nvSpPr>
        <p:spPr>
          <a:xfrm>
            <a:off x="436229" y="1510019"/>
            <a:ext cx="6186530" cy="5170646"/>
          </a:xfrm>
          <a:prstGeom prst="rect">
            <a:avLst/>
          </a:prstGeom>
          <a:noFill/>
        </p:spPr>
        <p:txBody>
          <a:bodyPr wrap="square">
            <a:spAutoFit/>
          </a:bodyPr>
          <a:lstStyle/>
          <a:p>
            <a:r>
              <a:rPr lang="en-GB" sz="2200" b="0" i="0" dirty="0">
                <a:solidFill>
                  <a:srgbClr val="464646"/>
                </a:solidFill>
                <a:effectLst/>
                <a:latin typeface="Arial" panose="020B0604020202020204" pitchFamily="34" charset="0"/>
                <a:cs typeface="Arial" panose="020B0604020202020204" pitchFamily="34" charset="0"/>
              </a:rPr>
              <a:t>Pull-up resistors are resistors used in logic circuits to ensure a well-defined logical level at a pin under all conditions. As a reminder, digital logic circuits have three logic states: high, low and floating (or high impedance). The high-impedance state occurs when the pin is not pulled to a high or low logic level, but is left “floating instead.</a:t>
            </a:r>
          </a:p>
          <a:p>
            <a:endParaRPr lang="en-GB" sz="2200" b="0" i="0" dirty="0">
              <a:solidFill>
                <a:srgbClr val="464646"/>
              </a:solidFill>
              <a:effectLst/>
              <a:latin typeface="Arial" panose="020B0604020202020204" pitchFamily="34" charset="0"/>
              <a:cs typeface="Arial" panose="020B0604020202020204" pitchFamily="34" charset="0"/>
            </a:endParaRPr>
          </a:p>
          <a:p>
            <a:r>
              <a:rPr lang="en-GB" sz="2200" b="0" i="0" dirty="0">
                <a:solidFill>
                  <a:srgbClr val="464646"/>
                </a:solidFill>
                <a:effectLst/>
                <a:latin typeface="Arial" panose="020B0604020202020204" pitchFamily="34" charset="0"/>
                <a:cs typeface="Arial" panose="020B0604020202020204" pitchFamily="34" charset="0"/>
              </a:rPr>
              <a:t>Pull-up resistors are used to solve the dilemma for the microcontroller by pulling the value to a logical high state, as seen in the figure. If it weren’t for the pull-up resistor, the MCU’s input would be floating when the switch is open and brought down only when the switch is closed.</a:t>
            </a:r>
            <a:endParaRPr lang="en-GB" sz="22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5" y="595264"/>
            <a:ext cx="7607951" cy="495305"/>
          </a:xfrm>
        </p:spPr>
        <p:txBody>
          <a:bodyPr>
            <a:normAutofit fontScale="90000"/>
          </a:bodyPr>
          <a:lstStyle/>
          <a:p>
            <a:r>
              <a:rPr lang="en-GB" dirty="0">
                <a:latin typeface="Arial Black" panose="020B0A04020102020204" pitchFamily="34" charset="0"/>
              </a:rPr>
              <a:t>pulldown resistor</a:t>
            </a:r>
          </a:p>
        </p:txBody>
      </p:sp>
      <p:sp>
        <p:nvSpPr>
          <p:cNvPr id="3" name="Content Placeholder 2"/>
          <p:cNvSpPr>
            <a:spLocks noGrp="1"/>
          </p:cNvSpPr>
          <p:nvPr>
            <p:ph idx="1"/>
          </p:nvPr>
        </p:nvSpPr>
        <p:spPr>
          <a:xfrm>
            <a:off x="201336" y="1409349"/>
            <a:ext cx="6853805" cy="5301843"/>
          </a:xfrm>
        </p:spPr>
        <p:txBody>
          <a:bodyPr>
            <a:normAutofit/>
          </a:bodyPr>
          <a:lstStyle/>
          <a:p>
            <a:pPr marL="0" indent="0">
              <a:buNone/>
            </a:pPr>
            <a:r>
              <a:rPr lang="en-GB" sz="2200" b="0" i="0" dirty="0">
                <a:solidFill>
                  <a:srgbClr val="464646"/>
                </a:solidFill>
                <a:effectLst/>
                <a:latin typeface="Arial" panose="020B0604020202020204" pitchFamily="34" charset="0"/>
                <a:cs typeface="Arial" panose="020B0604020202020204" pitchFamily="34" charset="0"/>
              </a:rPr>
              <a:t>Pull-down resistors work in the same manner as pull-up resistors, except that they pull the pin to a logical low value.</a:t>
            </a:r>
          </a:p>
          <a:p>
            <a:pPr marL="0" indent="0">
              <a:buNone/>
            </a:pPr>
            <a:r>
              <a:rPr lang="en-GB" sz="2200" b="0" i="0" dirty="0">
                <a:solidFill>
                  <a:srgbClr val="464646"/>
                </a:solidFill>
                <a:effectLst/>
                <a:latin typeface="Arial" panose="020B0604020202020204" pitchFamily="34" charset="0"/>
                <a:cs typeface="Arial" panose="020B0604020202020204" pitchFamily="34" charset="0"/>
              </a:rPr>
              <a:t> They are connected between ground and the appropriate pin on a device. In such a circuit, when the switch is closed, the micro-controller input is at a logical high value, but when the switch is open, the pull-down resistor pulls the input voltage down to ground (logical zero value), preventing an undefined state at the input. The pull-down resistor must have a larger resistance than the impedance of the logic circuit, or else it might be able to pull the voltage down by too much and the input voltage at the pin would remain at a constant logical low value – regardless of the switch position.</a:t>
            </a:r>
            <a:endParaRPr lang="en-GB" sz="2200" dirty="0">
              <a:latin typeface="Arial" panose="020B0604020202020204" pitchFamily="34" charset="0"/>
              <a:cs typeface="Arial" panose="020B0604020202020204" pitchFamily="34" charset="0"/>
            </a:endParaRPr>
          </a:p>
        </p:txBody>
      </p:sp>
      <p:pic>
        <p:nvPicPr>
          <p:cNvPr id="3074" name="Picture 2" descr="pull down resis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500" y="1876425"/>
            <a:ext cx="1905000" cy="3105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5" y="595264"/>
            <a:ext cx="7981622" cy="1155508"/>
          </a:xfrm>
        </p:spPr>
        <p:txBody>
          <a:bodyPr/>
          <a:lstStyle/>
          <a:p>
            <a:r>
              <a:rPr lang="en-GB" dirty="0">
                <a:latin typeface="Arial Black" panose="020B0A04020102020204" pitchFamily="34" charset="0"/>
              </a:rPr>
              <a:t>Arduino has the answer</a:t>
            </a:r>
          </a:p>
        </p:txBody>
      </p:sp>
      <p:sp>
        <p:nvSpPr>
          <p:cNvPr id="3" name="Content Placeholder 2"/>
          <p:cNvSpPr>
            <a:spLocks noGrp="1"/>
          </p:cNvSpPr>
          <p:nvPr>
            <p:ph idx="1"/>
          </p:nvPr>
        </p:nvSpPr>
        <p:spPr/>
        <p:txBody>
          <a:bodyPr>
            <a:normAutofit/>
          </a:bodyPr>
          <a:lstStyle/>
          <a:p>
            <a:pPr marL="0" indent="0">
              <a:buNone/>
            </a:pPr>
            <a:r>
              <a:rPr lang="en-GB" sz="2400" dirty="0">
                <a:latin typeface="Arial" panose="020B0604020202020204" pitchFamily="34" charset="0"/>
                <a:cs typeface="Arial" panose="020B0604020202020204" pitchFamily="34" charset="0"/>
              </a:rPr>
              <a:t>This is a common problem, so, of course there are solutions.  Arduino actually has built-in pullup resistors.  We can turn them off and on using our code.</a:t>
            </a:r>
          </a:p>
          <a:p>
            <a:pPr marL="0" indent="0">
              <a:buNone/>
            </a:pPr>
            <a:endParaRPr lang="en-GB" sz="2400" dirty="0">
              <a:latin typeface="Arial" panose="020B0604020202020204" pitchFamily="34" charset="0"/>
              <a:cs typeface="Arial" panose="020B0604020202020204" pitchFamily="34" charset="0"/>
            </a:endParaRPr>
          </a:p>
          <a:p>
            <a:pPr marL="0" indent="0">
              <a:buNone/>
            </a:pPr>
            <a:r>
              <a:rPr lang="en-GB" sz="2400" dirty="0">
                <a:latin typeface="Arial" panose="020B0604020202020204" pitchFamily="34" charset="0"/>
                <a:cs typeface="Arial" panose="020B0604020202020204" pitchFamily="34" charset="0"/>
              </a:rPr>
              <a:t>I’ll show you how later.</a:t>
            </a:r>
          </a:p>
        </p:txBody>
      </p:sp>
      <p:sp>
        <p:nvSpPr>
          <p:cNvPr id="4" name="Date Placeholder 3"/>
          <p:cNvSpPr>
            <a:spLocks noGrp="1"/>
          </p:cNvSpPr>
          <p:nvPr>
            <p:ph type="dt" sz="half" idx="10"/>
          </p:nvPr>
        </p:nvSpPr>
        <p:spPr/>
        <p:txBody>
          <a:bodyPr/>
          <a:lstStyle/>
          <a:p>
            <a:r>
              <a:rPr lang="en-US"/>
              <a:t>January ‘21</a:t>
            </a:r>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D9A0FCD-C181-41F7-AE76-3F64F16EDCFD}"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digital input</a:t>
            </a:r>
          </a:p>
        </p:txBody>
      </p:sp>
      <p:sp>
        <p:nvSpPr>
          <p:cNvPr id="3" name="Content Placeholder 2"/>
          <p:cNvSpPr>
            <a:spLocks noGrp="1"/>
          </p:cNvSpPr>
          <p:nvPr>
            <p:ph idx="1"/>
          </p:nvPr>
        </p:nvSpPr>
        <p:spPr>
          <a:xfrm>
            <a:off x="439521" y="1750772"/>
            <a:ext cx="8640660" cy="4744328"/>
          </a:xfrm>
        </p:spPr>
        <p:txBody>
          <a:bodyPr>
            <a:normAutofit/>
          </a:bodyPr>
          <a:lstStyle/>
          <a:p>
            <a:pPr marL="0" indent="0">
              <a:buNone/>
            </a:pP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(testDPin1, INPUT);</a:t>
            </a:r>
            <a:br>
              <a:rPr lang="en-GB" sz="2000" dirty="0">
                <a:latin typeface="Arial" panose="020B0604020202020204" pitchFamily="34" charset="0"/>
                <a:cs typeface="Arial" panose="020B0604020202020204" pitchFamily="34" charset="0"/>
              </a:rPr>
            </a:br>
            <a:endParaRPr lang="en-GB" sz="2000" dirty="0">
              <a:latin typeface="Arial" panose="020B0604020202020204" pitchFamily="34" charset="0"/>
              <a:cs typeface="Arial" panose="020B0604020202020204" pitchFamily="34" charset="0"/>
            </a:endParaRPr>
          </a:p>
          <a:p>
            <a:pPr marL="0" indent="0">
              <a:buNone/>
            </a:pP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(testDPin1, INPUT_PULLUP);</a:t>
            </a:r>
          </a:p>
          <a:p>
            <a:pPr marL="0" indent="0">
              <a:buNone/>
            </a:pPr>
            <a:endParaRPr lang="en-GB" sz="2000" dirty="0">
              <a:latin typeface="Arial" panose="020B0604020202020204" pitchFamily="34" charset="0"/>
              <a:cs typeface="Arial" panose="020B0604020202020204" pitchFamily="34" charset="0"/>
            </a:endParaRPr>
          </a:p>
          <a:p>
            <a:pPr marL="0" indent="0">
              <a:buNone/>
            </a:pPr>
            <a:r>
              <a:rPr lang="en-GB" sz="2000" dirty="0">
                <a:latin typeface="Arial" panose="020B0604020202020204" pitchFamily="34" charset="0"/>
                <a:cs typeface="Arial" panose="020B0604020202020204" pitchFamily="34" charset="0"/>
              </a:rPr>
              <a:t>This tells Arduino that this DIGITAL pin will be used for input.  </a:t>
            </a:r>
          </a:p>
          <a:p>
            <a:pPr marL="0" indent="0">
              <a:buNone/>
            </a:pPr>
            <a:r>
              <a:rPr lang="en-GB" sz="2000" dirty="0">
                <a:latin typeface="Arial" panose="020B0604020202020204" pitchFamily="34" charset="0"/>
                <a:cs typeface="Arial" panose="020B0604020202020204" pitchFamily="34" charset="0"/>
              </a:rPr>
              <a:t>INPUT disables the built-in PULLUP RESISTOR</a:t>
            </a:r>
          </a:p>
          <a:p>
            <a:pPr marL="0" indent="0">
              <a:buNone/>
            </a:pPr>
            <a:r>
              <a:rPr lang="en-GB" sz="2000" dirty="0">
                <a:latin typeface="Arial" panose="020B0604020202020204" pitchFamily="34" charset="0"/>
                <a:cs typeface="Arial" panose="020B0604020202020204" pitchFamily="34" charset="0"/>
              </a:rPr>
              <a:t>INPUT_PULLUP enables the built-in PULLUP RESISTOR.</a:t>
            </a:r>
          </a:p>
          <a:p>
            <a:pPr marL="0" indent="0">
              <a:buNone/>
            </a:pPr>
            <a:endParaRPr lang="en-GB" sz="2000" dirty="0">
              <a:latin typeface="Arial" panose="020B0604020202020204" pitchFamily="34" charset="0"/>
              <a:cs typeface="Arial" panose="020B0604020202020204" pitchFamily="34" charset="0"/>
            </a:endParaRPr>
          </a:p>
          <a:p>
            <a:pPr marL="0" indent="0">
              <a:buNone/>
            </a:pPr>
            <a:r>
              <a:rPr lang="en-GB" sz="2000" dirty="0">
                <a:latin typeface="Arial" panose="020B0604020202020204" pitchFamily="34" charset="0"/>
                <a:cs typeface="Arial" panose="020B0604020202020204" pitchFamily="34" charset="0"/>
              </a:rPr>
              <a:t>NOTE: The INPUT_PULLUP may reverse the inputs you get from your pin as it needs to be connected to ground.  Switches and sensors may give different results than you initially expected.  Please experiment first.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digital output</a:t>
            </a:r>
          </a:p>
        </p:txBody>
      </p:sp>
      <p:sp>
        <p:nvSpPr>
          <p:cNvPr id="3" name="Content Placeholder 2"/>
          <p:cNvSpPr>
            <a:spLocks noGrp="1"/>
          </p:cNvSpPr>
          <p:nvPr>
            <p:ph idx="1"/>
          </p:nvPr>
        </p:nvSpPr>
        <p:spPr>
          <a:xfrm>
            <a:off x="397576" y="1901784"/>
            <a:ext cx="8640660" cy="3967993"/>
          </a:xfrm>
        </p:spPr>
        <p:txBody>
          <a:bodyPr>
            <a:normAutofit/>
          </a:bodyPr>
          <a:lstStyle/>
          <a:p>
            <a:pPr marL="0" indent="0">
              <a:buNone/>
            </a:pPr>
            <a:r>
              <a:rPr lang="en-GB" sz="2400" dirty="0" err="1">
                <a:latin typeface="Arial" panose="020B0604020202020204" pitchFamily="34" charset="0"/>
                <a:cs typeface="Arial" panose="020B0604020202020204" pitchFamily="34" charset="0"/>
              </a:rPr>
              <a:t>pinMode</a:t>
            </a:r>
            <a:r>
              <a:rPr lang="en-GB" sz="2400" dirty="0">
                <a:latin typeface="Arial" panose="020B0604020202020204" pitchFamily="34" charset="0"/>
                <a:cs typeface="Arial" panose="020B0604020202020204" pitchFamily="34" charset="0"/>
              </a:rPr>
              <a:t>(in1Pin, OUTPUT); </a:t>
            </a:r>
          </a:p>
          <a:p>
            <a:pPr marL="0" indent="0">
              <a:buNone/>
            </a:pPr>
            <a:endParaRPr lang="en-GB" sz="2400" dirty="0">
              <a:latin typeface="Arial" panose="020B0604020202020204" pitchFamily="34" charset="0"/>
              <a:cs typeface="Arial" panose="020B0604020202020204" pitchFamily="34" charset="0"/>
            </a:endParaRPr>
          </a:p>
          <a:p>
            <a:pPr marL="0" indent="0">
              <a:buNone/>
            </a:pPr>
            <a:r>
              <a:rPr lang="en-GB" sz="2400" dirty="0">
                <a:latin typeface="Arial" panose="020B0604020202020204" pitchFamily="34" charset="0"/>
                <a:cs typeface="Arial" panose="020B0604020202020204" pitchFamily="34" charset="0"/>
              </a:rPr>
              <a:t>This tells Arduino that this DIGITAL pin will be used for output.</a:t>
            </a:r>
          </a:p>
          <a:p>
            <a:pPr marL="0" indent="0">
              <a:buNone/>
            </a:pPr>
            <a:r>
              <a:rPr lang="en-GB" sz="2400" dirty="0">
                <a:latin typeface="Arial" panose="020B0604020202020204" pitchFamily="34" charset="0"/>
                <a:cs typeface="Arial" panose="020B0604020202020204" pitchFamily="34" charset="0"/>
              </a:rPr>
              <a:t>Arduino has 14 digital pins (0-13).</a:t>
            </a:r>
          </a:p>
          <a:p>
            <a:pPr marL="0" indent="0">
              <a:buNone/>
            </a:pPr>
            <a:endParaRPr lang="en-GB" sz="2400" dirty="0">
              <a:latin typeface="Arial" panose="020B0604020202020204" pitchFamily="34" charset="0"/>
              <a:cs typeface="Arial" panose="020B0604020202020204" pitchFamily="34" charset="0"/>
            </a:endParaRPr>
          </a:p>
          <a:p>
            <a:pPr marL="0" indent="0">
              <a:buNone/>
            </a:pPr>
            <a:r>
              <a:rPr lang="en-GB" sz="2400" dirty="0">
                <a:latin typeface="Arial" panose="020B0604020202020204" pitchFamily="34" charset="0"/>
                <a:cs typeface="Arial" panose="020B0604020202020204" pitchFamily="34" charset="0"/>
              </a:rPr>
              <a:t>If we don’t use </a:t>
            </a:r>
            <a:r>
              <a:rPr lang="en-GB" sz="2400" dirty="0" err="1">
                <a:latin typeface="Arial" panose="020B0604020202020204" pitchFamily="34" charset="0"/>
                <a:cs typeface="Arial" panose="020B0604020202020204" pitchFamily="34" charset="0"/>
              </a:rPr>
              <a:t>pinMode</a:t>
            </a:r>
            <a:r>
              <a:rPr lang="en-GB" sz="2400" dirty="0">
                <a:latin typeface="Arial" panose="020B0604020202020204" pitchFamily="34" charset="0"/>
                <a:cs typeface="Arial" panose="020B0604020202020204" pitchFamily="34" charset="0"/>
              </a:rPr>
              <a:t> to declare a pin as OUTPUT, it will still work, but not very well.  The internal PULLUP RESISTOR will be enabled which will reduce the current.</a:t>
            </a:r>
          </a:p>
          <a:p>
            <a:pPr marL="0" indent="0">
              <a:buNone/>
            </a:pPr>
            <a:endParaRPr lang="en-GB" sz="2400"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PWM pins</a:t>
            </a:r>
          </a:p>
        </p:txBody>
      </p:sp>
      <p:sp>
        <p:nvSpPr>
          <p:cNvPr id="3" name="Content Placeholder 2"/>
          <p:cNvSpPr>
            <a:spLocks noGrp="1"/>
          </p:cNvSpPr>
          <p:nvPr>
            <p:ph idx="1"/>
          </p:nvPr>
        </p:nvSpPr>
        <p:spPr/>
        <p:txBody>
          <a:bodyPr/>
          <a:lstStyle/>
          <a:p>
            <a:pPr marL="0" indent="0">
              <a:buNone/>
            </a:pPr>
            <a:r>
              <a:rPr lang="en-GB" dirty="0">
                <a:latin typeface="Arial" panose="020B0604020202020204" pitchFamily="34" charset="0"/>
                <a:cs typeface="Arial" panose="020B0604020202020204" pitchFamily="34" charset="0"/>
              </a:rPr>
              <a:t>The Arduino Uno has 14 Digital pins, but not all of them are PWM capable.</a:t>
            </a:r>
          </a:p>
          <a:p>
            <a:pPr marL="0" indent="0">
              <a:buNone/>
            </a:pPr>
            <a:r>
              <a:rPr lang="en-GB" dirty="0">
                <a:latin typeface="Arial" panose="020B0604020202020204" pitchFamily="34" charset="0"/>
                <a:cs typeface="Arial" panose="020B0604020202020204" pitchFamily="34" charset="0"/>
              </a:rPr>
              <a:t>If you look, there is usually a small symbol, like </a:t>
            </a:r>
            <a:r>
              <a:rPr lang="en-GB" sz="5400"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next to it.</a:t>
            </a:r>
          </a:p>
          <a:p>
            <a:pPr marL="0" indent="0">
              <a:buNone/>
            </a:pPr>
            <a:r>
              <a:rPr lang="en-GB" dirty="0">
                <a:latin typeface="Arial" panose="020B0604020202020204" pitchFamily="34" charset="0"/>
                <a:cs typeface="Arial" panose="020B0604020202020204" pitchFamily="34" charset="0"/>
              </a:rPr>
              <a:t>We know from last week that PWM pins receive an integer from the code and send pulses of HIGH or LOW.</a:t>
            </a:r>
          </a:p>
          <a:p>
            <a:pPr marL="0" indent="0">
              <a:buNone/>
            </a:pPr>
            <a:r>
              <a:rPr lang="en-GB" dirty="0">
                <a:latin typeface="Arial" panose="020B0604020202020204" pitchFamily="34" charset="0"/>
                <a:cs typeface="Arial" panose="020B0604020202020204" pitchFamily="34" charset="0"/>
              </a:rPr>
              <a:t>If you try to do an </a:t>
            </a:r>
            <a:r>
              <a:rPr lang="en-GB" dirty="0" err="1">
                <a:latin typeface="Arial" panose="020B0604020202020204" pitchFamily="34" charset="0"/>
                <a:cs typeface="Arial" panose="020B0604020202020204" pitchFamily="34" charset="0"/>
              </a:rPr>
              <a:t>analogRead</a:t>
            </a:r>
            <a:r>
              <a:rPr lang="en-GB" dirty="0">
                <a:latin typeface="Arial" panose="020B0604020202020204" pitchFamily="34" charset="0"/>
                <a:cs typeface="Arial" panose="020B0604020202020204" pitchFamily="34" charset="0"/>
              </a:rPr>
              <a:t> of a PWM output you will get lots of “1023” and “0” results.</a:t>
            </a:r>
            <a:br>
              <a:rPr lang="en-GB" dirty="0">
                <a:latin typeface="Arial" panose="020B0604020202020204" pitchFamily="34" charset="0"/>
                <a:cs typeface="Arial" panose="020B0604020202020204" pitchFamily="34" charset="0"/>
              </a:rPr>
            </a:br>
            <a:endParaRPr lang="en-GB"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a:t>January ‘21</a:t>
            </a:r>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D9A0FCD-C181-41F7-AE76-3F64F16EDCFD}" type="slidenum">
              <a:rPr lang="en-GB" smtClean="0"/>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digital Pin 13</a:t>
            </a:r>
          </a:p>
        </p:txBody>
      </p:sp>
      <p:sp>
        <p:nvSpPr>
          <p:cNvPr id="3" name="Content Placeholder 2"/>
          <p:cNvSpPr>
            <a:spLocks noGrp="1"/>
          </p:cNvSpPr>
          <p:nvPr>
            <p:ph idx="1"/>
          </p:nvPr>
        </p:nvSpPr>
        <p:spPr/>
        <p:txBody>
          <a:bodyPr/>
          <a:lstStyle/>
          <a:p>
            <a:pPr marL="0" indent="0">
              <a:buNone/>
            </a:pPr>
            <a:r>
              <a:rPr lang="en-GB" dirty="0">
                <a:latin typeface="Arial" panose="020B0604020202020204" pitchFamily="34" charset="0"/>
                <a:cs typeface="Arial" panose="020B0604020202020204" pitchFamily="34" charset="0"/>
              </a:rPr>
              <a:t>Arduino Digital pin 13 is a special pin.  It can be used for input and output, but there is a problem with it.  This pin is on the same part of the circuit as some other things on the Arduino board.  It gets random power fluctuations, and the pin sometimes works at a different frequency to the rest of the Arduino.</a:t>
            </a:r>
          </a:p>
          <a:p>
            <a:pPr marL="0" indent="0">
              <a:buNone/>
            </a:pPr>
            <a:endParaRPr lang="en-GB" dirty="0">
              <a:latin typeface="Arial" panose="020B0604020202020204" pitchFamily="34" charset="0"/>
              <a:cs typeface="Arial" panose="020B0604020202020204" pitchFamily="34" charset="0"/>
            </a:endParaRPr>
          </a:p>
          <a:p>
            <a:pPr marL="0" indent="0">
              <a:buNone/>
            </a:pPr>
            <a:r>
              <a:rPr lang="en-GB" dirty="0">
                <a:latin typeface="Arial" panose="020B0604020202020204" pitchFamily="34" charset="0"/>
                <a:cs typeface="Arial" panose="020B0604020202020204" pitchFamily="34" charset="0"/>
              </a:rPr>
              <a:t>If you can, it is better not to use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GB" dirty="0">
                <a:latin typeface="Arial Black" panose="020B0A04020102020204" pitchFamily="34" charset="0"/>
              </a:rPr>
              <a:t>summary</a:t>
            </a:r>
          </a:p>
        </p:txBody>
      </p:sp>
      <p:sp>
        <p:nvSpPr>
          <p:cNvPr id="3" name="Content Placeholder 2"/>
          <p:cNvSpPr>
            <a:spLocks noGrp="1"/>
          </p:cNvSpPr>
          <p:nvPr>
            <p:ph idx="1"/>
          </p:nvPr>
        </p:nvSpPr>
        <p:spPr/>
        <p:txBody>
          <a:bodyPr>
            <a:normAutofit/>
          </a:bodyPr>
          <a:lstStyle/>
          <a:p>
            <a:r>
              <a:rPr lang="en-GB" sz="2000" b="1" dirty="0">
                <a:latin typeface="Arial" panose="020B0604020202020204" pitchFamily="34" charset="0"/>
                <a:cs typeface="Arial" panose="020B0604020202020204" pitchFamily="34" charset="0"/>
              </a:rPr>
              <a:t>LEARNING RESOURCES AVAILABLE </a:t>
            </a:r>
          </a:p>
          <a:p>
            <a:pPr lvl="1"/>
            <a:r>
              <a:rPr lang="en-GB" sz="1800" dirty="0">
                <a:latin typeface="Arial" panose="020B0604020202020204" pitchFamily="34" charset="0"/>
                <a:cs typeface="Arial" panose="020B0604020202020204" pitchFamily="34" charset="0"/>
              </a:rPr>
              <a:t>Kit of parts to make robot</a:t>
            </a:r>
          </a:p>
          <a:p>
            <a:pPr lvl="1"/>
            <a:r>
              <a:rPr lang="en-GB" sz="1800" dirty="0">
                <a:latin typeface="Arial" panose="020B0604020202020204" pitchFamily="34" charset="0"/>
                <a:cs typeface="Arial" panose="020B0604020202020204" pitchFamily="34" charset="0"/>
              </a:rPr>
              <a:t>Motor drive code</a:t>
            </a:r>
          </a:p>
          <a:p>
            <a:r>
              <a:rPr lang="en-GB" sz="2000" b="1" dirty="0">
                <a:latin typeface="Arial" panose="020B0604020202020204" pitchFamily="34" charset="0"/>
                <a:cs typeface="Arial" panose="020B0604020202020204" pitchFamily="34" charset="0"/>
              </a:rPr>
              <a:t>LEARNING ACTIVITIES</a:t>
            </a:r>
          </a:p>
          <a:p>
            <a:pPr lvl="1"/>
            <a:r>
              <a:rPr lang="en-GB" sz="1800" dirty="0">
                <a:latin typeface="Arial" panose="020B0604020202020204" pitchFamily="34" charset="0"/>
                <a:cs typeface="Arial" panose="020B0604020202020204" pitchFamily="34" charset="0"/>
              </a:rPr>
              <a:t>Show operation of motors</a:t>
            </a:r>
          </a:p>
          <a:p>
            <a:pPr lvl="1"/>
            <a:r>
              <a:rPr lang="en-GB" sz="1800" dirty="0">
                <a:latin typeface="Arial" panose="020B0604020202020204" pitchFamily="34" charset="0"/>
                <a:cs typeface="Arial" panose="020B0604020202020204" pitchFamily="34" charset="0"/>
              </a:rPr>
              <a:t>Discuss what is needed in characterisation experiments</a:t>
            </a:r>
          </a:p>
          <a:p>
            <a:r>
              <a:rPr lang="en-GB" sz="2000" b="1" dirty="0">
                <a:latin typeface="Arial" panose="020B0604020202020204" pitchFamily="34" charset="0"/>
                <a:cs typeface="Arial" panose="020B0604020202020204" pitchFamily="34" charset="0"/>
              </a:rPr>
              <a:t>TASKS TO BE COMPLETED</a:t>
            </a:r>
            <a:endParaRPr lang="en-GB" sz="2000" b="1" i="1" dirty="0">
              <a:latin typeface="Arial" panose="020B0604020202020204" pitchFamily="34" charset="0"/>
              <a:cs typeface="Arial" panose="020B0604020202020204" pitchFamily="34" charset="0"/>
            </a:endParaRPr>
          </a:p>
          <a:p>
            <a:pPr lvl="1"/>
            <a:r>
              <a:rPr lang="en-GB" sz="1800" dirty="0">
                <a:latin typeface="Arial" panose="020B0604020202020204" pitchFamily="34" charset="0"/>
                <a:cs typeface="Arial" panose="020B0604020202020204" pitchFamily="34" charset="0"/>
              </a:rPr>
              <a:t>Build up robot kit</a:t>
            </a:r>
          </a:p>
          <a:p>
            <a:pPr lvl="1"/>
            <a:r>
              <a:rPr lang="en-GB" sz="1800" dirty="0">
                <a:latin typeface="Arial" panose="020B0604020202020204" pitchFamily="34" charset="0"/>
                <a:cs typeface="Arial" panose="020B0604020202020204" pitchFamily="34" charset="0"/>
              </a:rPr>
              <a:t>Attach Arduino board, L298 board and battery to robot</a:t>
            </a:r>
          </a:p>
          <a:p>
            <a:pPr lvl="1"/>
            <a:r>
              <a:rPr lang="en-GB" sz="1800" dirty="0">
                <a:latin typeface="Arial" panose="020B0604020202020204" pitchFamily="34" charset="0"/>
                <a:cs typeface="Arial" panose="020B0604020202020204" pitchFamily="34" charset="0"/>
              </a:rPr>
              <a:t>Wire up motors to operate</a:t>
            </a:r>
          </a:p>
          <a:p>
            <a:pPr lvl="1"/>
            <a:r>
              <a:rPr lang="en-GB" sz="1800" dirty="0">
                <a:latin typeface="Arial" panose="020B0604020202020204" pitchFamily="34" charset="0"/>
                <a:cs typeface="Arial" panose="020B0604020202020204" pitchFamily="34" charset="0"/>
              </a:rPr>
              <a:t>Adjust speed of motor by editing code</a:t>
            </a:r>
          </a:p>
          <a:p>
            <a:pPr lvl="1"/>
            <a:r>
              <a:rPr lang="en-GB" sz="1800" dirty="0">
                <a:latin typeface="Arial" panose="020B0604020202020204" pitchFamily="34" charset="0"/>
                <a:cs typeface="Arial" panose="020B0604020202020204" pitchFamily="34" charset="0"/>
              </a:rPr>
              <a:t>Characterise the robot for driving motors at different speeds as indicated in separate sheet</a:t>
            </a:r>
          </a:p>
          <a:p>
            <a:endParaRPr lang="en-GB"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Last week we made this circuit</a:t>
            </a:r>
          </a:p>
        </p:txBody>
      </p:sp>
      <p:pic>
        <p:nvPicPr>
          <p:cNvPr id="11" name="Picture 10"/>
          <p:cNvPicPr>
            <a:picLocks noChangeAspect="1"/>
          </p:cNvPicPr>
          <p:nvPr/>
        </p:nvPicPr>
        <p:blipFill rotWithShape="1">
          <a:blip r:embed="rId2"/>
          <a:srcRect r="13424"/>
          <a:stretch>
            <a:fillRect/>
          </a:stretch>
        </p:blipFill>
        <p:spPr>
          <a:xfrm rot="5400000">
            <a:off x="2684850" y="1336256"/>
            <a:ext cx="3122021" cy="3705870"/>
          </a:xfrm>
          <a:prstGeom prst="rect">
            <a:avLst/>
          </a:prstGeom>
        </p:spPr>
      </p:pic>
      <p:sp>
        <p:nvSpPr>
          <p:cNvPr id="3" name="TextBox 2"/>
          <p:cNvSpPr txBox="1"/>
          <p:nvPr/>
        </p:nvSpPr>
        <p:spPr>
          <a:xfrm>
            <a:off x="415255" y="5008228"/>
            <a:ext cx="8313489" cy="1569660"/>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But it is a little too complicated to power our robot car.  We also have the problem that our Arduino doesn’t provide much power to the motor.  We need to add a stronger power supply.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558" y="1902068"/>
            <a:ext cx="4194495" cy="4407292"/>
          </a:xfrm>
        </p:spPr>
        <p:txBody>
          <a:bodyPr>
            <a:normAutofit fontScale="92500" lnSpcReduction="10000"/>
          </a:bodyPr>
          <a:lstStyle/>
          <a:p>
            <a:pPr marL="0" indent="0">
              <a:buNone/>
            </a:pPr>
            <a:r>
              <a:rPr lang="en-GB" sz="2800" dirty="0">
                <a:latin typeface="Arial" panose="020B0604020202020204" pitchFamily="34" charset="0"/>
                <a:cs typeface="Arial" panose="020B0604020202020204" pitchFamily="34" charset="0"/>
              </a:rPr>
              <a:t>The L298N Motor Driver is a controller that uses an H-Bridge to easily control the direction and speed of up to 2 DC motors. It operates in a similar way to the L293 that we used previously, but it has a built in voltage regulator and screw terminals that make its use for controlling the robot easier.</a:t>
            </a:r>
          </a:p>
        </p:txBody>
      </p:sp>
      <p:pic>
        <p:nvPicPr>
          <p:cNvPr id="7" name="Picture 6"/>
          <p:cNvPicPr>
            <a:picLocks noChangeAspect="1"/>
          </p:cNvPicPr>
          <p:nvPr/>
        </p:nvPicPr>
        <p:blipFill>
          <a:blip r:embed="rId2"/>
          <a:stretch>
            <a:fillRect/>
          </a:stretch>
        </p:blipFill>
        <p:spPr>
          <a:xfrm>
            <a:off x="4432156" y="1750772"/>
            <a:ext cx="4426094" cy="4269543"/>
          </a:xfrm>
          <a:prstGeom prst="rect">
            <a:avLst/>
          </a:prstGeom>
        </p:spPr>
      </p:pic>
      <p:sp>
        <p:nvSpPr>
          <p:cNvPr id="9" name="Rectangle 8"/>
          <p:cNvSpPr/>
          <p:nvPr/>
        </p:nvSpPr>
        <p:spPr>
          <a:xfrm>
            <a:off x="402672" y="416459"/>
            <a:ext cx="365423" cy="1403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595619" y="595264"/>
            <a:ext cx="8405768" cy="1155508"/>
          </a:xfrm>
        </p:spPr>
        <p:txBody>
          <a:bodyPr/>
          <a:lstStyle/>
          <a:p>
            <a:r>
              <a:rPr lang="en-GB" dirty="0">
                <a:latin typeface="Arial Black" panose="020B0A04020102020204" pitchFamily="34" charset="0"/>
                <a:cs typeface="Arial" panose="020B0604020202020204" pitchFamily="34" charset="0"/>
              </a:rPr>
              <a:t>L298 Motor driver board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L298N Motor Driver Module Pinout"/>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GB"/>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5346" r="16016"/>
          <a:stretch>
            <a:fillRect/>
          </a:stretch>
        </p:blipFill>
        <p:spPr>
          <a:xfrm>
            <a:off x="2122881" y="0"/>
            <a:ext cx="7021119" cy="6819484"/>
          </a:xfrm>
          <a:prstGeom prst="rect">
            <a:avLst/>
          </a:prstGeom>
        </p:spPr>
      </p:pic>
      <p:sp>
        <p:nvSpPr>
          <p:cNvPr id="12" name="Rectangle 11"/>
          <p:cNvSpPr/>
          <p:nvPr/>
        </p:nvSpPr>
        <p:spPr>
          <a:xfrm>
            <a:off x="402672" y="416459"/>
            <a:ext cx="365423" cy="1403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373309" y="259950"/>
            <a:ext cx="1749571" cy="523220"/>
          </a:xfrm>
          <a:prstGeom prst="rect">
            <a:avLst/>
          </a:prstGeom>
          <a:noFill/>
        </p:spPr>
        <p:txBody>
          <a:bodyPr wrap="square">
            <a:spAutoFit/>
          </a:bodyPr>
          <a:lstStyle/>
          <a:p>
            <a:r>
              <a:rPr lang="en-GB" sz="2800" dirty="0">
                <a:latin typeface="Arial Black" panose="020B0A04020102020204" pitchFamily="34" charset="0"/>
                <a:cs typeface="Arial" panose="020B0604020202020204" pitchFamily="34" charset="0"/>
              </a:rPr>
              <a:t>L298</a:t>
            </a:r>
            <a:endParaRPr lang="en-GB" dirty="0"/>
          </a:p>
        </p:txBody>
      </p:sp>
      <p:cxnSp>
        <p:nvCxnSpPr>
          <p:cNvPr id="16" name="Straight Arrow Connector 15"/>
          <p:cNvCxnSpPr/>
          <p:nvPr/>
        </p:nvCxnSpPr>
        <p:spPr>
          <a:xfrm flipV="1">
            <a:off x="1501629" y="3951215"/>
            <a:ext cx="4144162" cy="1149291"/>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8722" y="4613945"/>
            <a:ext cx="2064157" cy="461665"/>
          </a:xfrm>
          <a:prstGeom prst="rect">
            <a:avLst/>
          </a:prstGeom>
          <a:noFill/>
        </p:spPr>
        <p:txBody>
          <a:bodyPr wrap="square" rtlCol="0">
            <a:spAutoFit/>
          </a:bodyPr>
          <a:lstStyle/>
          <a:p>
            <a:r>
              <a:rPr lang="en-GB" sz="2400" dirty="0">
                <a:latin typeface="Arial Black" panose="020B0A04020102020204" pitchFamily="34" charset="0"/>
              </a:rPr>
              <a:t>Power LED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L298N Motor Driver Module Pinout"/>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GB"/>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31462" t="46038" r="25007" b="10908"/>
          <a:stretch>
            <a:fillRect/>
          </a:stretch>
        </p:blipFill>
        <p:spPr>
          <a:xfrm>
            <a:off x="402672" y="2593283"/>
            <a:ext cx="5419287" cy="3573329"/>
          </a:xfrm>
          <a:prstGeom prst="rect">
            <a:avLst/>
          </a:prstGeom>
        </p:spPr>
      </p:pic>
      <p:sp>
        <p:nvSpPr>
          <p:cNvPr id="3" name="Oval 2"/>
          <p:cNvSpPr/>
          <p:nvPr/>
        </p:nvSpPr>
        <p:spPr>
          <a:xfrm>
            <a:off x="1543574" y="3020037"/>
            <a:ext cx="1686187" cy="1476462"/>
          </a:xfrm>
          <a:prstGeom prst="ellipse">
            <a:avLst/>
          </a:prstGeom>
          <a:noFill/>
          <a:ln w="228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p:cNvSpPr txBox="1"/>
          <p:nvPr/>
        </p:nvSpPr>
        <p:spPr>
          <a:xfrm>
            <a:off x="6103756" y="2796570"/>
            <a:ext cx="2389369" cy="2246769"/>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If this jumper is connected the voltage regulator is enabled.</a:t>
            </a:r>
          </a:p>
        </p:txBody>
      </p:sp>
      <p:sp>
        <p:nvSpPr>
          <p:cNvPr id="10" name="Rectangle 9"/>
          <p:cNvSpPr/>
          <p:nvPr/>
        </p:nvSpPr>
        <p:spPr>
          <a:xfrm>
            <a:off x="402672" y="416459"/>
            <a:ext cx="365423" cy="1403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p:cNvSpPr txBox="1"/>
          <p:nvPr/>
        </p:nvSpPr>
        <p:spPr>
          <a:xfrm>
            <a:off x="201336" y="196422"/>
            <a:ext cx="8741328" cy="2308324"/>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12V – This board can take a DC input between 7V and 36V.  But there are some rules.</a:t>
            </a:r>
          </a:p>
          <a:p>
            <a:r>
              <a:rPr lang="en-GB" sz="2400" dirty="0">
                <a:latin typeface="Arial" panose="020B0604020202020204" pitchFamily="34" charset="0"/>
                <a:cs typeface="Arial" panose="020B0604020202020204" pitchFamily="34" charset="0"/>
              </a:rPr>
              <a:t>This board has a voltage regulator.  If the input voltage terminal is 12V or lower and the regulator is enabled, the regulator will provide 5V to power the board.  The 5V terminal will OUTPUT +5V to power an Arduino or something similar.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repeatCount="2000" autoRev="1" fill="remove" grpId="0" nodeType="clickEffect">
                                  <p:stCondLst>
                                    <p:cond delay="0"/>
                                  </p:stCondLst>
                                  <p:childTnLst>
                                    <p:animScale>
                                      <p:cBhvr>
                                        <p:cTn id="6" dur="1000" fill="hold"/>
                                        <p:tgtEl>
                                          <p:spTgt spid="3"/>
                                        </p:tgtEl>
                                      </p:cBhvr>
                                      <p:by x="150000" y="150000"/>
                                    </p:animScale>
                                  </p:childTnLst>
                                </p:cTn>
                              </p:par>
                            </p:childTnLst>
                          </p:cTn>
                        </p:par>
                        <p:par>
                          <p:cTn id="7" fill="hold">
                            <p:stCondLst>
                              <p:cond delay="100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L298N Motor Driver Module Pinout"/>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GB"/>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31462" t="46038" r="25007" b="10908"/>
          <a:stretch>
            <a:fillRect/>
          </a:stretch>
        </p:blipFill>
        <p:spPr>
          <a:xfrm>
            <a:off x="402672" y="2593283"/>
            <a:ext cx="5419287" cy="3573329"/>
          </a:xfrm>
          <a:prstGeom prst="rect">
            <a:avLst/>
          </a:prstGeom>
        </p:spPr>
      </p:pic>
      <p:sp>
        <p:nvSpPr>
          <p:cNvPr id="3" name="Oval 2"/>
          <p:cNvSpPr/>
          <p:nvPr/>
        </p:nvSpPr>
        <p:spPr>
          <a:xfrm>
            <a:off x="1543574" y="3020037"/>
            <a:ext cx="1686187" cy="1476462"/>
          </a:xfrm>
          <a:prstGeom prst="ellipse">
            <a:avLst/>
          </a:prstGeom>
          <a:noFill/>
          <a:ln w="228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p:cNvSpPr/>
          <p:nvPr/>
        </p:nvSpPr>
        <p:spPr>
          <a:xfrm>
            <a:off x="402672" y="416459"/>
            <a:ext cx="365423" cy="1403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p:cNvSpPr txBox="1"/>
          <p:nvPr/>
        </p:nvSpPr>
        <p:spPr>
          <a:xfrm>
            <a:off x="353736" y="216066"/>
            <a:ext cx="8741328" cy="1200329"/>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If this board is being given more than 12V you need to remove this jumper.  This will disable the voltage regulator.  The 5V pin is now an INPUT +5V to power the circuits.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cs typeface="Arial" panose="020B0604020202020204" pitchFamily="34" charset="0"/>
              </a:rPr>
              <a:t>Warning</a:t>
            </a:r>
            <a:r>
              <a:rPr lang="en-GB" dirty="0"/>
              <a:t>!</a:t>
            </a:r>
          </a:p>
        </p:txBody>
      </p:sp>
      <p:sp>
        <p:nvSpPr>
          <p:cNvPr id="3" name="Content Placeholder 2"/>
          <p:cNvSpPr>
            <a:spLocks noGrp="1"/>
          </p:cNvSpPr>
          <p:nvPr>
            <p:ph idx="1"/>
          </p:nvPr>
        </p:nvSpPr>
        <p:spPr/>
        <p:txBody>
          <a:bodyPr>
            <a:normAutofit/>
          </a:bodyPr>
          <a:lstStyle/>
          <a:p>
            <a:pPr marL="0" indent="0">
              <a:buNone/>
            </a:pPr>
            <a:r>
              <a:rPr lang="en-GB" sz="2800" dirty="0">
                <a:latin typeface="Arial" panose="020B0604020202020204" pitchFamily="34" charset="0"/>
                <a:cs typeface="Arial" panose="020B0604020202020204" pitchFamily="34" charset="0"/>
              </a:rPr>
              <a:t>If you provide more than 12V to the board, and the regulator is enabled it will BREAK YOUR BOARD.</a:t>
            </a:r>
          </a:p>
          <a:p>
            <a:pPr marL="0" indent="0">
              <a:buNone/>
            </a:pPr>
            <a:r>
              <a:rPr lang="en-GB" sz="2800" dirty="0">
                <a:latin typeface="Arial" panose="020B0604020202020204" pitchFamily="34" charset="0"/>
                <a:cs typeface="Arial" panose="020B0604020202020204" pitchFamily="34" charset="0"/>
              </a:rPr>
              <a:t>Decide on your power supply, then add or remove the regulator jumper before you connect the power.</a:t>
            </a:r>
          </a:p>
        </p:txBody>
      </p:sp>
      <p:sp>
        <p:nvSpPr>
          <p:cNvPr id="7" name="Rectangle 6"/>
          <p:cNvSpPr/>
          <p:nvPr/>
        </p:nvSpPr>
        <p:spPr>
          <a:xfrm>
            <a:off x="402672" y="416459"/>
            <a:ext cx="365423" cy="14032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326816"/>
            <a:ext cx="7607951" cy="1155508"/>
          </a:xfrm>
        </p:spPr>
        <p:txBody>
          <a:bodyPr/>
          <a:lstStyle/>
          <a:p>
            <a:r>
              <a:rPr lang="en-GB" dirty="0">
                <a:latin typeface="Arial Black" panose="020B0A04020102020204" pitchFamily="34" charset="0"/>
                <a:cs typeface="Arial" panose="020B0604020202020204" pitchFamily="34" charset="0"/>
              </a:rPr>
              <a:t>h bridge</a:t>
            </a:r>
          </a:p>
        </p:txBody>
      </p:sp>
      <p:sp>
        <p:nvSpPr>
          <p:cNvPr id="3" name="Content Placeholder 2"/>
          <p:cNvSpPr>
            <a:spLocks noGrp="1"/>
          </p:cNvSpPr>
          <p:nvPr>
            <p:ph idx="1"/>
          </p:nvPr>
        </p:nvSpPr>
        <p:spPr/>
        <p:txBody>
          <a:bodyPr/>
          <a:lstStyle/>
          <a:p>
            <a:endParaRPr lang="en-GB"/>
          </a:p>
        </p:txBody>
      </p:sp>
      <p:pic>
        <p:nvPicPr>
          <p:cNvPr id="7" name="Picture 8" descr="l293d clock wise direction current flow"/>
          <p:cNvPicPr>
            <a:picLocks noChangeAspect="1" noChangeArrowheads="1"/>
          </p:cNvPicPr>
          <p:nvPr/>
        </p:nvPicPr>
        <p:blipFill rotWithShape="1">
          <a:blip r:embed="rId2">
            <a:extLst>
              <a:ext uri="{28A0092B-C50C-407E-A947-70E740481C1C}">
                <a14:useLocalDpi xmlns:a14="http://schemas.microsoft.com/office/drawing/2010/main" val="0"/>
              </a:ext>
            </a:extLst>
          </a:blip>
          <a:srcRect r="2674" b="16073"/>
          <a:stretch>
            <a:fillRect/>
          </a:stretch>
        </p:blipFill>
        <p:spPr bwMode="auto">
          <a:xfrm>
            <a:off x="286089" y="1399364"/>
            <a:ext cx="7761260" cy="54586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 descr="L298N Motor Driver Module Pinout"/>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GB"/>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9944" t="58299" r="52124"/>
          <a:stretch>
            <a:fillRect/>
          </a:stretch>
        </p:blipFill>
        <p:spPr>
          <a:xfrm>
            <a:off x="103578" y="112976"/>
            <a:ext cx="2843792" cy="2830470"/>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58215" t="27033" r="13853" b="31265"/>
          <a:stretch>
            <a:fillRect/>
          </a:stretch>
        </p:blipFill>
        <p:spPr>
          <a:xfrm>
            <a:off x="103578" y="3018069"/>
            <a:ext cx="2843792" cy="2830470"/>
          </a:xfrm>
          <a:prstGeom prst="rect">
            <a:avLst/>
          </a:prstGeom>
        </p:spPr>
      </p:pic>
      <p:pic>
        <p:nvPicPr>
          <p:cNvPr id="11" name="Content Placeholder 6"/>
          <p:cNvPicPr>
            <a:picLocks noGrp="1" noChangeAspect="1"/>
          </p:cNvPicPr>
          <p:nvPr>
            <p:ph idx="1"/>
          </p:nvPr>
        </p:nvPicPr>
        <p:blipFill rotWithShape="1">
          <a:blip r:embed="rId3"/>
          <a:srcRect l="10212" t="8067" r="8905" b="7237"/>
          <a:stretch>
            <a:fillRect/>
          </a:stretch>
        </p:blipFill>
        <p:spPr>
          <a:xfrm>
            <a:off x="4834551" y="0"/>
            <a:ext cx="4309450" cy="68659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8215" t="27033" r="13853" b="31265"/>
          <a:stretch>
            <a:fillRect/>
          </a:stretch>
        </p:blipFill>
        <p:spPr>
          <a:xfrm>
            <a:off x="472693" y="486833"/>
            <a:ext cx="2843792" cy="2830470"/>
          </a:xfrm>
          <a:prstGeom prst="rect">
            <a:avLst/>
          </a:prstGeom>
        </p:spPr>
      </p:pic>
      <p:sp>
        <p:nvSpPr>
          <p:cNvPr id="8" name="Oval 7"/>
          <p:cNvSpPr/>
          <p:nvPr/>
        </p:nvSpPr>
        <p:spPr>
          <a:xfrm>
            <a:off x="377504" y="553674"/>
            <a:ext cx="1686187" cy="1476462"/>
          </a:xfrm>
          <a:prstGeom prst="ellipse">
            <a:avLst/>
          </a:prstGeom>
          <a:noFill/>
          <a:ln w="228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p:cNvSpPr txBox="1"/>
          <p:nvPr/>
        </p:nvSpPr>
        <p:spPr>
          <a:xfrm>
            <a:off x="3053593" y="486833"/>
            <a:ext cx="6090407" cy="5632311"/>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The L298 comes with a jumper on ENA and ENB.  This is only really useful for Stepper motors.  We should just use the front pin for a normal motor.</a:t>
            </a:r>
          </a:p>
          <a:p>
            <a:endParaRPr lang="en-GB" sz="2000"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If IN1 is set to HIGH and IN2 is set to LOW the motor will turn at the maximum speed in one direction.</a:t>
            </a:r>
          </a:p>
          <a:p>
            <a:r>
              <a:rPr lang="en-GB" sz="2000" dirty="0">
                <a:latin typeface="Arial" panose="020B0604020202020204" pitchFamily="34" charset="0"/>
                <a:cs typeface="Arial" panose="020B0604020202020204" pitchFamily="34" charset="0"/>
              </a:rPr>
              <a:t>If we reverse IN1 and IN2 the motor will turn at the maximum speed in the other direction.</a:t>
            </a:r>
          </a:p>
          <a:p>
            <a:endParaRPr lang="en-GB" sz="2000"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Later you will do a practical experiment to prove this yourself.</a:t>
            </a:r>
          </a:p>
          <a:p>
            <a:endParaRPr lang="en-GB" sz="2000"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If we connect a PWM signal to ENA it will control the speed of the motor connected to OUT1 and OUT2.</a:t>
            </a:r>
          </a:p>
          <a:p>
            <a:endParaRPr lang="en-GB" sz="2000" dirty="0">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IN3, IN4 and ENB control the motor connected to OUT3 and OUT4.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repeatCount="2000" autoRev="1" fill="remove" grpId="0" nodeType="clickEffect">
                                  <p:stCondLst>
                                    <p:cond delay="0"/>
                                  </p:stCondLst>
                                  <p:childTnLst>
                                    <p:animScale>
                                      <p:cBhvr>
                                        <p:cTn id="6" dur="1000" fill="hold"/>
                                        <p:tgtEl>
                                          <p:spTgt spid="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3705452" y="99638"/>
            <a:ext cx="5287546" cy="6517475"/>
          </a:xfrm>
          <a:prstGeom prst="rect">
            <a:avLst/>
          </a:prstGeom>
        </p:spPr>
      </p:pic>
      <p:sp>
        <p:nvSpPr>
          <p:cNvPr id="2" name="Title 1"/>
          <p:cNvSpPr>
            <a:spLocks noGrp="1"/>
          </p:cNvSpPr>
          <p:nvPr>
            <p:ph type="title"/>
          </p:nvPr>
        </p:nvSpPr>
        <p:spPr/>
        <p:txBody>
          <a:bodyPr/>
          <a:lstStyle/>
          <a:p>
            <a:r>
              <a:rPr lang="en-GB" dirty="0">
                <a:latin typeface="Arial Black" panose="020B0A04020102020204" pitchFamily="34" charset="0"/>
              </a:rPr>
              <a:t>L298 Wiring</a:t>
            </a:r>
          </a:p>
        </p:txBody>
      </p:sp>
      <p:sp>
        <p:nvSpPr>
          <p:cNvPr id="8" name="Content Placeholder 7"/>
          <p:cNvSpPr>
            <a:spLocks noGrp="1"/>
          </p:cNvSpPr>
          <p:nvPr>
            <p:ph idx="1"/>
          </p:nvPr>
        </p:nvSpPr>
        <p:spPr>
          <a:xfrm>
            <a:off x="268447" y="1902067"/>
            <a:ext cx="5092117" cy="4856295"/>
          </a:xfrm>
        </p:spPr>
        <p:txBody>
          <a:bodyPr>
            <a:normAutofit/>
          </a:bodyPr>
          <a:lstStyle/>
          <a:p>
            <a:pPr marL="0" indent="0">
              <a:buNone/>
            </a:pPr>
            <a:r>
              <a:rPr lang="en-GB" sz="2000" dirty="0">
                <a:latin typeface="Arial" panose="020B0604020202020204" pitchFamily="34" charset="0"/>
                <a:cs typeface="Arial" panose="020B0604020202020204" pitchFamily="34" charset="0"/>
              </a:rPr>
              <a:t>This shows how the L298 should be wired up</a:t>
            </a:r>
          </a:p>
          <a:p>
            <a:pPr marL="0" indent="0">
              <a:buNone/>
            </a:pPr>
            <a:r>
              <a:rPr lang="en-GB" sz="2000" dirty="0">
                <a:latin typeface="Arial" panose="020B0604020202020204" pitchFamily="34" charset="0"/>
                <a:cs typeface="Arial" panose="020B0604020202020204" pitchFamily="34" charset="0"/>
              </a:rPr>
              <a:t>Ensure the ground is connected between the Arduino and the controller</a:t>
            </a:r>
          </a:p>
          <a:p>
            <a:pPr marL="0" indent="0">
              <a:buNone/>
            </a:pPr>
            <a:r>
              <a:rPr lang="en-GB" sz="2000" dirty="0">
                <a:latin typeface="Arial" panose="020B0604020202020204" pitchFamily="34" charset="0"/>
                <a:cs typeface="Arial" panose="020B0604020202020204" pitchFamily="34" charset="0"/>
              </a:rPr>
              <a:t>We connected pins:</a:t>
            </a:r>
          </a:p>
          <a:p>
            <a:pPr marL="0" indent="0">
              <a:buNone/>
            </a:pPr>
            <a:r>
              <a:rPr lang="en-GB" sz="2000" dirty="0">
                <a:latin typeface="Arial" panose="020B0604020202020204" pitchFamily="34" charset="0"/>
                <a:cs typeface="Arial" panose="020B0604020202020204" pitchFamily="34" charset="0"/>
              </a:rPr>
              <a:t>2 -&gt; IN1</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3 -&gt; IN2</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4 -&gt; IN3</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5 -&gt; IN4</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V</a:t>
            </a:r>
            <a:r>
              <a:rPr lang="en-GB" sz="2000" baseline="-25000" dirty="0">
                <a:latin typeface="Arial" panose="020B0604020202020204" pitchFamily="34" charset="0"/>
                <a:cs typeface="Arial" panose="020B0604020202020204" pitchFamily="34" charset="0"/>
              </a:rPr>
              <a:t>in</a:t>
            </a:r>
            <a:r>
              <a:rPr lang="en-GB" sz="2000" dirty="0">
                <a:latin typeface="Arial" panose="020B0604020202020204" pitchFamily="34" charset="0"/>
                <a:cs typeface="Arial" panose="020B0604020202020204" pitchFamily="34" charset="0"/>
              </a:rPr>
              <a:t> -&gt; </a:t>
            </a:r>
            <a:r>
              <a:rPr lang="en-GB" sz="2000">
                <a:latin typeface="Arial" panose="020B0604020202020204" pitchFamily="34" charset="0"/>
                <a:cs typeface="Arial" panose="020B0604020202020204" pitchFamily="34" charset="0"/>
              </a:rPr>
              <a:t>+5V</a:t>
            </a:r>
            <a:br>
              <a:rPr lang="en-GB" sz="2000">
                <a:latin typeface="Arial" panose="020B0604020202020204" pitchFamily="34" charset="0"/>
                <a:cs typeface="Arial" panose="020B0604020202020204" pitchFamily="34" charset="0"/>
              </a:rPr>
            </a:br>
            <a:r>
              <a:rPr lang="en-GB" sz="2000">
                <a:latin typeface="Arial" panose="020B0604020202020204" pitchFamily="34" charset="0"/>
                <a:cs typeface="Arial" panose="020B0604020202020204" pitchFamily="34" charset="0"/>
              </a:rPr>
              <a:t>GND -&gt; GND</a:t>
            </a:r>
            <a:endParaRPr lang="en-GB" sz="2000" dirty="0">
              <a:latin typeface="Arial" panose="020B0604020202020204" pitchFamily="34" charset="0"/>
              <a:cs typeface="Arial" panose="020B0604020202020204" pitchFamily="34" charset="0"/>
            </a:endParaRPr>
          </a:p>
          <a:p>
            <a:pPr marL="0" indent="0">
              <a:buNone/>
            </a:pPr>
            <a:r>
              <a:rPr lang="en-GB" sz="2000" b="1" dirty="0">
                <a:latin typeface="Arial" panose="020B0604020202020204" pitchFamily="34" charset="0"/>
                <a:cs typeface="Arial" panose="020B0604020202020204" pitchFamily="34" charset="0"/>
              </a:rPr>
              <a:t>The voltage regulator should be enabled!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05" y="217760"/>
            <a:ext cx="7607951" cy="1155508"/>
          </a:xfrm>
        </p:spPr>
        <p:txBody>
          <a:bodyPr>
            <a:normAutofit fontScale="90000"/>
          </a:bodyPr>
          <a:lstStyle/>
          <a:p>
            <a:r>
              <a:rPr lang="en-GB" dirty="0">
                <a:latin typeface="Arial Black" panose="020B0A04020102020204" pitchFamily="34" charset="0"/>
              </a:rPr>
              <a:t>use the following code to test the motors</a:t>
            </a:r>
          </a:p>
        </p:txBody>
      </p:sp>
      <p:sp>
        <p:nvSpPr>
          <p:cNvPr id="3" name="Content Placeholder 2"/>
          <p:cNvSpPr>
            <a:spLocks noGrp="1"/>
          </p:cNvSpPr>
          <p:nvPr>
            <p:ph idx="1"/>
          </p:nvPr>
        </p:nvSpPr>
        <p:spPr>
          <a:xfrm>
            <a:off x="684205" y="1216404"/>
            <a:ext cx="8082290" cy="5528345"/>
          </a:xfrm>
        </p:spPr>
        <p:txBody>
          <a:bodyPr>
            <a:noAutofit/>
          </a:bodyPr>
          <a:lstStyle/>
          <a:p>
            <a:pPr marL="0" indent="0">
              <a:buNone/>
            </a:pPr>
            <a:r>
              <a:rPr lang="en-GB" sz="1200" dirty="0">
                <a:latin typeface="Arial" panose="020B0604020202020204" pitchFamily="34" charset="0"/>
                <a:cs typeface="Arial" panose="020B0604020202020204" pitchFamily="34" charset="0"/>
              </a:rPr>
              <a:t>int in1Pin = 2;</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int in2Pin = 3;</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int in3Pin = 4;</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int in4Pin = 5;</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bool reverse = false; //change this to change direction of motors</a:t>
            </a:r>
            <a:br>
              <a:rPr lang="en-GB" sz="1200" dirty="0">
                <a:latin typeface="Arial" panose="020B0604020202020204" pitchFamily="34" charset="0"/>
                <a:cs typeface="Arial" panose="020B0604020202020204" pitchFamily="34" charset="0"/>
              </a:rPr>
            </a:b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void setup()</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pinMode</a:t>
            </a:r>
            <a:r>
              <a:rPr lang="en-GB" sz="1200" dirty="0">
                <a:latin typeface="Arial" panose="020B0604020202020204" pitchFamily="34" charset="0"/>
                <a:cs typeface="Arial" panose="020B0604020202020204" pitchFamily="34" charset="0"/>
              </a:rPr>
              <a:t>(in1Pin, OUTPUT);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pinMode</a:t>
            </a:r>
            <a:r>
              <a:rPr lang="en-GB" sz="1200" dirty="0">
                <a:latin typeface="Arial" panose="020B0604020202020204" pitchFamily="34" charset="0"/>
                <a:cs typeface="Arial" panose="020B0604020202020204" pitchFamily="34" charset="0"/>
              </a:rPr>
              <a:t>(in2Pin, OUTPUT);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pinMode</a:t>
            </a:r>
            <a:r>
              <a:rPr lang="en-GB" sz="1200" dirty="0">
                <a:latin typeface="Arial" panose="020B0604020202020204" pitchFamily="34" charset="0"/>
                <a:cs typeface="Arial" panose="020B0604020202020204" pitchFamily="34" charset="0"/>
              </a:rPr>
              <a:t>(in3Pin, OUTPUT);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pinMode</a:t>
            </a:r>
            <a:r>
              <a:rPr lang="en-GB" sz="1200" dirty="0">
                <a:latin typeface="Arial" panose="020B0604020202020204" pitchFamily="34" charset="0"/>
                <a:cs typeface="Arial" panose="020B0604020202020204" pitchFamily="34" charset="0"/>
              </a:rPr>
              <a:t>(in4Pin, OUTPUT); </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void loop()</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setMotor</a:t>
            </a:r>
            <a:r>
              <a:rPr lang="en-GB" sz="1200" dirty="0">
                <a:latin typeface="Arial" panose="020B0604020202020204" pitchFamily="34" charset="0"/>
                <a:cs typeface="Arial" panose="020B0604020202020204" pitchFamily="34" charset="0"/>
              </a:rPr>
              <a:t>(); // subroutine to control motor</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delay(5000);</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reverse = ! reverse;</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void </a:t>
            </a:r>
            <a:r>
              <a:rPr lang="en-GB" sz="1200" dirty="0" err="1">
                <a:latin typeface="Arial" panose="020B0604020202020204" pitchFamily="34" charset="0"/>
                <a:cs typeface="Arial" panose="020B0604020202020204" pitchFamily="34" charset="0"/>
              </a:rPr>
              <a:t>setMotor</a:t>
            </a: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digitalWrite</a:t>
            </a:r>
            <a:r>
              <a:rPr lang="en-GB" sz="1200" dirty="0">
                <a:latin typeface="Arial" panose="020B0604020202020204" pitchFamily="34" charset="0"/>
                <a:cs typeface="Arial" panose="020B0604020202020204" pitchFamily="34" charset="0"/>
              </a:rPr>
              <a:t>(in1Pin, ! reverse);</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digitalWrite</a:t>
            </a:r>
            <a:r>
              <a:rPr lang="en-GB" sz="1200" dirty="0">
                <a:latin typeface="Arial" panose="020B0604020202020204" pitchFamily="34" charset="0"/>
                <a:cs typeface="Arial" panose="020B0604020202020204" pitchFamily="34" charset="0"/>
              </a:rPr>
              <a:t>(in2Pin, reverse);</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digitalWrite</a:t>
            </a:r>
            <a:r>
              <a:rPr lang="en-GB" sz="1200" dirty="0">
                <a:latin typeface="Arial" panose="020B0604020202020204" pitchFamily="34" charset="0"/>
                <a:cs typeface="Arial" panose="020B0604020202020204" pitchFamily="34" charset="0"/>
              </a:rPr>
              <a:t>(in3Pin, ! reverse);</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  </a:t>
            </a:r>
            <a:r>
              <a:rPr lang="en-GB" sz="1200" dirty="0" err="1">
                <a:latin typeface="Arial" panose="020B0604020202020204" pitchFamily="34" charset="0"/>
                <a:cs typeface="Arial" panose="020B0604020202020204" pitchFamily="34" charset="0"/>
              </a:rPr>
              <a:t>digitalWrite</a:t>
            </a:r>
            <a:r>
              <a:rPr lang="en-GB" sz="1200" dirty="0">
                <a:latin typeface="Arial" panose="020B0604020202020204" pitchFamily="34" charset="0"/>
                <a:cs typeface="Arial" panose="020B0604020202020204" pitchFamily="34" charset="0"/>
              </a:rPr>
              <a:t>(in4Pin, reverse);</a:t>
            </a:r>
            <a:br>
              <a:rPr lang="en-GB" sz="1200" dirty="0">
                <a:latin typeface="Arial" panose="020B0604020202020204" pitchFamily="34" charset="0"/>
                <a:cs typeface="Arial" panose="020B0604020202020204" pitchFamily="34" charset="0"/>
              </a:rPr>
            </a:br>
            <a:r>
              <a:rPr lang="en-GB" sz="1200" dirty="0">
                <a:latin typeface="Arial" panose="020B0604020202020204" pitchFamily="34" charset="0"/>
                <a:cs typeface="Arial" panose="020B0604020202020204" pitchFamily="34" charset="0"/>
              </a:rPr>
              <a:t>}</a:t>
            </a:r>
          </a:p>
        </p:txBody>
      </p:sp>
      <p:sp>
        <p:nvSpPr>
          <p:cNvPr id="7" name="TextBox 6"/>
          <p:cNvSpPr txBox="1"/>
          <p:nvPr/>
        </p:nvSpPr>
        <p:spPr>
          <a:xfrm>
            <a:off x="5133922" y="2430635"/>
            <a:ext cx="3901021" cy="3416320"/>
          </a:xfrm>
          <a:prstGeom prst="rect">
            <a:avLst/>
          </a:prstGeom>
          <a:noFill/>
        </p:spPr>
        <p:txBody>
          <a:bodyPr wrap="square" rtlCol="0">
            <a:spAutoFit/>
          </a:bodyPr>
          <a:lstStyle/>
          <a:p>
            <a:r>
              <a:rPr lang="en-GB" sz="2400" dirty="0">
                <a:latin typeface="Arial" panose="020B0604020202020204" pitchFamily="34" charset="0"/>
                <a:cs typeface="Arial" panose="020B0604020202020204" pitchFamily="34" charset="0"/>
              </a:rPr>
              <a:t>Check that the motors both turn in the same direction.  If they are different you can remove the </a:t>
            </a:r>
          </a:p>
          <a:p>
            <a:r>
              <a:rPr lang="en-GB" sz="2400" dirty="0">
                <a:latin typeface="Arial" panose="020B0604020202020204" pitchFamily="34" charset="0"/>
                <a:cs typeface="Arial" panose="020B0604020202020204" pitchFamily="34" charset="0"/>
              </a:rPr>
              <a:t>“reverse = ! reverse” section of the code, then change the OUT terminals so the motors both go forwards.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Can we vary the speed?</a:t>
            </a:r>
            <a:endParaRPr lang="en-GB"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pPr marL="0" indent="0">
              <a:buNone/>
            </a:pPr>
            <a:r>
              <a:rPr lang="en-US" sz="2400" dirty="0">
                <a:latin typeface="Arial" panose="020B0604020202020204" pitchFamily="34" charset="0"/>
                <a:cs typeface="Arial" panose="020B0604020202020204" pitchFamily="34" charset="0"/>
              </a:rPr>
              <a:t>We know that we can use PWM to control the speed of a DC motor using an L293D chip or L298 board.</a:t>
            </a:r>
          </a:p>
          <a:p>
            <a:pPr marL="0" indent="0">
              <a:buNone/>
            </a:pPr>
            <a:r>
              <a:rPr lang="en-US" sz="2400" dirty="0">
                <a:latin typeface="Arial" panose="020B0604020202020204" pitchFamily="34" charset="0"/>
                <a:cs typeface="Arial" panose="020B0604020202020204" pitchFamily="34" charset="0"/>
              </a:rPr>
              <a:t>But this uses 3 Arduino pins.  IN1, IN2 and EN1.</a:t>
            </a:r>
          </a:p>
          <a:p>
            <a:pPr marL="0" indent="0">
              <a:buNone/>
            </a:pPr>
            <a:r>
              <a:rPr lang="en-US" sz="2400" dirty="0">
                <a:latin typeface="Arial" panose="020B0604020202020204" pitchFamily="34" charset="0"/>
                <a:cs typeface="Arial" panose="020B0604020202020204" pitchFamily="34" charset="0"/>
              </a:rPr>
              <a:t>Can we control the speed of a DC motor using 2 Arduino pins, or even just 1?</a:t>
            </a:r>
            <a:endParaRPr lang="en-GB" sz="24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a:t>January ‘21</a:t>
            </a:r>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D9A0FCD-C181-41F7-AE76-3F64F16EDCFD}" type="slidenum">
              <a:rPr lang="en-GB" smtClean="0"/>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Yes, we can.</a:t>
            </a:r>
            <a:endParaRPr lang="en-GB" dirty="0">
              <a:latin typeface="Arial Black" panose="020B0A04020102020204" pitchFamily="34"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Our IN1 and IN2 pins can be used to control the speed. Look at this table for the logic of IN1 and IN2.  By leaving one input at LOW and switching the other to HIGH or LOW we can control the speed.  We can simulate PWM.</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Arduino PWM is actually about 500Hz, and as the value is between 0-255, every pulse lasts around 2 milliseconds.</a:t>
            </a:r>
          </a:p>
        </p:txBody>
      </p:sp>
      <p:graphicFrame>
        <p:nvGraphicFramePr>
          <p:cNvPr id="7" name="Table 7"/>
          <p:cNvGraphicFramePr>
            <a:graphicFrameLocks noGrp="1"/>
          </p:cNvGraphicFramePr>
          <p:nvPr/>
        </p:nvGraphicFramePr>
        <p:xfrm>
          <a:off x="1978025" y="2870200"/>
          <a:ext cx="5537835" cy="2352040"/>
        </p:xfrm>
        <a:graphic>
          <a:graphicData uri="http://schemas.openxmlformats.org/drawingml/2006/table">
            <a:tbl>
              <a:tblPr firstRow="1" bandRow="1">
                <a:tableStyleId>{5C22544A-7EE6-4342-B048-85BDC9FD1C3A}</a:tableStyleId>
              </a:tblPr>
              <a:tblGrid>
                <a:gridCol w="1845945">
                  <a:extLst>
                    <a:ext uri="{9D8B030D-6E8A-4147-A177-3AD203B41FA5}">
                      <a16:colId xmlns:a16="http://schemas.microsoft.com/office/drawing/2014/main" val="20000"/>
                    </a:ext>
                  </a:extLst>
                </a:gridCol>
                <a:gridCol w="1845945">
                  <a:extLst>
                    <a:ext uri="{9D8B030D-6E8A-4147-A177-3AD203B41FA5}">
                      <a16:colId xmlns:a16="http://schemas.microsoft.com/office/drawing/2014/main" val="20001"/>
                    </a:ext>
                  </a:extLst>
                </a:gridCol>
                <a:gridCol w="1845945">
                  <a:extLst>
                    <a:ext uri="{9D8B030D-6E8A-4147-A177-3AD203B41FA5}">
                      <a16:colId xmlns:a16="http://schemas.microsoft.com/office/drawing/2014/main" val="20002"/>
                    </a:ext>
                  </a:extLst>
                </a:gridCol>
              </a:tblGrid>
              <a:tr h="457200">
                <a:tc>
                  <a:txBody>
                    <a:bodyPr/>
                    <a:lstStyle/>
                    <a:p>
                      <a:r>
                        <a:rPr lang="en-US" sz="2400" dirty="0"/>
                        <a:t>IN1</a:t>
                      </a:r>
                      <a:endParaRPr lang="en-GB" sz="2400" dirty="0"/>
                    </a:p>
                  </a:txBody>
                  <a:tcPr/>
                </a:tc>
                <a:tc>
                  <a:txBody>
                    <a:bodyPr/>
                    <a:lstStyle/>
                    <a:p>
                      <a:r>
                        <a:rPr lang="en-US" sz="2400" dirty="0"/>
                        <a:t>IN2</a:t>
                      </a:r>
                      <a:endParaRPr lang="en-GB" sz="2400" dirty="0"/>
                    </a:p>
                  </a:txBody>
                  <a:tcPr/>
                </a:tc>
                <a:tc>
                  <a:txBody>
                    <a:bodyPr/>
                    <a:lstStyle/>
                    <a:p>
                      <a:r>
                        <a:rPr lang="en-US" sz="2400" dirty="0"/>
                        <a:t>DC Motor</a:t>
                      </a:r>
                      <a:endParaRPr lang="en-GB" sz="2400" dirty="0"/>
                    </a:p>
                  </a:txBody>
                  <a:tcPr/>
                </a:tc>
                <a:extLst>
                  <a:ext uri="{0D108BD9-81ED-4DB2-BD59-A6C34878D82A}">
                    <a16:rowId xmlns:a16="http://schemas.microsoft.com/office/drawing/2014/main" val="10000"/>
                  </a:ext>
                </a:extLst>
              </a:tr>
              <a:tr h="400192">
                <a:tc>
                  <a:txBody>
                    <a:bodyPr/>
                    <a:lstStyle/>
                    <a:p>
                      <a:r>
                        <a:rPr lang="en-US" sz="2400" dirty="0"/>
                        <a:t>LOW</a:t>
                      </a:r>
                      <a:endParaRPr lang="en-GB" sz="2400" dirty="0"/>
                    </a:p>
                  </a:txBody>
                  <a:tcPr/>
                </a:tc>
                <a:tc>
                  <a:txBody>
                    <a:bodyPr/>
                    <a:lstStyle/>
                    <a:p>
                      <a:r>
                        <a:rPr lang="en-US" sz="2400" dirty="0"/>
                        <a:t>LOW</a:t>
                      </a:r>
                      <a:endParaRPr lang="en-GB" sz="2400" dirty="0"/>
                    </a:p>
                  </a:txBody>
                  <a:tcPr/>
                </a:tc>
                <a:tc>
                  <a:txBody>
                    <a:bodyPr/>
                    <a:lstStyle/>
                    <a:p>
                      <a:r>
                        <a:rPr lang="en-US" sz="2400" dirty="0"/>
                        <a:t>OFF</a:t>
                      </a:r>
                      <a:endParaRPr lang="en-GB" sz="2400" dirty="0"/>
                    </a:p>
                  </a:txBody>
                  <a:tcPr/>
                </a:tc>
                <a:extLst>
                  <a:ext uri="{0D108BD9-81ED-4DB2-BD59-A6C34878D82A}">
                    <a16:rowId xmlns:a16="http://schemas.microsoft.com/office/drawing/2014/main" val="10001"/>
                  </a:ext>
                </a:extLst>
              </a:tr>
              <a:tr h="400192">
                <a:tc>
                  <a:txBody>
                    <a:bodyPr/>
                    <a:lstStyle/>
                    <a:p>
                      <a:r>
                        <a:rPr lang="en-US" sz="2400" dirty="0"/>
                        <a:t>LOW</a:t>
                      </a:r>
                      <a:endParaRPr lang="en-GB" sz="2400" dirty="0"/>
                    </a:p>
                  </a:txBody>
                  <a:tcPr/>
                </a:tc>
                <a:tc>
                  <a:txBody>
                    <a:bodyPr/>
                    <a:lstStyle/>
                    <a:p>
                      <a:r>
                        <a:rPr lang="en-US" sz="2400" dirty="0"/>
                        <a:t>HIGH</a:t>
                      </a:r>
                      <a:endParaRPr lang="en-GB" sz="2400" dirty="0"/>
                    </a:p>
                  </a:txBody>
                  <a:tcPr/>
                </a:tc>
                <a:tc>
                  <a:txBody>
                    <a:bodyPr/>
                    <a:lstStyle/>
                    <a:p>
                      <a:r>
                        <a:rPr lang="en-US" sz="2400" dirty="0"/>
                        <a:t>REVERSE</a:t>
                      </a:r>
                      <a:endParaRPr lang="en-GB" sz="2400" dirty="0"/>
                    </a:p>
                  </a:txBody>
                  <a:tcPr/>
                </a:tc>
                <a:extLst>
                  <a:ext uri="{0D108BD9-81ED-4DB2-BD59-A6C34878D82A}">
                    <a16:rowId xmlns:a16="http://schemas.microsoft.com/office/drawing/2014/main" val="10002"/>
                  </a:ext>
                </a:extLst>
              </a:tr>
              <a:tr h="523239">
                <a:tc>
                  <a:txBody>
                    <a:bodyPr/>
                    <a:lstStyle/>
                    <a:p>
                      <a:r>
                        <a:rPr lang="en-US" sz="2400" dirty="0"/>
                        <a:t>HIGH</a:t>
                      </a:r>
                      <a:endParaRPr lang="en-GB" sz="2400" dirty="0"/>
                    </a:p>
                  </a:txBody>
                  <a:tcPr/>
                </a:tc>
                <a:tc>
                  <a:txBody>
                    <a:bodyPr/>
                    <a:lstStyle/>
                    <a:p>
                      <a:r>
                        <a:rPr lang="en-US" sz="2400" dirty="0"/>
                        <a:t>LOW</a:t>
                      </a:r>
                      <a:endParaRPr lang="en-GB" sz="2400" dirty="0"/>
                    </a:p>
                  </a:txBody>
                  <a:tcPr/>
                </a:tc>
                <a:tc>
                  <a:txBody>
                    <a:bodyPr/>
                    <a:lstStyle/>
                    <a:p>
                      <a:r>
                        <a:rPr lang="en-US" sz="2400" dirty="0"/>
                        <a:t>FORWARD</a:t>
                      </a:r>
                      <a:endParaRPr lang="en-GB" sz="2400" dirty="0"/>
                    </a:p>
                  </a:txBody>
                  <a:tcPr/>
                </a:tc>
                <a:extLst>
                  <a:ext uri="{0D108BD9-81ED-4DB2-BD59-A6C34878D82A}">
                    <a16:rowId xmlns:a16="http://schemas.microsoft.com/office/drawing/2014/main" val="10003"/>
                  </a:ext>
                </a:extLst>
              </a:tr>
              <a:tr h="400192">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2400" dirty="0"/>
                        <a:t>HIGH</a:t>
                      </a:r>
                      <a:endParaRPr lang="en-GB" sz="24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sz="2400" dirty="0"/>
                        <a:t>HIGH</a:t>
                      </a:r>
                      <a:endParaRPr lang="en-GB" sz="2400" dirty="0"/>
                    </a:p>
                  </a:txBody>
                  <a:tcPr/>
                </a:tc>
                <a:tc>
                  <a:txBody>
                    <a:bodyPr/>
                    <a:lstStyle/>
                    <a:p>
                      <a:r>
                        <a:rPr lang="en-US" sz="2400" dirty="0"/>
                        <a:t>OFF </a:t>
                      </a:r>
                      <a:endParaRPr lang="en-GB" sz="2400"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How can we use this?</a:t>
            </a:r>
            <a:endParaRPr lang="en-GB" dirty="0">
              <a:latin typeface="Arial Black" panose="020B0A04020102020204" pitchFamily="34" charset="0"/>
            </a:endParaRPr>
          </a:p>
        </p:txBody>
      </p:sp>
      <p:sp>
        <p:nvSpPr>
          <p:cNvPr id="3" name="Content Placeholder 2"/>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Any ideas?</a:t>
            </a:r>
            <a:endParaRPr lang="en-GB" dirty="0">
              <a:latin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991448" y="167780"/>
            <a:ext cx="3967994" cy="2308324"/>
          </a:xfrm>
          <a:prstGeom prst="rect">
            <a:avLst/>
          </a:prstGeom>
          <a:noFill/>
          <a:ln w="76200">
            <a:solidFill>
              <a:schemeClr val="tx1"/>
            </a:solidFill>
          </a:ln>
        </p:spPr>
        <p:txBody>
          <a:bodyPr wrap="square" rtlCol="0">
            <a:spAutoFit/>
          </a:bodyPr>
          <a:lstStyle/>
          <a:p>
            <a:r>
              <a:rPr lang="en-GB" dirty="0">
                <a:latin typeface="Arial" panose="020B0604020202020204" pitchFamily="34" charset="0"/>
                <a:cs typeface="Arial" panose="020B0604020202020204" pitchFamily="34" charset="0"/>
              </a:rPr>
              <a:t>int motor1pin1 = 5;</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motor1pin2 = 6;</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motor2pin1 = 9;</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motor2pin2 = 10;</a:t>
            </a:r>
            <a:br>
              <a:rPr lang="en-GB"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motor1speed = 0; </a:t>
            </a:r>
          </a:p>
          <a:p>
            <a:r>
              <a:rPr lang="en-GB" dirty="0">
                <a:latin typeface="Arial" panose="020B0604020202020204" pitchFamily="34" charset="0"/>
                <a:cs typeface="Arial" panose="020B0604020202020204" pitchFamily="34" charset="0"/>
              </a:rPr>
              <a:t>int motor2speed = 0;</a:t>
            </a:r>
          </a:p>
          <a:p>
            <a:r>
              <a:rPr lang="en-GB" dirty="0">
                <a:latin typeface="Arial" panose="020B0604020202020204" pitchFamily="34" charset="0"/>
                <a:cs typeface="Arial" panose="020B0604020202020204" pitchFamily="34" charset="0"/>
              </a:rPr>
              <a:t>// 0 -&gt; 10 denotes low to high speed</a:t>
            </a:r>
          </a:p>
        </p:txBody>
      </p:sp>
      <p:sp>
        <p:nvSpPr>
          <p:cNvPr id="8" name="Rectangle 7"/>
          <p:cNvSpPr/>
          <p:nvPr/>
        </p:nvSpPr>
        <p:spPr>
          <a:xfrm>
            <a:off x="478172" y="570451"/>
            <a:ext cx="209725" cy="114929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p:cNvSpPr>
            <a:spLocks noGrp="1"/>
          </p:cNvSpPr>
          <p:nvPr>
            <p:ph idx="1"/>
          </p:nvPr>
        </p:nvSpPr>
        <p:spPr>
          <a:xfrm>
            <a:off x="294553" y="104724"/>
            <a:ext cx="7607950" cy="6648551"/>
          </a:xfrm>
        </p:spPr>
        <p:txBody>
          <a:bodyPr>
            <a:normAutofit/>
          </a:bodyPr>
          <a:lstStyle/>
          <a:p>
            <a:pPr marL="0" indent="0">
              <a:buNone/>
            </a:pPr>
            <a:r>
              <a:rPr lang="en-GB" sz="2000" dirty="0">
                <a:latin typeface="Arial" panose="020B0604020202020204" pitchFamily="34" charset="0"/>
                <a:cs typeface="Arial" panose="020B0604020202020204" pitchFamily="34" charset="0"/>
              </a:rPr>
              <a:t>void setup() {</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(motor1pin1,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(motor1pin2,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(motor2pin1,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pinMode</a:t>
            </a:r>
            <a:r>
              <a:rPr lang="en-GB" sz="2000" dirty="0">
                <a:latin typeface="Arial" panose="020B0604020202020204" pitchFamily="34" charset="0"/>
                <a:cs typeface="Arial" panose="020B0604020202020204" pitchFamily="34" charset="0"/>
              </a:rPr>
              <a:t>(motor2pin2, OUTPUT);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br>
              <a:rPr lang="en-GB" sz="2000" dirty="0">
                <a:latin typeface="Arial" panose="020B0604020202020204" pitchFamily="34" charset="0"/>
                <a:cs typeface="Arial" panose="020B0604020202020204" pitchFamily="34" charset="0"/>
              </a:rPr>
            </a:b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void loop() {</a:t>
            </a:r>
            <a:br>
              <a:rPr lang="da-DK"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set_speed</a:t>
            </a:r>
            <a:r>
              <a:rPr lang="en-GB" sz="2000" dirty="0">
                <a:latin typeface="Arial" panose="020B0604020202020204" pitchFamily="34" charset="0"/>
                <a:cs typeface="Arial" panose="020B0604020202020204" pitchFamily="34" charset="0"/>
              </a:rPr>
              <a:t>(motor1pin1, motor1pin2, motor1speed);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set_speed</a:t>
            </a:r>
            <a:r>
              <a:rPr lang="en-GB" sz="2000" dirty="0">
                <a:latin typeface="Arial" panose="020B0604020202020204" pitchFamily="34" charset="0"/>
                <a:cs typeface="Arial" panose="020B0604020202020204" pitchFamily="34" charset="0"/>
              </a:rPr>
              <a:t>(motor2pin1, motor2pin2, motor2speed);</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p>
          <a:p>
            <a:pPr marL="0" indent="0">
              <a:buNone/>
            </a:pP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void </a:t>
            </a:r>
            <a:r>
              <a:rPr lang="en-GB" sz="2000" dirty="0" err="1">
                <a:latin typeface="Arial" panose="020B0604020202020204" pitchFamily="34" charset="0"/>
                <a:cs typeface="Arial" panose="020B0604020202020204" pitchFamily="34" charset="0"/>
              </a:rPr>
              <a:t>set_speed</a:t>
            </a:r>
            <a:r>
              <a:rPr lang="en-GB" sz="2000" dirty="0">
                <a:latin typeface="Arial" panose="020B0604020202020204" pitchFamily="34" charset="0"/>
                <a:cs typeface="Arial" panose="020B0604020202020204" pitchFamily="34" charset="0"/>
              </a:rPr>
              <a:t>(int motorpin1, int motorpin2, int </a:t>
            </a:r>
            <a:r>
              <a:rPr lang="en-GB" sz="2000" dirty="0" err="1">
                <a:latin typeface="Arial" panose="020B0604020202020204" pitchFamily="34" charset="0"/>
                <a:cs typeface="Arial" panose="020B0604020202020204" pitchFamily="34" charset="0"/>
              </a:rPr>
              <a:t>sp</a:t>
            </a:r>
            <a:r>
              <a:rPr lang="en-GB" sz="2000" dirty="0">
                <a:latin typeface="Arial" panose="020B0604020202020204" pitchFamily="34" charset="0"/>
                <a:cs typeface="Arial" panose="020B0604020202020204" pitchFamily="34" charset="0"/>
              </a:rPr>
              <a: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(motorpin1, HIGH);</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(motorpin2,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delay(</a:t>
            </a:r>
            <a:r>
              <a:rPr lang="en-GB" sz="2000" dirty="0" err="1">
                <a:latin typeface="Arial" panose="020B0604020202020204" pitchFamily="34" charset="0"/>
                <a:cs typeface="Arial" panose="020B0604020202020204" pitchFamily="34" charset="0"/>
              </a:rPr>
              <a:t>sp</a:t>
            </a:r>
            <a:r>
              <a:rPr lang="en-GB" sz="2000" dirty="0">
                <a:latin typeface="Arial" panose="020B0604020202020204" pitchFamily="34" charset="0"/>
                <a:cs typeface="Arial" panose="020B0604020202020204" pitchFamily="34" charset="0"/>
              </a:rPr>
              <a: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(motorpin1,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a:t>
            </a:r>
            <a:r>
              <a:rPr lang="en-GB" sz="2000" dirty="0" err="1">
                <a:latin typeface="Arial" panose="020B0604020202020204" pitchFamily="34" charset="0"/>
                <a:cs typeface="Arial" panose="020B0604020202020204" pitchFamily="34" charset="0"/>
              </a:rPr>
              <a:t>digitalWrite</a:t>
            </a:r>
            <a:r>
              <a:rPr lang="en-GB" sz="2000" dirty="0">
                <a:latin typeface="Arial" panose="020B0604020202020204" pitchFamily="34" charset="0"/>
                <a:cs typeface="Arial" panose="020B0604020202020204" pitchFamily="34" charset="0"/>
              </a:rPr>
              <a:t>(motorpin2, LOW);</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   delay(10 - </a:t>
            </a:r>
            <a:r>
              <a:rPr lang="en-GB" sz="2000" dirty="0" err="1">
                <a:latin typeface="Arial" panose="020B0604020202020204" pitchFamily="34" charset="0"/>
                <a:cs typeface="Arial" panose="020B0604020202020204" pitchFamily="34" charset="0"/>
              </a:rPr>
              <a:t>sp</a:t>
            </a:r>
            <a:r>
              <a:rPr lang="en-GB" sz="2000" dirty="0">
                <a:latin typeface="Arial" panose="020B0604020202020204" pitchFamily="34" charset="0"/>
                <a:cs typeface="Arial" panose="020B0604020202020204" pitchFamily="34" charset="0"/>
              </a:rPr>
              <a:t>);</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096" y="0"/>
            <a:ext cx="8006787" cy="6858000"/>
          </a:xfrm>
        </p:spPr>
        <p:txBody>
          <a:bodyPr>
            <a:noAutofit/>
          </a:bodyPr>
          <a:lstStyle/>
          <a:p>
            <a:pPr marL="0" indent="0">
              <a:buNone/>
            </a:pPr>
            <a:r>
              <a:rPr lang="en-GB" sz="1700" dirty="0">
                <a:latin typeface="Arial" panose="020B0604020202020204" pitchFamily="34" charset="0"/>
                <a:cs typeface="Arial" panose="020B0604020202020204" pitchFamily="34" charset="0"/>
              </a:rPr>
              <a:t>void setup()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(motor1pin1,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(motor1pin2,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(motor2pin1,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pinMode</a:t>
            </a:r>
            <a:r>
              <a:rPr lang="en-GB" sz="1700" dirty="0">
                <a:latin typeface="Arial" panose="020B0604020202020204" pitchFamily="34" charset="0"/>
                <a:cs typeface="Arial" panose="020B0604020202020204" pitchFamily="34" charset="0"/>
              </a:rPr>
              <a:t>(motor2pin2, OUTPUT);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void loop() {</a:t>
            </a:r>
            <a:br>
              <a:rPr lang="en-GB"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if (timer &gt;= maxMotorSpeed) {</a:t>
            </a:r>
            <a:br>
              <a:rPr lang="da-DK"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timer = 0;</a:t>
            </a:r>
            <a:br>
              <a:rPr lang="da-DK" sz="1700" dirty="0">
                <a:latin typeface="Arial" panose="020B0604020202020204" pitchFamily="34" charset="0"/>
                <a:cs typeface="Arial" panose="020B0604020202020204" pitchFamily="34" charset="0"/>
              </a:rPr>
            </a:br>
            <a:r>
              <a:rPr lang="da-DK" sz="1700" dirty="0">
                <a:latin typeface="Arial" panose="020B0604020202020204" pitchFamily="34" charset="0"/>
                <a:cs typeface="Arial" panose="020B0604020202020204" pitchFamily="34" charset="0"/>
              </a:rPr>
              <a:t>  }</a:t>
            </a:r>
            <a:br>
              <a:rPr lang="da-DK"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set_speed</a:t>
            </a:r>
            <a:r>
              <a:rPr lang="en-GB" sz="1700" dirty="0">
                <a:latin typeface="Arial" panose="020B0604020202020204" pitchFamily="34" charset="0"/>
                <a:cs typeface="Arial" panose="020B0604020202020204" pitchFamily="34" charset="0"/>
              </a:rPr>
              <a:t>(motor1pin1, motor1pin2, motor1speed);</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set_speed</a:t>
            </a:r>
            <a:r>
              <a:rPr lang="en-GB" sz="1700" dirty="0">
                <a:latin typeface="Arial" panose="020B0604020202020204" pitchFamily="34" charset="0"/>
                <a:cs typeface="Arial" panose="020B0604020202020204" pitchFamily="34" charset="0"/>
              </a:rPr>
              <a:t>(motor2pin1, motor2pin2, motor2speed);</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delay(2);</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p>
          <a:p>
            <a:pPr marL="0" indent="0">
              <a:buNone/>
            </a:pP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void </a:t>
            </a:r>
            <a:r>
              <a:rPr lang="en-GB" sz="1700" dirty="0" err="1">
                <a:latin typeface="Arial" panose="020B0604020202020204" pitchFamily="34" charset="0"/>
                <a:cs typeface="Arial" panose="020B0604020202020204" pitchFamily="34" charset="0"/>
              </a:rPr>
              <a:t>set_speed</a:t>
            </a:r>
            <a:r>
              <a:rPr lang="en-GB" sz="1700" dirty="0">
                <a:latin typeface="Arial" panose="020B0604020202020204" pitchFamily="34" charset="0"/>
                <a:cs typeface="Arial" panose="020B0604020202020204" pitchFamily="34" charset="0"/>
              </a:rPr>
              <a:t>(int motorpin1, int motorpin2, int </a:t>
            </a:r>
            <a:r>
              <a:rPr lang="en-GB" sz="1700" dirty="0" err="1">
                <a:latin typeface="Arial" panose="020B0604020202020204" pitchFamily="34" charset="0"/>
                <a:cs typeface="Arial" panose="020B0604020202020204" pitchFamily="34" charset="0"/>
              </a:rPr>
              <a:t>sp</a:t>
            </a: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if (timer &lt; </a:t>
            </a:r>
            <a:r>
              <a:rPr lang="en-GB" sz="1700" dirty="0" err="1">
                <a:latin typeface="Arial" panose="020B0604020202020204" pitchFamily="34" charset="0"/>
                <a:cs typeface="Arial" panose="020B0604020202020204" pitchFamily="34" charset="0"/>
              </a:rPr>
              <a:t>sp</a:t>
            </a:r>
            <a:r>
              <a:rPr lang="en-GB" sz="1700" dirty="0">
                <a:latin typeface="Arial" panose="020B0604020202020204" pitchFamily="34" charset="0"/>
                <a:cs typeface="Arial" panose="020B0604020202020204" pitchFamily="34" charset="0"/>
              </a:rPr>
              <a:t>)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(motorpin1, HIGH);</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(motorpin2, LOW);</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 else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(motorpin1, LOW);</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      </a:t>
            </a:r>
            <a:r>
              <a:rPr lang="en-GB" sz="1700" dirty="0" err="1">
                <a:latin typeface="Arial" panose="020B0604020202020204" pitchFamily="34" charset="0"/>
                <a:cs typeface="Arial" panose="020B0604020202020204" pitchFamily="34" charset="0"/>
              </a:rPr>
              <a:t>digitalWrite</a:t>
            </a:r>
            <a:r>
              <a:rPr lang="en-GB" sz="1700" dirty="0">
                <a:latin typeface="Arial" panose="020B0604020202020204" pitchFamily="34" charset="0"/>
                <a:cs typeface="Arial" panose="020B0604020202020204" pitchFamily="34" charset="0"/>
              </a:rPr>
              <a:t>(motorpin2, LOW);</a:t>
            </a:r>
          </a:p>
          <a:p>
            <a:pPr marL="0" indent="0">
              <a:buNone/>
            </a:pPr>
            <a:r>
              <a:rPr lang="en-GB" sz="1700" dirty="0">
                <a:latin typeface="Arial" panose="020B0604020202020204" pitchFamily="34" charset="0"/>
                <a:cs typeface="Arial" panose="020B0604020202020204" pitchFamily="34" charset="0"/>
              </a:rPr>
              <a:t>  }</a:t>
            </a:r>
            <a:br>
              <a:rPr lang="en-GB" sz="1700" dirty="0">
                <a:latin typeface="Arial" panose="020B0604020202020204" pitchFamily="34" charset="0"/>
                <a:cs typeface="Arial" panose="020B0604020202020204" pitchFamily="34" charset="0"/>
              </a:rPr>
            </a:br>
            <a:r>
              <a:rPr lang="en-GB" sz="1700" dirty="0">
                <a:latin typeface="Arial" panose="020B0604020202020204" pitchFamily="34" charset="0"/>
                <a:cs typeface="Arial" panose="020B0604020202020204" pitchFamily="34" charset="0"/>
              </a:rPr>
              <a:t>}</a:t>
            </a:r>
            <a:br>
              <a:rPr lang="en-GB" sz="1700" dirty="0">
                <a:latin typeface="Arial" panose="020B0604020202020204" pitchFamily="34" charset="0"/>
                <a:cs typeface="Arial" panose="020B0604020202020204" pitchFamily="34" charset="0"/>
              </a:rPr>
            </a:br>
            <a:endParaRPr lang="en-GB" sz="1700" dirty="0">
              <a:latin typeface="Arial" panose="020B0604020202020204" pitchFamily="34" charset="0"/>
              <a:cs typeface="Arial" panose="020B0604020202020204" pitchFamily="34" charset="0"/>
            </a:endParaRPr>
          </a:p>
        </p:txBody>
      </p:sp>
      <p:sp>
        <p:nvSpPr>
          <p:cNvPr id="7" name="TextBox 6"/>
          <p:cNvSpPr txBox="1"/>
          <p:nvPr/>
        </p:nvSpPr>
        <p:spPr>
          <a:xfrm>
            <a:off x="6115575" y="112976"/>
            <a:ext cx="2919370" cy="2585323"/>
          </a:xfrm>
          <a:prstGeom prst="rect">
            <a:avLst/>
          </a:prstGeom>
          <a:noFill/>
          <a:ln w="76200">
            <a:solidFill>
              <a:schemeClr val="tx1"/>
            </a:solidFill>
          </a:ln>
        </p:spPr>
        <p:txBody>
          <a:bodyPr wrap="square" rtlCol="0">
            <a:spAutoFit/>
          </a:bodyPr>
          <a:lstStyle/>
          <a:p>
            <a:r>
              <a:rPr lang="en-GB" dirty="0">
                <a:latin typeface="Arial" panose="020B0604020202020204" pitchFamily="34" charset="0"/>
                <a:cs typeface="Arial" panose="020B0604020202020204" pitchFamily="34" charset="0"/>
              </a:rPr>
              <a:t>int motor1pin1 = 5;</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motor1pin2 = 6;</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motor2pin1 = 9;</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motor2pin2 = 10;</a:t>
            </a:r>
            <a:br>
              <a:rPr lang="en-GB"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motor1speed = 0; </a:t>
            </a:r>
          </a:p>
          <a:p>
            <a:r>
              <a:rPr lang="en-GB" dirty="0">
                <a:latin typeface="Arial" panose="020B0604020202020204" pitchFamily="34" charset="0"/>
                <a:cs typeface="Arial" panose="020B0604020202020204" pitchFamily="34" charset="0"/>
              </a:rPr>
              <a:t>int motor2speed = 0;</a:t>
            </a:r>
          </a:p>
          <a:p>
            <a:r>
              <a:rPr lang="en-GB" dirty="0">
                <a:latin typeface="Arial" panose="020B0604020202020204" pitchFamily="34" charset="0"/>
                <a:cs typeface="Arial" panose="020B0604020202020204" pitchFamily="34" charset="0"/>
              </a:rPr>
              <a:t>int </a:t>
            </a:r>
            <a:r>
              <a:rPr lang="en-GB" dirty="0" err="1">
                <a:latin typeface="Arial" panose="020B0604020202020204" pitchFamily="34" charset="0"/>
                <a:cs typeface="Arial" panose="020B0604020202020204" pitchFamily="34" charset="0"/>
              </a:rPr>
              <a:t>maxMotorSpeed</a:t>
            </a:r>
            <a:r>
              <a:rPr lang="en-GB" dirty="0">
                <a:latin typeface="Arial" panose="020B0604020202020204" pitchFamily="34" charset="0"/>
                <a:cs typeface="Arial" panose="020B0604020202020204" pitchFamily="34" charset="0"/>
              </a:rPr>
              <a:t> = 250;</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int timer = 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839689" y="414634"/>
            <a:ext cx="6011114" cy="5506218"/>
          </a:xfrm>
          <a:prstGeom prst="rect">
            <a:avLst/>
          </a:prstGeom>
        </p:spPr>
      </p:pic>
      <p:sp>
        <p:nvSpPr>
          <p:cNvPr id="2" name="Title 1"/>
          <p:cNvSpPr>
            <a:spLocks noGrp="1"/>
          </p:cNvSpPr>
          <p:nvPr>
            <p:ph type="title"/>
          </p:nvPr>
        </p:nvSpPr>
        <p:spPr>
          <a:xfrm>
            <a:off x="768096" y="595263"/>
            <a:ext cx="4046792" cy="1376149"/>
          </a:xfrm>
        </p:spPr>
        <p:txBody>
          <a:bodyPr>
            <a:normAutofit fontScale="90000"/>
          </a:bodyPr>
          <a:lstStyle/>
          <a:p>
            <a:r>
              <a:rPr lang="en-GB" dirty="0">
                <a:latin typeface="Arial Black" panose="020B0A04020102020204" pitchFamily="34" charset="0"/>
              </a:rPr>
              <a:t>Speed control connections</a:t>
            </a:r>
          </a:p>
        </p:txBody>
      </p:sp>
      <p:sp>
        <p:nvSpPr>
          <p:cNvPr id="9" name="TextBox 8"/>
          <p:cNvSpPr txBox="1"/>
          <p:nvPr/>
        </p:nvSpPr>
        <p:spPr>
          <a:xfrm>
            <a:off x="151002" y="3028426"/>
            <a:ext cx="2688687" cy="2308324"/>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Not every Arduino pin is capable of PWM.  Look at your board carefully before choosing one.</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We chose pins </a:t>
            </a:r>
          </a:p>
          <a:p>
            <a:r>
              <a:rPr lang="en-GB" dirty="0">
                <a:latin typeface="Arial" panose="020B0604020202020204" pitchFamily="34" charset="0"/>
                <a:cs typeface="Arial" panose="020B0604020202020204" pitchFamily="34" charset="0"/>
              </a:rPr>
              <a:t>9 -&gt; ENA</a:t>
            </a:r>
          </a:p>
          <a:p>
            <a:r>
              <a:rPr lang="en-GB" dirty="0">
                <a:latin typeface="Arial" panose="020B0604020202020204" pitchFamily="34" charset="0"/>
                <a:cs typeface="Arial" panose="020B0604020202020204" pitchFamily="34" charset="0"/>
              </a:rPr>
              <a:t>10 -&gt; ENB</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Arial Black" panose="020B0A04020102020204" pitchFamily="34" charset="0"/>
              </a:rPr>
              <a:t>now that we have connected the </a:t>
            </a:r>
            <a:r>
              <a:rPr lang="en-GB" dirty="0" err="1">
                <a:latin typeface="Arial Black" panose="020B0A04020102020204" pitchFamily="34" charset="0"/>
              </a:rPr>
              <a:t>pwm</a:t>
            </a:r>
            <a:endParaRPr lang="en-GB" dirty="0">
              <a:latin typeface="Arial Black" panose="020B0A04020102020204" pitchFamily="34" charset="0"/>
            </a:endParaRPr>
          </a:p>
        </p:txBody>
      </p:sp>
      <p:sp>
        <p:nvSpPr>
          <p:cNvPr id="3" name="Content Placeholder 2"/>
          <p:cNvSpPr>
            <a:spLocks noGrp="1"/>
          </p:cNvSpPr>
          <p:nvPr>
            <p:ph idx="1"/>
          </p:nvPr>
        </p:nvSpPr>
        <p:spPr/>
        <p:txBody>
          <a:bodyPr/>
          <a:lstStyle/>
          <a:p>
            <a:pPr marL="0" indent="0">
              <a:buNone/>
            </a:pPr>
            <a:r>
              <a:rPr lang="en-GB" dirty="0">
                <a:latin typeface="Arial" panose="020B0604020202020204" pitchFamily="34" charset="0"/>
                <a:cs typeface="Arial" panose="020B0604020202020204" pitchFamily="34" charset="0"/>
              </a:rPr>
              <a:t>We need to change our Arduino code so that the PWM pins control the speed.</a:t>
            </a:r>
          </a:p>
          <a:p>
            <a:pPr marL="0" indent="0">
              <a:buNone/>
            </a:pPr>
            <a:r>
              <a:rPr lang="en-GB" dirty="0">
                <a:latin typeface="Arial" panose="020B0604020202020204" pitchFamily="34" charset="0"/>
                <a:cs typeface="Arial" panose="020B0604020202020204" pitchFamily="34" charset="0"/>
              </a:rPr>
              <a:t>We should declare and initialise 2 variables for the PWM pins.</a:t>
            </a:r>
          </a:p>
          <a:p>
            <a:pPr marL="0" indent="0">
              <a:buNone/>
            </a:pPr>
            <a:r>
              <a:rPr lang="en-GB" dirty="0">
                <a:latin typeface="Arial" panose="020B0604020202020204" pitchFamily="34" charset="0"/>
                <a:cs typeface="Arial" panose="020B0604020202020204" pitchFamily="34" charset="0"/>
              </a:rPr>
              <a:t>We should declare 2 new variables to control the left and right speed. </a:t>
            </a:r>
          </a:p>
          <a:p>
            <a:pPr marL="0" indent="0">
              <a:buNone/>
            </a:pPr>
            <a:r>
              <a:rPr lang="en-GB" dirty="0">
                <a:latin typeface="Arial" panose="020B0604020202020204" pitchFamily="34" charset="0"/>
                <a:cs typeface="Arial" panose="020B0604020202020204" pitchFamily="34" charset="0"/>
              </a:rPr>
              <a:t>For now, we can set the Arduino car to just move forwards while we test the PWM functions.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7" name="Content Placeholder 6"/>
          <p:cNvPicPr>
            <a:picLocks noGrp="1" noChangeAspect="1"/>
          </p:cNvPicPr>
          <p:nvPr>
            <p:ph idx="1"/>
          </p:nvPr>
        </p:nvPicPr>
        <p:blipFill>
          <a:blip r:embed="rId2"/>
          <a:stretch>
            <a:fillRect/>
          </a:stretch>
        </p:blipFill>
        <p:spPr>
          <a:xfrm>
            <a:off x="355978" y="184558"/>
            <a:ext cx="8692166" cy="655180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Black" panose="020B0A04020102020204" pitchFamily="34" charset="0"/>
              </a:rPr>
              <a:t>What you will do</a:t>
            </a:r>
            <a:endParaRPr lang="en-GB" dirty="0">
              <a:latin typeface="Arial Black" panose="020B0A04020102020204" pitchFamily="34" charset="0"/>
            </a:endParaRPr>
          </a:p>
        </p:txBody>
      </p:sp>
      <p:sp>
        <p:nvSpPr>
          <p:cNvPr id="3" name="Content Placeholder 2"/>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You can try connecting the L298 motor driver directly to your robot.  As for your Arduino, on the pictures here, you can see that we ran the Arduino from the +5V terminal of the L298.</a:t>
            </a:r>
          </a:p>
          <a:p>
            <a:r>
              <a:rPr lang="en-US" sz="2000" dirty="0">
                <a:latin typeface="Arial" panose="020B0604020202020204" pitchFamily="34" charset="0"/>
                <a:cs typeface="Arial" panose="020B0604020202020204" pitchFamily="34" charset="0"/>
              </a:rPr>
              <a:t>This is because we need to test how fast our robot can move.  We can’t leave it plugged into the USB port while that happens.</a:t>
            </a:r>
          </a:p>
          <a:p>
            <a:r>
              <a:rPr lang="en-GB" sz="2000" dirty="0">
                <a:latin typeface="Arial" panose="020B0604020202020204" pitchFamily="34" charset="0"/>
                <a:cs typeface="Arial" panose="020B0604020202020204" pitchFamily="34" charset="0"/>
              </a:rPr>
              <a:t>We need to try different values between 0 and 255 to try and map our different pin speeds to actual speeds in meters per second.</a:t>
            </a:r>
          </a:p>
          <a:p>
            <a:r>
              <a:rPr lang="en-GB" sz="2000" dirty="0">
                <a:latin typeface="Arial" panose="020B0604020202020204" pitchFamily="34" charset="0"/>
                <a:cs typeface="Arial" panose="020B0604020202020204" pitchFamily="34" charset="0"/>
              </a:rPr>
              <a:t>Our robot takes energy to move, so low values won’t do anything.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B9DF-CA25-F26F-AB3D-7CBB9A73B144}"/>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C779C792-124D-3339-6183-389BEDD2BCC2}"/>
              </a:ext>
            </a:extLst>
          </p:cNvPr>
          <p:cNvSpPr>
            <a:spLocks noGrp="1"/>
          </p:cNvSpPr>
          <p:nvPr>
            <p:ph idx="1"/>
          </p:nvPr>
        </p:nvSpPr>
        <p:spPr/>
        <p:txBody>
          <a:bodyPr/>
          <a:lstStyle/>
          <a:p>
            <a:pPr marL="0" indent="0">
              <a:buNone/>
            </a:pPr>
            <a:r>
              <a:rPr lang="en-US" dirty="0"/>
              <a:t>You may have noticed that our robot only has 4 input pins for the motors, IN1 – IN4.</a:t>
            </a:r>
          </a:p>
          <a:p>
            <a:pPr marL="0" indent="0">
              <a:buNone/>
            </a:pPr>
            <a:r>
              <a:rPr lang="en-US" dirty="0"/>
              <a:t>This is because the L293 motor driver has many problems.</a:t>
            </a:r>
          </a:p>
          <a:p>
            <a:pPr marL="0" indent="0">
              <a:buNone/>
            </a:pPr>
            <a:r>
              <a:rPr lang="en-US" dirty="0"/>
              <a:t>If you look at the L298 board, you can see the large heatsink on it, this is because the L293D chip gets hot.  This means that it is wasting a lot of energy as heat.</a:t>
            </a:r>
          </a:p>
          <a:p>
            <a:pPr marL="0" indent="0">
              <a:buNone/>
            </a:pPr>
            <a:endParaRPr lang="en-US" dirty="0"/>
          </a:p>
          <a:p>
            <a:pPr marL="0" indent="0">
              <a:buNone/>
            </a:pPr>
            <a:r>
              <a:rPr lang="en-US" dirty="0"/>
              <a:t>It also uses 6 pins from our Arduino.</a:t>
            </a:r>
            <a:endParaRPr lang="en-GB" dirty="0"/>
          </a:p>
        </p:txBody>
      </p:sp>
      <p:sp>
        <p:nvSpPr>
          <p:cNvPr id="4" name="Date Placeholder 3">
            <a:extLst>
              <a:ext uri="{FF2B5EF4-FFF2-40B4-BE49-F238E27FC236}">
                <a16:creationId xmlns:a16="http://schemas.microsoft.com/office/drawing/2014/main" id="{D96F94F0-8788-CB6C-F90A-277D2A942B56}"/>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5702506A-BA67-5712-637D-B7B66D3420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F8A7291-C7EB-9C0F-10C3-FDBE7F94549F}"/>
              </a:ext>
            </a:extLst>
          </p:cNvPr>
          <p:cNvSpPr>
            <a:spLocks noGrp="1"/>
          </p:cNvSpPr>
          <p:nvPr>
            <p:ph type="sldNum" sz="quarter" idx="12"/>
          </p:nvPr>
        </p:nvSpPr>
        <p:spPr/>
        <p:txBody>
          <a:bodyPr/>
          <a:lstStyle/>
          <a:p>
            <a:fld id="{4D9A0FCD-C181-41F7-AE76-3F64F16EDCFD}" type="slidenum">
              <a:rPr lang="en-GB" smtClean="0"/>
              <a:t>32</a:t>
            </a:fld>
            <a:endParaRPr lang="en-GB"/>
          </a:p>
        </p:txBody>
      </p:sp>
    </p:spTree>
    <p:extLst>
      <p:ext uri="{BB962C8B-B14F-4D97-AF65-F5344CB8AC3E}">
        <p14:creationId xmlns:p14="http://schemas.microsoft.com/office/powerpoint/2010/main" val="3369188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F018-A752-6F42-A4F3-D23F9FFAC917}"/>
              </a:ext>
            </a:extLst>
          </p:cNvPr>
          <p:cNvSpPr>
            <a:spLocks noGrp="1"/>
          </p:cNvSpPr>
          <p:nvPr>
            <p:ph type="title"/>
          </p:nvPr>
        </p:nvSpPr>
        <p:spPr/>
        <p:txBody>
          <a:bodyPr/>
          <a:lstStyle/>
          <a:p>
            <a:endParaRPr lang="en-GB"/>
          </a:p>
        </p:txBody>
      </p:sp>
      <p:pic>
        <p:nvPicPr>
          <p:cNvPr id="8" name="Content Placeholder 7" descr="A green circuit board with black wires&#10;&#10;Description automatically generated">
            <a:extLst>
              <a:ext uri="{FF2B5EF4-FFF2-40B4-BE49-F238E27FC236}">
                <a16:creationId xmlns:a16="http://schemas.microsoft.com/office/drawing/2014/main" id="{281A9340-31DF-4196-92CD-DE8FA3C01FF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01" t="20845" r="29750" b="23466"/>
          <a:stretch/>
        </p:blipFill>
        <p:spPr>
          <a:xfrm rot="16200000">
            <a:off x="1124714" y="-105023"/>
            <a:ext cx="6665393" cy="7201766"/>
          </a:xfrm>
        </p:spPr>
      </p:pic>
      <p:sp>
        <p:nvSpPr>
          <p:cNvPr id="4" name="Date Placeholder 3">
            <a:extLst>
              <a:ext uri="{FF2B5EF4-FFF2-40B4-BE49-F238E27FC236}">
                <a16:creationId xmlns:a16="http://schemas.microsoft.com/office/drawing/2014/main" id="{0D45E683-7B4B-0A64-F63D-7A51821FBACA}"/>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D6E4803A-E1C5-56F7-1083-76E82F57955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D72D11A-052A-9D86-2267-A6D4B4E90764}"/>
              </a:ext>
            </a:extLst>
          </p:cNvPr>
          <p:cNvSpPr>
            <a:spLocks noGrp="1"/>
          </p:cNvSpPr>
          <p:nvPr>
            <p:ph type="sldNum" sz="quarter" idx="12"/>
          </p:nvPr>
        </p:nvSpPr>
        <p:spPr/>
        <p:txBody>
          <a:bodyPr/>
          <a:lstStyle/>
          <a:p>
            <a:fld id="{4D9A0FCD-C181-41F7-AE76-3F64F16EDCFD}" type="slidenum">
              <a:rPr lang="en-GB" smtClean="0"/>
              <a:t>33</a:t>
            </a:fld>
            <a:endParaRPr lang="en-GB"/>
          </a:p>
        </p:txBody>
      </p:sp>
      <p:sp>
        <p:nvSpPr>
          <p:cNvPr id="9" name="Oval 8">
            <a:extLst>
              <a:ext uri="{FF2B5EF4-FFF2-40B4-BE49-F238E27FC236}">
                <a16:creationId xmlns:a16="http://schemas.microsoft.com/office/drawing/2014/main" id="{66CD0ED8-80CD-932B-7032-EF6C312478D5}"/>
              </a:ext>
            </a:extLst>
          </p:cNvPr>
          <p:cNvSpPr/>
          <p:nvPr/>
        </p:nvSpPr>
        <p:spPr>
          <a:xfrm>
            <a:off x="786821" y="1561626"/>
            <a:ext cx="1686187" cy="1476462"/>
          </a:xfrm>
          <a:prstGeom prst="ellipse">
            <a:avLst/>
          </a:prstGeom>
          <a:noFill/>
          <a:ln w="228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Oval 9">
            <a:extLst>
              <a:ext uri="{FF2B5EF4-FFF2-40B4-BE49-F238E27FC236}">
                <a16:creationId xmlns:a16="http://schemas.microsoft.com/office/drawing/2014/main" id="{A6F3F6FE-BEC4-3F41-74EC-76AAD0C2CFC3}"/>
              </a:ext>
            </a:extLst>
          </p:cNvPr>
          <p:cNvSpPr/>
          <p:nvPr/>
        </p:nvSpPr>
        <p:spPr>
          <a:xfrm>
            <a:off x="6372106" y="1444642"/>
            <a:ext cx="1686187" cy="1476462"/>
          </a:xfrm>
          <a:prstGeom prst="ellipse">
            <a:avLst/>
          </a:prstGeom>
          <a:noFill/>
          <a:ln w="228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1299783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87DCB-1D57-5563-C1E7-A42B9E4B9C9A}"/>
              </a:ext>
            </a:extLst>
          </p:cNvPr>
          <p:cNvSpPr>
            <a:spLocks noGrp="1"/>
          </p:cNvSpPr>
          <p:nvPr>
            <p:ph type="title"/>
          </p:nvPr>
        </p:nvSpPr>
        <p:spPr/>
        <p:txBody>
          <a:bodyPr/>
          <a:lstStyle/>
          <a:p>
            <a:r>
              <a:rPr lang="en-US" dirty="0"/>
              <a:t>DRV8833</a:t>
            </a:r>
            <a:endParaRPr lang="en-GB" dirty="0"/>
          </a:p>
        </p:txBody>
      </p:sp>
      <p:sp>
        <p:nvSpPr>
          <p:cNvPr id="3" name="Content Placeholder 2">
            <a:extLst>
              <a:ext uri="{FF2B5EF4-FFF2-40B4-BE49-F238E27FC236}">
                <a16:creationId xmlns:a16="http://schemas.microsoft.com/office/drawing/2014/main" id="{7FEFB4C9-1C65-54B0-F5C0-D761AA4E0893}"/>
              </a:ext>
            </a:extLst>
          </p:cNvPr>
          <p:cNvSpPr>
            <a:spLocks noGrp="1"/>
          </p:cNvSpPr>
          <p:nvPr>
            <p:ph idx="1"/>
          </p:nvPr>
        </p:nvSpPr>
        <p:spPr/>
        <p:txBody>
          <a:bodyPr/>
          <a:lstStyle/>
          <a:p>
            <a:pPr marL="0" indent="0">
              <a:buNone/>
            </a:pPr>
            <a:r>
              <a:rPr lang="en-US" dirty="0"/>
              <a:t>The DRV8833 is a different type of motor driver.</a:t>
            </a:r>
          </a:p>
          <a:p>
            <a:pPr marL="0" indent="0">
              <a:buNone/>
            </a:pPr>
            <a:r>
              <a:rPr lang="en-US" dirty="0"/>
              <a:t>It uses 4 inputs instead of 6, and it doesn’t use a high voltage power supply, which means that the whole board and motors all work on 5V.</a:t>
            </a:r>
          </a:p>
          <a:p>
            <a:pPr marL="0" indent="0">
              <a:buNone/>
            </a:pPr>
            <a:endParaRPr lang="en-US" dirty="0"/>
          </a:p>
          <a:p>
            <a:pPr marL="0" indent="0">
              <a:buNone/>
            </a:pPr>
            <a:r>
              <a:rPr lang="en-US" dirty="0"/>
              <a:t>The way the motor driver works is very simple.  Each motor is controlled by 2 pins, so IN1 &amp; IN2 control one motor, IN3 &amp; IN4 control the other.</a:t>
            </a:r>
          </a:p>
          <a:p>
            <a:pPr marL="0" indent="0">
              <a:buNone/>
            </a:pPr>
            <a:r>
              <a:rPr lang="en-US" dirty="0"/>
              <a:t>To make the motor work, we apply a LOW voltage to one input, and a PWM signal to the other.  To make the motor run the opposite way, we switch them around.</a:t>
            </a:r>
            <a:endParaRPr lang="en-GB" dirty="0"/>
          </a:p>
        </p:txBody>
      </p:sp>
      <p:sp>
        <p:nvSpPr>
          <p:cNvPr id="4" name="Date Placeholder 3">
            <a:extLst>
              <a:ext uri="{FF2B5EF4-FFF2-40B4-BE49-F238E27FC236}">
                <a16:creationId xmlns:a16="http://schemas.microsoft.com/office/drawing/2014/main" id="{1DB3633E-9482-F554-9BB5-9A574328AB88}"/>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2A2A965F-358E-E645-8DBB-A826C8D227D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98B14D44-D0A1-1ECC-A14D-AB008E97FF68}"/>
              </a:ext>
            </a:extLst>
          </p:cNvPr>
          <p:cNvSpPr>
            <a:spLocks noGrp="1"/>
          </p:cNvSpPr>
          <p:nvPr>
            <p:ph type="sldNum" sz="quarter" idx="12"/>
          </p:nvPr>
        </p:nvSpPr>
        <p:spPr/>
        <p:txBody>
          <a:bodyPr/>
          <a:lstStyle/>
          <a:p>
            <a:fld id="{4D9A0FCD-C181-41F7-AE76-3F64F16EDCFD}" type="slidenum">
              <a:rPr lang="en-GB" smtClean="0"/>
              <a:t>34</a:t>
            </a:fld>
            <a:endParaRPr lang="en-GB"/>
          </a:p>
        </p:txBody>
      </p:sp>
    </p:spTree>
    <p:extLst>
      <p:ext uri="{BB962C8B-B14F-4D97-AF65-F5344CB8AC3E}">
        <p14:creationId xmlns:p14="http://schemas.microsoft.com/office/powerpoint/2010/main" val="753967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DBF6-3C1B-776C-FE47-8E2BB5E2BCD6}"/>
              </a:ext>
            </a:extLst>
          </p:cNvPr>
          <p:cNvSpPr>
            <a:spLocks noGrp="1"/>
          </p:cNvSpPr>
          <p:nvPr>
            <p:ph type="title"/>
          </p:nvPr>
        </p:nvSpPr>
        <p:spPr/>
        <p:txBody>
          <a:bodyPr/>
          <a:lstStyle/>
          <a:p>
            <a:endParaRPr lang="en-GB"/>
          </a:p>
        </p:txBody>
      </p:sp>
      <p:graphicFrame>
        <p:nvGraphicFramePr>
          <p:cNvPr id="7" name="Content Placeholder 6">
            <a:extLst>
              <a:ext uri="{FF2B5EF4-FFF2-40B4-BE49-F238E27FC236}">
                <a16:creationId xmlns:a16="http://schemas.microsoft.com/office/drawing/2014/main" id="{AA1A6B8B-6AD8-8C15-A3F6-62C4C28E4432}"/>
              </a:ext>
            </a:extLst>
          </p:cNvPr>
          <p:cNvGraphicFramePr>
            <a:graphicFrameLocks noGrp="1"/>
          </p:cNvGraphicFramePr>
          <p:nvPr>
            <p:ph idx="1"/>
            <p:extLst>
              <p:ext uri="{D42A27DB-BD31-4B8C-83A1-F6EECF244321}">
                <p14:modId xmlns:p14="http://schemas.microsoft.com/office/powerpoint/2010/main" val="3550031408"/>
              </p:ext>
            </p:extLst>
          </p:nvPr>
        </p:nvGraphicFramePr>
        <p:xfrm>
          <a:off x="768350" y="1901825"/>
          <a:ext cx="7607298" cy="2804160"/>
        </p:xfrm>
        <a:graphic>
          <a:graphicData uri="http://schemas.openxmlformats.org/drawingml/2006/table">
            <a:tbl>
              <a:tblPr firstRow="1" bandRow="1">
                <a:tableStyleId>{5C22544A-7EE6-4342-B048-85BDC9FD1C3A}</a:tableStyleId>
              </a:tblPr>
              <a:tblGrid>
                <a:gridCol w="2535766">
                  <a:extLst>
                    <a:ext uri="{9D8B030D-6E8A-4147-A177-3AD203B41FA5}">
                      <a16:colId xmlns:a16="http://schemas.microsoft.com/office/drawing/2014/main" val="411837260"/>
                    </a:ext>
                  </a:extLst>
                </a:gridCol>
                <a:gridCol w="2535766">
                  <a:extLst>
                    <a:ext uri="{9D8B030D-6E8A-4147-A177-3AD203B41FA5}">
                      <a16:colId xmlns:a16="http://schemas.microsoft.com/office/drawing/2014/main" val="3378968124"/>
                    </a:ext>
                  </a:extLst>
                </a:gridCol>
                <a:gridCol w="2535766">
                  <a:extLst>
                    <a:ext uri="{9D8B030D-6E8A-4147-A177-3AD203B41FA5}">
                      <a16:colId xmlns:a16="http://schemas.microsoft.com/office/drawing/2014/main" val="1328033230"/>
                    </a:ext>
                  </a:extLst>
                </a:gridCol>
              </a:tblGrid>
              <a:tr h="370840">
                <a:tc>
                  <a:txBody>
                    <a:bodyPr/>
                    <a:lstStyle/>
                    <a:p>
                      <a:r>
                        <a:rPr lang="en-US" sz="4000" dirty="0"/>
                        <a:t>IN1</a:t>
                      </a:r>
                      <a:endParaRPr lang="en-GB" sz="4000" dirty="0"/>
                    </a:p>
                  </a:txBody>
                  <a:tcPr/>
                </a:tc>
                <a:tc>
                  <a:txBody>
                    <a:bodyPr/>
                    <a:lstStyle/>
                    <a:p>
                      <a:r>
                        <a:rPr lang="en-US" sz="4000" dirty="0"/>
                        <a:t>IN2</a:t>
                      </a:r>
                      <a:endParaRPr lang="en-GB" sz="4000" dirty="0"/>
                    </a:p>
                  </a:txBody>
                  <a:tcPr/>
                </a:tc>
                <a:tc>
                  <a:txBody>
                    <a:bodyPr/>
                    <a:lstStyle/>
                    <a:p>
                      <a:r>
                        <a:rPr lang="en-US" sz="4000" dirty="0"/>
                        <a:t>RESULT</a:t>
                      </a:r>
                      <a:endParaRPr lang="en-GB" sz="4000" dirty="0"/>
                    </a:p>
                  </a:txBody>
                  <a:tcPr/>
                </a:tc>
                <a:extLst>
                  <a:ext uri="{0D108BD9-81ED-4DB2-BD59-A6C34878D82A}">
                    <a16:rowId xmlns:a16="http://schemas.microsoft.com/office/drawing/2014/main" val="957807051"/>
                  </a:ext>
                </a:extLst>
              </a:tr>
              <a:tr h="370840">
                <a:tc>
                  <a:txBody>
                    <a:bodyPr/>
                    <a:lstStyle/>
                    <a:p>
                      <a:r>
                        <a:rPr lang="en-US" sz="4000" dirty="0"/>
                        <a:t>LOW</a:t>
                      </a:r>
                      <a:endParaRPr lang="en-GB" sz="4000" dirty="0"/>
                    </a:p>
                  </a:txBody>
                  <a:tcPr/>
                </a:tc>
                <a:tc>
                  <a:txBody>
                    <a:bodyPr/>
                    <a:lstStyle/>
                    <a:p>
                      <a:r>
                        <a:rPr lang="en-US" sz="4000" dirty="0"/>
                        <a:t>PWM</a:t>
                      </a:r>
                      <a:endParaRPr lang="en-GB" sz="4000" dirty="0"/>
                    </a:p>
                  </a:txBody>
                  <a:tcPr/>
                </a:tc>
                <a:tc>
                  <a:txBody>
                    <a:bodyPr/>
                    <a:lstStyle/>
                    <a:p>
                      <a:r>
                        <a:rPr lang="en-US" sz="4000" dirty="0"/>
                        <a:t>REVERSE</a:t>
                      </a:r>
                      <a:endParaRPr lang="en-GB" sz="4000" dirty="0"/>
                    </a:p>
                  </a:txBody>
                  <a:tcPr/>
                </a:tc>
                <a:extLst>
                  <a:ext uri="{0D108BD9-81ED-4DB2-BD59-A6C34878D82A}">
                    <a16:rowId xmlns:a16="http://schemas.microsoft.com/office/drawing/2014/main" val="2267114203"/>
                  </a:ext>
                </a:extLst>
              </a:tr>
              <a:tr h="370840">
                <a:tc>
                  <a:txBody>
                    <a:bodyPr/>
                    <a:lstStyle/>
                    <a:p>
                      <a:r>
                        <a:rPr lang="en-US" sz="4000" dirty="0"/>
                        <a:t>PWM</a:t>
                      </a:r>
                      <a:endParaRPr lang="en-GB" sz="4000" dirty="0"/>
                    </a:p>
                  </a:txBody>
                  <a:tcPr/>
                </a:tc>
                <a:tc>
                  <a:txBody>
                    <a:bodyPr/>
                    <a:lstStyle/>
                    <a:p>
                      <a:r>
                        <a:rPr lang="en-US" sz="4000" dirty="0"/>
                        <a:t>LOW</a:t>
                      </a:r>
                      <a:endParaRPr lang="en-GB" sz="4000" dirty="0"/>
                    </a:p>
                  </a:txBody>
                  <a:tcPr/>
                </a:tc>
                <a:tc>
                  <a:txBody>
                    <a:bodyPr/>
                    <a:lstStyle/>
                    <a:p>
                      <a:r>
                        <a:rPr lang="en-US" sz="4000" dirty="0"/>
                        <a:t>FORWARD</a:t>
                      </a:r>
                      <a:endParaRPr lang="en-GB" sz="4000" dirty="0"/>
                    </a:p>
                  </a:txBody>
                  <a:tcPr/>
                </a:tc>
                <a:extLst>
                  <a:ext uri="{0D108BD9-81ED-4DB2-BD59-A6C34878D82A}">
                    <a16:rowId xmlns:a16="http://schemas.microsoft.com/office/drawing/2014/main" val="581455295"/>
                  </a:ext>
                </a:extLst>
              </a:tr>
              <a:tr h="370840">
                <a:tc>
                  <a:txBody>
                    <a:bodyPr/>
                    <a:lstStyle/>
                    <a:p>
                      <a:r>
                        <a:rPr lang="en-US" sz="4000" dirty="0"/>
                        <a:t>LOW</a:t>
                      </a:r>
                      <a:endParaRPr lang="en-GB" sz="4000" dirty="0"/>
                    </a:p>
                  </a:txBody>
                  <a:tcPr/>
                </a:tc>
                <a:tc>
                  <a:txBody>
                    <a:bodyPr/>
                    <a:lstStyle/>
                    <a:p>
                      <a:r>
                        <a:rPr lang="en-US" sz="4000" dirty="0"/>
                        <a:t>LOW</a:t>
                      </a:r>
                      <a:endParaRPr lang="en-GB" sz="4000" dirty="0"/>
                    </a:p>
                  </a:txBody>
                  <a:tcPr/>
                </a:tc>
                <a:tc>
                  <a:txBody>
                    <a:bodyPr/>
                    <a:lstStyle/>
                    <a:p>
                      <a:r>
                        <a:rPr lang="en-US" sz="4000" dirty="0"/>
                        <a:t>STOP</a:t>
                      </a:r>
                      <a:endParaRPr lang="en-GB" sz="4000" dirty="0"/>
                    </a:p>
                  </a:txBody>
                  <a:tcPr/>
                </a:tc>
                <a:extLst>
                  <a:ext uri="{0D108BD9-81ED-4DB2-BD59-A6C34878D82A}">
                    <a16:rowId xmlns:a16="http://schemas.microsoft.com/office/drawing/2014/main" val="3224738078"/>
                  </a:ext>
                </a:extLst>
              </a:tr>
            </a:tbl>
          </a:graphicData>
        </a:graphic>
      </p:graphicFrame>
      <p:sp>
        <p:nvSpPr>
          <p:cNvPr id="4" name="Date Placeholder 3">
            <a:extLst>
              <a:ext uri="{FF2B5EF4-FFF2-40B4-BE49-F238E27FC236}">
                <a16:creationId xmlns:a16="http://schemas.microsoft.com/office/drawing/2014/main" id="{702D90E7-B293-6CB7-EE18-CDC00F570768}"/>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5038CE26-CFE0-E776-4861-696D58E2C90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2F9C007-817D-8C20-7938-A25D562BD838}"/>
              </a:ext>
            </a:extLst>
          </p:cNvPr>
          <p:cNvSpPr>
            <a:spLocks noGrp="1"/>
          </p:cNvSpPr>
          <p:nvPr>
            <p:ph type="sldNum" sz="quarter" idx="12"/>
          </p:nvPr>
        </p:nvSpPr>
        <p:spPr/>
        <p:txBody>
          <a:bodyPr/>
          <a:lstStyle/>
          <a:p>
            <a:fld id="{4D9A0FCD-C181-41F7-AE76-3F64F16EDCFD}" type="slidenum">
              <a:rPr lang="en-GB" smtClean="0"/>
              <a:t>35</a:t>
            </a:fld>
            <a:endParaRPr lang="en-GB"/>
          </a:p>
        </p:txBody>
      </p:sp>
    </p:spTree>
    <p:extLst>
      <p:ext uri="{BB962C8B-B14F-4D97-AF65-F5344CB8AC3E}">
        <p14:creationId xmlns:p14="http://schemas.microsoft.com/office/powerpoint/2010/main" val="347552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2A0B-2E6B-0BE1-6913-EEA0D0361B7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F4B9A09-E29F-607C-AAB8-A880F0E0F33A}"/>
              </a:ext>
            </a:extLst>
          </p:cNvPr>
          <p:cNvSpPr>
            <a:spLocks noGrp="1"/>
          </p:cNvSpPr>
          <p:nvPr>
            <p:ph idx="1"/>
          </p:nvPr>
        </p:nvSpPr>
        <p:spPr/>
        <p:txBody>
          <a:bodyPr/>
          <a:lstStyle/>
          <a:p>
            <a:pPr marL="0" indent="0">
              <a:buNone/>
            </a:pPr>
            <a:r>
              <a:rPr lang="en-US" dirty="0"/>
              <a:t>This means that our motor driver will use 4 PWM pins, as any of the inputs could be used.</a:t>
            </a:r>
          </a:p>
          <a:p>
            <a:pPr marL="0" indent="0">
              <a:buNone/>
            </a:pPr>
            <a:r>
              <a:rPr lang="en-US" dirty="0"/>
              <a:t>By convention, we are using pins 5&amp;6 for IN1 &amp; IN2, pins 9&amp;10 for IN3 &amp; IN4.</a:t>
            </a:r>
          </a:p>
          <a:p>
            <a:pPr marL="0" indent="0">
              <a:buNone/>
            </a:pPr>
            <a:endParaRPr lang="en-US" dirty="0"/>
          </a:p>
          <a:p>
            <a:pPr marL="0" indent="0">
              <a:buNone/>
            </a:pPr>
            <a:r>
              <a:rPr lang="en-US" dirty="0"/>
              <a:t>I have some code</a:t>
            </a:r>
            <a:endParaRPr lang="en-GB" dirty="0"/>
          </a:p>
        </p:txBody>
      </p:sp>
      <p:sp>
        <p:nvSpPr>
          <p:cNvPr id="4" name="Date Placeholder 3">
            <a:extLst>
              <a:ext uri="{FF2B5EF4-FFF2-40B4-BE49-F238E27FC236}">
                <a16:creationId xmlns:a16="http://schemas.microsoft.com/office/drawing/2014/main" id="{B51912DB-4C33-AA1D-C3F7-F8A198568518}"/>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763EFE5D-4B22-B719-BDD1-EA4CD4980D1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0DBE1F-B043-0338-C49C-140A6533ED27}"/>
              </a:ext>
            </a:extLst>
          </p:cNvPr>
          <p:cNvSpPr>
            <a:spLocks noGrp="1"/>
          </p:cNvSpPr>
          <p:nvPr>
            <p:ph type="sldNum" sz="quarter" idx="12"/>
          </p:nvPr>
        </p:nvSpPr>
        <p:spPr/>
        <p:txBody>
          <a:bodyPr/>
          <a:lstStyle/>
          <a:p>
            <a:fld id="{4D9A0FCD-C181-41F7-AE76-3F64F16EDCFD}" type="slidenum">
              <a:rPr lang="en-GB" smtClean="0"/>
              <a:t>36</a:t>
            </a:fld>
            <a:endParaRPr lang="en-GB"/>
          </a:p>
        </p:txBody>
      </p:sp>
    </p:spTree>
    <p:extLst>
      <p:ext uri="{BB962C8B-B14F-4D97-AF65-F5344CB8AC3E}">
        <p14:creationId xmlns:p14="http://schemas.microsoft.com/office/powerpoint/2010/main" val="3628636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CE2A-8EE9-ED5C-9D45-9A1F018E768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910E92B-422B-E821-A7B1-13BCA6328BC7}"/>
              </a:ext>
            </a:extLst>
          </p:cNvPr>
          <p:cNvSpPr>
            <a:spLocks noGrp="1"/>
          </p:cNvSpPr>
          <p:nvPr>
            <p:ph idx="1"/>
          </p:nvPr>
        </p:nvSpPr>
        <p:spPr/>
        <p:txBody>
          <a:bodyPr/>
          <a:lstStyle/>
          <a:p>
            <a:pPr marL="0" indent="0">
              <a:buNone/>
            </a:pPr>
            <a:r>
              <a:rPr lang="en-GB" b="0" dirty="0">
                <a:solidFill>
                  <a:srgbClr val="728E00"/>
                </a:solidFill>
                <a:effectLst/>
                <a:highlight>
                  <a:srgbClr val="FFFFFF"/>
                </a:highlight>
                <a:latin typeface="Consolas" panose="020B0609020204030204" pitchFamily="49" charset="0"/>
              </a:rPr>
              <a:t>#define</a:t>
            </a:r>
            <a:r>
              <a:rPr lang="en-GB" b="0" dirty="0">
                <a:solidFill>
                  <a:srgbClr val="4E5B61"/>
                </a:solidFill>
                <a:effectLst/>
                <a:highlight>
                  <a:srgbClr val="FFFFFF"/>
                </a:highlight>
                <a:latin typeface="Consolas" panose="020B0609020204030204" pitchFamily="49" charset="0"/>
              </a:rPr>
              <a:t> </a:t>
            </a:r>
            <a:r>
              <a:rPr lang="en-GB" b="0" dirty="0">
                <a:solidFill>
                  <a:srgbClr val="D35400"/>
                </a:solidFill>
                <a:effectLst/>
                <a:highlight>
                  <a:srgbClr val="FFFFFF"/>
                </a:highlight>
                <a:latin typeface="Consolas" panose="020B0609020204030204" pitchFamily="49" charset="0"/>
              </a:rPr>
              <a:t>MOT_A1_PIN</a:t>
            </a:r>
            <a:r>
              <a:rPr lang="en-GB" b="0" dirty="0">
                <a:solidFill>
                  <a:srgbClr val="4E5B61"/>
                </a:solidFill>
                <a:effectLst/>
                <a:highlight>
                  <a:srgbClr val="FFFFFF"/>
                </a:highlight>
                <a:latin typeface="Consolas" panose="020B0609020204030204" pitchFamily="49" charset="0"/>
              </a:rPr>
              <a:t> </a:t>
            </a:r>
            <a:r>
              <a:rPr lang="en-GB" b="0" dirty="0">
                <a:solidFill>
                  <a:srgbClr val="005C5F"/>
                </a:solidFill>
                <a:effectLst/>
                <a:highlight>
                  <a:srgbClr val="FFFFFF"/>
                </a:highlight>
                <a:latin typeface="Consolas" panose="020B0609020204030204" pitchFamily="49" charset="0"/>
              </a:rPr>
              <a:t>10</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728E00"/>
                </a:solidFill>
                <a:effectLst/>
                <a:highlight>
                  <a:srgbClr val="FFFFFF"/>
                </a:highlight>
                <a:latin typeface="Consolas" panose="020B0609020204030204" pitchFamily="49" charset="0"/>
              </a:rPr>
              <a:t>#define</a:t>
            </a:r>
            <a:r>
              <a:rPr lang="en-GB" b="0" dirty="0">
                <a:solidFill>
                  <a:srgbClr val="4E5B61"/>
                </a:solidFill>
                <a:effectLst/>
                <a:highlight>
                  <a:srgbClr val="FFFFFF"/>
                </a:highlight>
                <a:latin typeface="Consolas" panose="020B0609020204030204" pitchFamily="49" charset="0"/>
              </a:rPr>
              <a:t> </a:t>
            </a:r>
            <a:r>
              <a:rPr lang="en-GB" b="0" dirty="0">
                <a:solidFill>
                  <a:srgbClr val="D35400"/>
                </a:solidFill>
                <a:effectLst/>
                <a:highlight>
                  <a:srgbClr val="FFFFFF"/>
                </a:highlight>
                <a:latin typeface="Consolas" panose="020B0609020204030204" pitchFamily="49" charset="0"/>
              </a:rPr>
              <a:t>MOT_A2_PIN</a:t>
            </a:r>
            <a:r>
              <a:rPr lang="en-GB" b="0" dirty="0">
                <a:solidFill>
                  <a:srgbClr val="4E5B61"/>
                </a:solidFill>
                <a:effectLst/>
                <a:highlight>
                  <a:srgbClr val="FFFFFF"/>
                </a:highlight>
                <a:latin typeface="Consolas" panose="020B0609020204030204" pitchFamily="49" charset="0"/>
              </a:rPr>
              <a:t> </a:t>
            </a:r>
            <a:r>
              <a:rPr lang="en-GB" b="0" dirty="0">
                <a:solidFill>
                  <a:srgbClr val="005C5F"/>
                </a:solidFill>
                <a:effectLst/>
                <a:highlight>
                  <a:srgbClr val="FFFFFF"/>
                </a:highlight>
                <a:latin typeface="Consolas" panose="020B0609020204030204" pitchFamily="49" charset="0"/>
              </a:rPr>
              <a:t>9</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728E00"/>
                </a:solidFill>
                <a:effectLst/>
                <a:highlight>
                  <a:srgbClr val="FFFFFF"/>
                </a:highlight>
                <a:latin typeface="Consolas" panose="020B0609020204030204" pitchFamily="49" charset="0"/>
              </a:rPr>
              <a:t>#define</a:t>
            </a:r>
            <a:r>
              <a:rPr lang="en-GB" b="0" dirty="0">
                <a:solidFill>
                  <a:srgbClr val="4E5B61"/>
                </a:solidFill>
                <a:effectLst/>
                <a:highlight>
                  <a:srgbClr val="FFFFFF"/>
                </a:highlight>
                <a:latin typeface="Consolas" panose="020B0609020204030204" pitchFamily="49" charset="0"/>
              </a:rPr>
              <a:t> </a:t>
            </a:r>
            <a:r>
              <a:rPr lang="en-GB" b="0" dirty="0">
                <a:solidFill>
                  <a:srgbClr val="D35400"/>
                </a:solidFill>
                <a:effectLst/>
                <a:highlight>
                  <a:srgbClr val="FFFFFF"/>
                </a:highlight>
                <a:latin typeface="Consolas" panose="020B0609020204030204" pitchFamily="49" charset="0"/>
              </a:rPr>
              <a:t>MOT_B1_PIN</a:t>
            </a:r>
            <a:r>
              <a:rPr lang="en-GB" b="0" dirty="0">
                <a:solidFill>
                  <a:srgbClr val="4E5B61"/>
                </a:solidFill>
                <a:effectLst/>
                <a:highlight>
                  <a:srgbClr val="FFFFFF"/>
                </a:highlight>
                <a:latin typeface="Consolas" panose="020B0609020204030204" pitchFamily="49" charset="0"/>
              </a:rPr>
              <a:t> </a:t>
            </a:r>
            <a:r>
              <a:rPr lang="en-GB" b="0" dirty="0">
                <a:solidFill>
                  <a:srgbClr val="005C5F"/>
                </a:solidFill>
                <a:effectLst/>
                <a:highlight>
                  <a:srgbClr val="FFFFFF"/>
                </a:highlight>
                <a:latin typeface="Consolas" panose="020B0609020204030204" pitchFamily="49" charset="0"/>
              </a:rPr>
              <a:t>6</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728E00"/>
                </a:solidFill>
                <a:effectLst/>
                <a:highlight>
                  <a:srgbClr val="FFFFFF"/>
                </a:highlight>
                <a:latin typeface="Consolas" panose="020B0609020204030204" pitchFamily="49" charset="0"/>
              </a:rPr>
              <a:t>#define</a:t>
            </a:r>
            <a:r>
              <a:rPr lang="en-GB" b="0" dirty="0">
                <a:solidFill>
                  <a:srgbClr val="4E5B61"/>
                </a:solidFill>
                <a:effectLst/>
                <a:highlight>
                  <a:srgbClr val="FFFFFF"/>
                </a:highlight>
                <a:latin typeface="Consolas" panose="020B0609020204030204" pitchFamily="49" charset="0"/>
              </a:rPr>
              <a:t> </a:t>
            </a:r>
            <a:r>
              <a:rPr lang="en-GB" b="0" dirty="0">
                <a:solidFill>
                  <a:srgbClr val="D35400"/>
                </a:solidFill>
                <a:effectLst/>
                <a:highlight>
                  <a:srgbClr val="FFFFFF"/>
                </a:highlight>
                <a:latin typeface="Consolas" panose="020B0609020204030204" pitchFamily="49" charset="0"/>
              </a:rPr>
              <a:t>MOT_B2_PIN</a:t>
            </a:r>
            <a:r>
              <a:rPr lang="en-GB" b="0" dirty="0">
                <a:solidFill>
                  <a:srgbClr val="4E5B61"/>
                </a:solidFill>
                <a:effectLst/>
                <a:highlight>
                  <a:srgbClr val="FFFFFF"/>
                </a:highlight>
                <a:latin typeface="Consolas" panose="020B0609020204030204" pitchFamily="49" charset="0"/>
              </a:rPr>
              <a:t> </a:t>
            </a:r>
            <a:r>
              <a:rPr lang="en-GB" b="0" dirty="0">
                <a:solidFill>
                  <a:srgbClr val="005C5F"/>
                </a:solidFill>
                <a:effectLst/>
                <a:highlight>
                  <a:srgbClr val="FFFFFF"/>
                </a:highlight>
                <a:latin typeface="Consolas" panose="020B0609020204030204" pitchFamily="49" charset="0"/>
              </a:rPr>
              <a:t>5</a:t>
            </a:r>
            <a:endParaRPr lang="en-GB" b="0" dirty="0">
              <a:solidFill>
                <a:srgbClr val="4E5B61"/>
              </a:solidFill>
              <a:effectLst/>
              <a:highlight>
                <a:srgbClr val="FFFFFF"/>
              </a:highlight>
              <a:latin typeface="Consolas" panose="020B0609020204030204" pitchFamily="49" charset="0"/>
            </a:endParaRPr>
          </a:p>
          <a:p>
            <a:pPr marL="0" indent="0">
              <a:buNone/>
            </a:pPr>
            <a:endParaRPr lang="en-US" dirty="0">
              <a:solidFill>
                <a:srgbClr val="4E5B61"/>
              </a:solidFill>
              <a:highlight>
                <a:srgbClr val="FFFFFF"/>
              </a:highlight>
              <a:latin typeface="Consolas" panose="020B0609020204030204" pitchFamily="49" charset="0"/>
            </a:endParaRPr>
          </a:p>
          <a:p>
            <a:pPr marL="0" indent="0">
              <a:buNone/>
            </a:pPr>
            <a:r>
              <a:rPr lang="en-US" b="0" dirty="0">
                <a:solidFill>
                  <a:srgbClr val="4E5B61"/>
                </a:solidFill>
                <a:effectLst/>
                <a:highlight>
                  <a:srgbClr val="FFFFFF"/>
                </a:highlight>
                <a:latin typeface="Consolas" panose="020B0609020204030204" pitchFamily="49" charset="0"/>
              </a:rPr>
              <a:t>    </a:t>
            </a:r>
            <a:r>
              <a:rPr lang="en-US" b="0" dirty="0" err="1">
                <a:solidFill>
                  <a:srgbClr val="D35400"/>
                </a:solidFill>
                <a:effectLst/>
                <a:highlight>
                  <a:srgbClr val="FFFFFF"/>
                </a:highlight>
                <a:latin typeface="Consolas" panose="020B0609020204030204" pitchFamily="49" charset="0"/>
              </a:rPr>
              <a:t>digitalWrite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IN1_PIN, LOW</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p>
          <a:p>
            <a:pPr marL="0" indent="0">
              <a:buNone/>
            </a:pPr>
            <a:r>
              <a:rPr lang="en-US" b="0" dirty="0">
                <a:solidFill>
                  <a:srgbClr val="4E5B61"/>
                </a:solidFill>
                <a:effectLst/>
                <a:highlight>
                  <a:srgbClr val="FFFFFF"/>
                </a:highlight>
                <a:latin typeface="Consolas" panose="020B0609020204030204" pitchFamily="49" charset="0"/>
              </a:rPr>
              <a:t>    </a:t>
            </a:r>
            <a:r>
              <a:rPr lang="en-US" b="0" dirty="0" err="1">
                <a:solidFill>
                  <a:srgbClr val="D35400"/>
                </a:solidFill>
                <a:effectLst/>
                <a:highlight>
                  <a:srgbClr val="FFFFFF"/>
                </a:highlight>
                <a:latin typeface="Consolas" panose="020B0609020204030204" pitchFamily="49" charset="0"/>
              </a:rPr>
              <a:t>analogWrite</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IN2_PIN, </a:t>
            </a:r>
            <a:r>
              <a:rPr lang="en-US" b="0" dirty="0" err="1">
                <a:solidFill>
                  <a:srgbClr val="4E5B61"/>
                </a:solidFill>
                <a:effectLst/>
                <a:highlight>
                  <a:srgbClr val="FFFFFF"/>
                </a:highlight>
                <a:latin typeface="Consolas" panose="020B0609020204030204" pitchFamily="49" charset="0"/>
              </a:rPr>
              <a:t>pwm</a:t>
            </a:r>
            <a:r>
              <a:rPr lang="en-US" b="0" dirty="0">
                <a:solidFill>
                  <a:srgbClr val="434F54"/>
                </a:solidFill>
                <a:effectLst/>
                <a:highlight>
                  <a:srgbClr val="FFFFFF"/>
                </a:highlight>
                <a:latin typeface="Consolas" panose="020B0609020204030204" pitchFamily="49" charset="0"/>
              </a:rPr>
              <a:t>)</a:t>
            </a:r>
            <a:r>
              <a:rPr lang="en-US" b="0" dirty="0">
                <a:solidFill>
                  <a:srgbClr val="4E5B61"/>
                </a:solidFill>
                <a:effectLst/>
                <a:highlight>
                  <a:srgbClr val="FFFFFF"/>
                </a:highlight>
                <a:latin typeface="Consolas" panose="020B0609020204030204" pitchFamily="49" charset="0"/>
              </a:rPr>
              <a:t>;</a:t>
            </a:r>
          </a:p>
          <a:p>
            <a:pPr marL="0" indent="0">
              <a:buNone/>
            </a:pPr>
            <a:r>
              <a:rPr lang="en-GB" dirty="0"/>
              <a:t># where </a:t>
            </a:r>
            <a:r>
              <a:rPr lang="en-GB" dirty="0" err="1"/>
              <a:t>pwm</a:t>
            </a:r>
            <a:r>
              <a:rPr lang="en-GB" dirty="0"/>
              <a:t> is a value between 0-255</a:t>
            </a:r>
          </a:p>
          <a:p>
            <a:pPr marL="0" indent="0">
              <a:buNone/>
            </a:pPr>
            <a:endParaRPr lang="en-GB" dirty="0"/>
          </a:p>
        </p:txBody>
      </p:sp>
      <p:sp>
        <p:nvSpPr>
          <p:cNvPr id="4" name="Date Placeholder 3">
            <a:extLst>
              <a:ext uri="{FF2B5EF4-FFF2-40B4-BE49-F238E27FC236}">
                <a16:creationId xmlns:a16="http://schemas.microsoft.com/office/drawing/2014/main" id="{EF65F61D-A03F-956D-7F52-D23E5434097E}"/>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4882B5E3-98A7-F4B6-05A1-D16CB9A64303}"/>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15F2B73-A0F2-73FE-B7C0-F7CED612820E}"/>
              </a:ext>
            </a:extLst>
          </p:cNvPr>
          <p:cNvSpPr>
            <a:spLocks noGrp="1"/>
          </p:cNvSpPr>
          <p:nvPr>
            <p:ph type="sldNum" sz="quarter" idx="12"/>
          </p:nvPr>
        </p:nvSpPr>
        <p:spPr/>
        <p:txBody>
          <a:bodyPr/>
          <a:lstStyle/>
          <a:p>
            <a:fld id="{4D9A0FCD-C181-41F7-AE76-3F64F16EDCFD}" type="slidenum">
              <a:rPr lang="en-GB" smtClean="0"/>
              <a:t>37</a:t>
            </a:fld>
            <a:endParaRPr lang="en-GB"/>
          </a:p>
        </p:txBody>
      </p:sp>
    </p:spTree>
    <p:extLst>
      <p:ext uri="{BB962C8B-B14F-4D97-AF65-F5344CB8AC3E}">
        <p14:creationId xmlns:p14="http://schemas.microsoft.com/office/powerpoint/2010/main" val="3840085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69C56-880D-70D0-0135-0B93F380D54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5BF7D0E-0295-4712-87E1-D453BA6D47C4}"/>
              </a:ext>
            </a:extLst>
          </p:cNvPr>
          <p:cNvSpPr>
            <a:spLocks noGrp="1"/>
          </p:cNvSpPr>
          <p:nvPr>
            <p:ph idx="1"/>
          </p:nvPr>
        </p:nvSpPr>
        <p:spPr/>
        <p:txBody>
          <a:bodyPr>
            <a:normAutofit/>
          </a:bodyPr>
          <a:lstStyle/>
          <a:p>
            <a:pPr marL="0" indent="0">
              <a:buNone/>
            </a:pPr>
            <a:r>
              <a:rPr lang="en-US" dirty="0"/>
              <a:t>This will just control one wheel, but it is easy to extend it to control different wheels.</a:t>
            </a:r>
          </a:p>
          <a:p>
            <a:pPr marL="0" indent="0">
              <a:buNone/>
            </a:pPr>
            <a:r>
              <a:rPr lang="en-GB" b="0" dirty="0">
                <a:solidFill>
                  <a:srgbClr val="00979D"/>
                </a:solidFill>
                <a:effectLst/>
                <a:highlight>
                  <a:srgbClr val="FFFFFF"/>
                </a:highlight>
                <a:latin typeface="Consolas" panose="020B0609020204030204" pitchFamily="49" charset="0"/>
              </a:rPr>
              <a:t>void</a:t>
            </a: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set_motor_pwm</a:t>
            </a:r>
            <a:r>
              <a:rPr lang="en-GB" b="0" dirty="0">
                <a:solidFill>
                  <a:srgbClr val="434F54"/>
                </a:solidFill>
                <a:effectLst/>
                <a:highlight>
                  <a:srgbClr val="FFFFFF"/>
                </a:highlight>
                <a:latin typeface="Consolas" panose="020B0609020204030204" pitchFamily="49" charset="0"/>
              </a:rPr>
              <a:t>(</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err="1">
                <a:solidFill>
                  <a:srgbClr val="434F54"/>
                </a:solidFill>
                <a:effectLst/>
                <a:highlight>
                  <a:srgbClr val="FFFFFF"/>
                </a:highlight>
                <a:latin typeface="Consolas" panose="020B0609020204030204" pitchFamily="49" charset="0"/>
              </a:rPr>
              <a:t>pwm</a:t>
            </a:r>
            <a:r>
              <a:rPr lang="en-GB" b="0" dirty="0">
                <a:solidFill>
                  <a:srgbClr val="4E5B61"/>
                </a:solidFill>
                <a:effectLst/>
                <a:highlight>
                  <a:srgbClr val="FFFFFF"/>
                </a:highlight>
                <a:latin typeface="Consolas" panose="020B0609020204030204" pitchFamily="49" charset="0"/>
              </a:rPr>
              <a:t>, </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IN1_PIN</a:t>
            </a:r>
            <a:r>
              <a:rPr lang="en-GB" b="0" dirty="0">
                <a:solidFill>
                  <a:srgbClr val="4E5B61"/>
                </a:solidFill>
                <a:effectLst/>
                <a:highlight>
                  <a:srgbClr val="FFFFFF"/>
                </a:highlight>
                <a:latin typeface="Consolas" panose="020B0609020204030204" pitchFamily="49" charset="0"/>
              </a:rPr>
              <a:t>, </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IN2_PIN)</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34F54"/>
                </a:solidFill>
                <a:effectLst/>
                <a:highlight>
                  <a:srgbClr val="FFFFFF"/>
                </a:highlight>
                <a:latin typeface="Consolas" panose="020B0609020204030204" pitchFamily="49" charset="0"/>
              </a:rPr>
              <a:t>{</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digitalWrite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IN1_PIN, LOW</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analogWrite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IN2_PIN, </a:t>
            </a:r>
            <a:r>
              <a:rPr lang="en-GB" b="0" dirty="0" err="1">
                <a:solidFill>
                  <a:srgbClr val="4E5B61"/>
                </a:solidFill>
                <a:effectLst/>
                <a:highlight>
                  <a:srgbClr val="FFFFFF"/>
                </a:highlight>
                <a:latin typeface="Consolas" panose="020B0609020204030204" pitchFamily="49" charset="0"/>
              </a:rPr>
              <a:t>pwm</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r>
              <a:rPr lang="en-GB" b="0" dirty="0">
                <a:solidFill>
                  <a:srgbClr val="434F54"/>
                </a:solidFill>
                <a:effectLst/>
                <a:highlight>
                  <a:srgbClr val="FFFFFF"/>
                </a:highlight>
                <a:latin typeface="Consolas" panose="020B0609020204030204" pitchFamily="49" charset="0"/>
              </a:rPr>
              <a:t>}</a:t>
            </a:r>
            <a:endParaRPr lang="en-GB" b="0" dirty="0">
              <a:solidFill>
                <a:srgbClr val="4E5B61"/>
              </a:solidFill>
              <a:effectLst/>
              <a:highlight>
                <a:srgbClr val="FFFFFF"/>
              </a:highlight>
              <a:latin typeface="Consolas" panose="020B0609020204030204" pitchFamily="49" charset="0"/>
            </a:endParaRPr>
          </a:p>
          <a:p>
            <a:pPr marL="0" indent="0">
              <a:buNone/>
            </a:pPr>
            <a:r>
              <a:rPr lang="en-GB" dirty="0"/>
              <a:t>We can call this function using any of our 4 pins, so we can control the motor.</a:t>
            </a:r>
          </a:p>
          <a:p>
            <a:pPr marL="0" indent="0">
              <a:buNone/>
            </a:pPr>
            <a:r>
              <a:rPr lang="en-GB" dirty="0"/>
              <a:t>However, we can see that this will only go forwards.  There is no option to reverse the direction.</a:t>
            </a:r>
          </a:p>
        </p:txBody>
      </p:sp>
      <p:sp>
        <p:nvSpPr>
          <p:cNvPr id="4" name="Date Placeholder 3">
            <a:extLst>
              <a:ext uri="{FF2B5EF4-FFF2-40B4-BE49-F238E27FC236}">
                <a16:creationId xmlns:a16="http://schemas.microsoft.com/office/drawing/2014/main" id="{FAC1C39E-82FA-FA14-2C14-E700042AA0D0}"/>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9C346E5F-F092-46FE-F463-A28E9A194571}"/>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1E44337-96F7-5FD6-2665-DFBFE770F778}"/>
              </a:ext>
            </a:extLst>
          </p:cNvPr>
          <p:cNvSpPr>
            <a:spLocks noGrp="1"/>
          </p:cNvSpPr>
          <p:nvPr>
            <p:ph type="sldNum" sz="quarter" idx="12"/>
          </p:nvPr>
        </p:nvSpPr>
        <p:spPr/>
        <p:txBody>
          <a:bodyPr/>
          <a:lstStyle/>
          <a:p>
            <a:fld id="{4D9A0FCD-C181-41F7-AE76-3F64F16EDCFD}" type="slidenum">
              <a:rPr lang="en-GB" smtClean="0"/>
              <a:t>38</a:t>
            </a:fld>
            <a:endParaRPr lang="en-GB"/>
          </a:p>
        </p:txBody>
      </p:sp>
    </p:spTree>
    <p:extLst>
      <p:ext uri="{BB962C8B-B14F-4D97-AF65-F5344CB8AC3E}">
        <p14:creationId xmlns:p14="http://schemas.microsoft.com/office/powerpoint/2010/main" val="34904160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681A-06C2-621B-3ECE-D239AFB5170F}"/>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BB7E0AE-D0CB-ACA9-A1AF-2003D8A7CC41}"/>
              </a:ext>
            </a:extLst>
          </p:cNvPr>
          <p:cNvSpPr>
            <a:spLocks noGrp="1"/>
          </p:cNvSpPr>
          <p:nvPr>
            <p:ph idx="1"/>
          </p:nvPr>
        </p:nvSpPr>
        <p:spPr/>
        <p:txBody>
          <a:bodyPr>
            <a:normAutofit fontScale="70000" lnSpcReduction="20000"/>
          </a:bodyPr>
          <a:lstStyle/>
          <a:p>
            <a:pPr marL="0" indent="0">
              <a:buNone/>
            </a:pPr>
            <a:r>
              <a:rPr lang="en-US" dirty="0"/>
              <a:t>We could use a Boolean variable to control whether to reverse the wheel or not, however, that will take up more of the Arduino’s limited memory.</a:t>
            </a:r>
          </a:p>
          <a:p>
            <a:pPr marL="0" indent="0">
              <a:buNone/>
            </a:pPr>
            <a:r>
              <a:rPr lang="en-US" dirty="0"/>
              <a:t>Another option is with the PWM itself, if we give a positive number it will go forwards, if we give a negative number it will reverse.</a:t>
            </a:r>
          </a:p>
          <a:p>
            <a:pPr marL="0" indent="0">
              <a:buNone/>
            </a:pPr>
            <a:endParaRPr lang="en-US" dirty="0"/>
          </a:p>
          <a:p>
            <a:pPr marL="0" indent="0">
              <a:buNone/>
            </a:pPr>
            <a:r>
              <a:rPr lang="en-GB" b="0" dirty="0">
                <a:solidFill>
                  <a:srgbClr val="00979D"/>
                </a:solidFill>
                <a:effectLst/>
                <a:highlight>
                  <a:srgbClr val="FFFFFF"/>
                </a:highlight>
                <a:latin typeface="Consolas" panose="020B0609020204030204" pitchFamily="49" charset="0"/>
              </a:rPr>
              <a:t>void</a:t>
            </a: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set_motor_pwm</a:t>
            </a:r>
            <a:r>
              <a:rPr lang="en-GB" b="0" dirty="0">
                <a:solidFill>
                  <a:srgbClr val="434F54"/>
                </a:solidFill>
                <a:effectLst/>
                <a:highlight>
                  <a:srgbClr val="FFFFFF"/>
                </a:highlight>
                <a:latin typeface="Consolas" panose="020B0609020204030204" pitchFamily="49" charset="0"/>
              </a:rPr>
              <a:t>(</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err="1">
                <a:solidFill>
                  <a:srgbClr val="434F54"/>
                </a:solidFill>
                <a:effectLst/>
                <a:highlight>
                  <a:srgbClr val="FFFFFF"/>
                </a:highlight>
                <a:latin typeface="Consolas" panose="020B0609020204030204" pitchFamily="49" charset="0"/>
              </a:rPr>
              <a:t>pwm</a:t>
            </a:r>
            <a:r>
              <a:rPr lang="en-GB" b="0" dirty="0">
                <a:solidFill>
                  <a:srgbClr val="4E5B61"/>
                </a:solidFill>
                <a:effectLst/>
                <a:highlight>
                  <a:srgbClr val="FFFFFF"/>
                </a:highlight>
                <a:latin typeface="Consolas" panose="020B0609020204030204" pitchFamily="49" charset="0"/>
              </a:rPr>
              <a:t>, </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IN1_PIN</a:t>
            </a:r>
            <a:r>
              <a:rPr lang="en-GB" b="0" dirty="0">
                <a:solidFill>
                  <a:srgbClr val="4E5B61"/>
                </a:solidFill>
                <a:effectLst/>
                <a:highlight>
                  <a:srgbClr val="FFFFFF"/>
                </a:highlight>
                <a:latin typeface="Consolas" panose="020B0609020204030204" pitchFamily="49" charset="0"/>
              </a:rPr>
              <a:t>, </a:t>
            </a:r>
            <a:r>
              <a:rPr lang="en-GB" b="0" dirty="0">
                <a:solidFill>
                  <a:srgbClr val="00979D"/>
                </a:solidFill>
                <a:effectLst/>
                <a:highlight>
                  <a:srgbClr val="FFFFFF"/>
                </a:highlight>
                <a:latin typeface="Consolas" panose="020B0609020204030204" pitchFamily="49" charset="0"/>
              </a:rPr>
              <a:t>int</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IN2_PIN)</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34F54"/>
                </a:solidFill>
                <a:effectLst/>
                <a:highlight>
                  <a:srgbClr val="FFFFFF"/>
                </a:highlight>
                <a:latin typeface="Consolas" panose="020B0609020204030204" pitchFamily="49" charset="0"/>
              </a:rPr>
              <a:t>{</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E5B61"/>
                </a:solidFill>
                <a:effectLst/>
                <a:highlight>
                  <a:srgbClr val="FFFFFF"/>
                </a:highlight>
                <a:latin typeface="Consolas" panose="020B0609020204030204" pitchFamily="49" charset="0"/>
              </a:rPr>
              <a:t>  </a:t>
            </a:r>
            <a:r>
              <a:rPr lang="en-GB" b="0" dirty="0">
                <a:solidFill>
                  <a:srgbClr val="728E00"/>
                </a:solidFill>
                <a:effectLst/>
                <a:highlight>
                  <a:srgbClr val="FFFFFF"/>
                </a:highlight>
                <a:latin typeface="Consolas" panose="020B0609020204030204" pitchFamily="49" charset="0"/>
              </a:rPr>
              <a:t>if</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a:t>
            </a:r>
            <a:r>
              <a:rPr lang="en-GB" b="0" dirty="0" err="1">
                <a:solidFill>
                  <a:srgbClr val="4E5B61"/>
                </a:solidFill>
                <a:effectLst/>
                <a:highlight>
                  <a:srgbClr val="FFFFFF"/>
                </a:highlight>
                <a:latin typeface="Consolas" panose="020B0609020204030204" pitchFamily="49" charset="0"/>
              </a:rPr>
              <a:t>pwm</a:t>
            </a:r>
            <a:r>
              <a:rPr lang="en-GB" b="0" dirty="0">
                <a:solidFill>
                  <a:srgbClr val="4E5B61"/>
                </a:solidFill>
                <a:effectLst/>
                <a:highlight>
                  <a:srgbClr val="FFFFFF"/>
                </a:highlight>
                <a:latin typeface="Consolas" panose="020B0609020204030204" pitchFamily="49" charset="0"/>
              </a:rPr>
              <a:t> &lt; </a:t>
            </a:r>
            <a:r>
              <a:rPr lang="en-GB" b="0" dirty="0">
                <a:solidFill>
                  <a:srgbClr val="005C5F"/>
                </a:solidFill>
                <a:effectLst/>
                <a:highlight>
                  <a:srgbClr val="FFFFFF"/>
                </a:highlight>
                <a:latin typeface="Consolas" panose="020B0609020204030204" pitchFamily="49" charset="0"/>
              </a:rPr>
              <a:t>0</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a:t>
            </a:r>
            <a:r>
              <a:rPr lang="en-GB" b="0" dirty="0">
                <a:solidFill>
                  <a:srgbClr val="95A5A6"/>
                </a:solidFill>
                <a:effectLst/>
                <a:highlight>
                  <a:srgbClr val="FFFFFF"/>
                </a:highlight>
                <a:latin typeface="Consolas" panose="020B0609020204030204" pitchFamily="49" charset="0"/>
              </a:rPr>
              <a:t>  // reverse speeds</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analogWrite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IN1_PIN, -</a:t>
            </a:r>
            <a:r>
              <a:rPr lang="en-GB" b="0" dirty="0" err="1">
                <a:solidFill>
                  <a:srgbClr val="4E5B61"/>
                </a:solidFill>
                <a:effectLst/>
                <a:highlight>
                  <a:srgbClr val="FFFFFF"/>
                </a:highlight>
                <a:latin typeface="Consolas" panose="020B0609020204030204" pitchFamily="49" charset="0"/>
              </a:rPr>
              <a:t>pwm</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digitalWrite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IN2_PIN, LOW</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br>
              <a:rPr lang="en-GB" b="0" dirty="0">
                <a:solidFill>
                  <a:srgbClr val="4E5B61"/>
                </a:solidFill>
                <a:effectLst/>
                <a:highlight>
                  <a:srgbClr val="FFFFFF"/>
                </a:highlight>
                <a:latin typeface="Consolas" panose="020B0609020204030204" pitchFamily="49" charset="0"/>
              </a:rPr>
            </a:b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 </a:t>
            </a:r>
            <a:r>
              <a:rPr lang="en-GB" b="0" dirty="0">
                <a:solidFill>
                  <a:srgbClr val="728E00"/>
                </a:solidFill>
                <a:effectLst/>
                <a:highlight>
                  <a:srgbClr val="FFFFFF"/>
                </a:highlight>
                <a:latin typeface="Consolas" panose="020B0609020204030204" pitchFamily="49" charset="0"/>
              </a:rPr>
              <a:t>else</a:t>
            </a: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a:t>
            </a:r>
            <a:r>
              <a:rPr lang="en-GB" b="0" dirty="0">
                <a:solidFill>
                  <a:srgbClr val="95A5A6"/>
                </a:solidFill>
                <a:effectLst/>
                <a:highlight>
                  <a:srgbClr val="FFFFFF"/>
                </a:highlight>
                <a:latin typeface="Consolas" panose="020B0609020204030204" pitchFamily="49" charset="0"/>
              </a:rPr>
              <a:t> // stop or forward</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digitalWrite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IN1_PIN, LOW</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r>
              <a:rPr lang="en-GB" b="0" dirty="0">
                <a:solidFill>
                  <a:srgbClr val="4E5B61"/>
                </a:solidFill>
                <a:effectLst/>
                <a:highlight>
                  <a:srgbClr val="FFFFFF"/>
                </a:highlight>
                <a:latin typeface="Consolas" panose="020B0609020204030204" pitchFamily="49" charset="0"/>
              </a:rPr>
              <a:t>    </a:t>
            </a:r>
            <a:r>
              <a:rPr lang="en-GB" b="0" dirty="0" err="1">
                <a:solidFill>
                  <a:srgbClr val="D35400"/>
                </a:solidFill>
                <a:effectLst/>
                <a:highlight>
                  <a:srgbClr val="FFFFFF"/>
                </a:highlight>
                <a:latin typeface="Consolas" panose="020B0609020204030204" pitchFamily="49" charset="0"/>
              </a:rPr>
              <a:t>analogWrite</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IN2_PIN, </a:t>
            </a:r>
            <a:r>
              <a:rPr lang="en-GB" b="0" dirty="0" err="1">
                <a:solidFill>
                  <a:srgbClr val="4E5B61"/>
                </a:solidFill>
                <a:effectLst/>
                <a:highlight>
                  <a:srgbClr val="FFFFFF"/>
                </a:highlight>
                <a:latin typeface="Consolas" panose="020B0609020204030204" pitchFamily="49" charset="0"/>
              </a:rPr>
              <a:t>pwm</a:t>
            </a:r>
            <a:r>
              <a:rPr lang="en-GB" b="0" dirty="0">
                <a:solidFill>
                  <a:srgbClr val="434F54"/>
                </a:solidFill>
                <a:effectLst/>
                <a:highlight>
                  <a:srgbClr val="FFFFFF"/>
                </a:highlight>
                <a:latin typeface="Consolas" panose="020B0609020204030204" pitchFamily="49" charset="0"/>
              </a:rPr>
              <a:t>)</a:t>
            </a:r>
            <a:r>
              <a:rPr lang="en-GB" b="0" dirty="0">
                <a:solidFill>
                  <a:srgbClr val="4E5B61"/>
                </a:solidFill>
                <a:effectLst/>
                <a:highlight>
                  <a:srgbClr val="FFFFFF"/>
                </a:highlight>
                <a:latin typeface="Consolas" panose="020B0609020204030204" pitchFamily="49" charset="0"/>
              </a:rPr>
              <a:t>;</a:t>
            </a:r>
          </a:p>
          <a:p>
            <a:pPr marL="0" indent="0">
              <a:buNone/>
            </a:pPr>
            <a:r>
              <a:rPr lang="en-GB" b="0" dirty="0">
                <a:solidFill>
                  <a:srgbClr val="4E5B61"/>
                </a:solidFill>
                <a:effectLst/>
                <a:highlight>
                  <a:srgbClr val="FFFFFF"/>
                </a:highlight>
                <a:latin typeface="Consolas" panose="020B0609020204030204" pitchFamily="49" charset="0"/>
              </a:rPr>
              <a:t>  </a:t>
            </a:r>
            <a:r>
              <a:rPr lang="en-GB" b="0" dirty="0">
                <a:solidFill>
                  <a:srgbClr val="434F54"/>
                </a:solidFill>
                <a:effectLst/>
                <a:highlight>
                  <a:srgbClr val="FFFFFF"/>
                </a:highlight>
                <a:latin typeface="Consolas" panose="020B0609020204030204" pitchFamily="49" charset="0"/>
              </a:rPr>
              <a:t>}</a:t>
            </a:r>
            <a:endParaRPr lang="en-GB" b="0" dirty="0">
              <a:solidFill>
                <a:srgbClr val="4E5B61"/>
              </a:solidFill>
              <a:effectLst/>
              <a:highlight>
                <a:srgbClr val="FFFFFF"/>
              </a:highlight>
              <a:latin typeface="Consolas" panose="020B0609020204030204" pitchFamily="49" charset="0"/>
            </a:endParaRPr>
          </a:p>
          <a:p>
            <a:pPr marL="0" indent="0">
              <a:buNone/>
            </a:pPr>
            <a:r>
              <a:rPr lang="en-GB" b="0" dirty="0">
                <a:solidFill>
                  <a:srgbClr val="434F54"/>
                </a:solidFill>
                <a:effectLst/>
                <a:highlight>
                  <a:srgbClr val="FFFFFF"/>
                </a:highlight>
                <a:latin typeface="Consolas" panose="020B0609020204030204" pitchFamily="49" charset="0"/>
              </a:rPr>
              <a:t>}</a:t>
            </a:r>
            <a:endParaRPr lang="en-GB" b="0" dirty="0">
              <a:solidFill>
                <a:srgbClr val="4E5B61"/>
              </a:solidFill>
              <a:effectLst/>
              <a:highlight>
                <a:srgbClr val="FFFFFF"/>
              </a:highlight>
              <a:latin typeface="Consolas" panose="020B0609020204030204" pitchFamily="49" charset="0"/>
            </a:endParaRPr>
          </a:p>
          <a:p>
            <a:pPr marL="0" indent="0">
              <a:buNone/>
            </a:pPr>
            <a:endParaRPr lang="en-GB" dirty="0"/>
          </a:p>
        </p:txBody>
      </p:sp>
      <p:sp>
        <p:nvSpPr>
          <p:cNvPr id="4" name="Date Placeholder 3">
            <a:extLst>
              <a:ext uri="{FF2B5EF4-FFF2-40B4-BE49-F238E27FC236}">
                <a16:creationId xmlns:a16="http://schemas.microsoft.com/office/drawing/2014/main" id="{04FB7987-05E5-7AC2-DD8A-B6EA4FB5D1C0}"/>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484C559B-56FC-17D4-D05F-E61C3F86D6B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CAAE2-85B6-DC7E-88E2-C44F3D2F2F37}"/>
              </a:ext>
            </a:extLst>
          </p:cNvPr>
          <p:cNvSpPr>
            <a:spLocks noGrp="1"/>
          </p:cNvSpPr>
          <p:nvPr>
            <p:ph type="sldNum" sz="quarter" idx="12"/>
          </p:nvPr>
        </p:nvSpPr>
        <p:spPr/>
        <p:txBody>
          <a:bodyPr/>
          <a:lstStyle/>
          <a:p>
            <a:fld id="{4D9A0FCD-C181-41F7-AE76-3F64F16EDCFD}" type="slidenum">
              <a:rPr lang="en-GB" smtClean="0"/>
              <a:t>39</a:t>
            </a:fld>
            <a:endParaRPr lang="en-GB"/>
          </a:p>
        </p:txBody>
      </p:sp>
    </p:spTree>
    <p:extLst>
      <p:ext uri="{BB962C8B-B14F-4D97-AF65-F5344CB8AC3E}">
        <p14:creationId xmlns:p14="http://schemas.microsoft.com/office/powerpoint/2010/main" val="1433839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F313-AA37-8682-B544-03593132E0E2}"/>
              </a:ext>
            </a:extLst>
          </p:cNvPr>
          <p:cNvSpPr>
            <a:spLocks noGrp="1"/>
          </p:cNvSpPr>
          <p:nvPr>
            <p:ph type="title"/>
          </p:nvPr>
        </p:nvSpPr>
        <p:spPr/>
        <p:txBody>
          <a:bodyPr/>
          <a:lstStyle/>
          <a:p>
            <a:r>
              <a:rPr lang="en-US" dirty="0"/>
              <a:t>Turning the robot</a:t>
            </a:r>
            <a:endParaRPr lang="en-GB" dirty="0"/>
          </a:p>
        </p:txBody>
      </p:sp>
      <p:sp>
        <p:nvSpPr>
          <p:cNvPr id="3" name="Content Placeholder 2">
            <a:extLst>
              <a:ext uri="{FF2B5EF4-FFF2-40B4-BE49-F238E27FC236}">
                <a16:creationId xmlns:a16="http://schemas.microsoft.com/office/drawing/2014/main" id="{3F2387ED-F2F8-02C5-4BDA-49C7E5D21F0E}"/>
              </a:ext>
            </a:extLst>
          </p:cNvPr>
          <p:cNvSpPr>
            <a:spLocks noGrp="1"/>
          </p:cNvSpPr>
          <p:nvPr>
            <p:ph idx="1"/>
          </p:nvPr>
        </p:nvSpPr>
        <p:spPr/>
        <p:txBody>
          <a:bodyPr/>
          <a:lstStyle/>
          <a:p>
            <a:pPr marL="0" indent="0">
              <a:buNone/>
            </a:pPr>
            <a:r>
              <a:rPr lang="en-US" dirty="0"/>
              <a:t>There are different ways to turn the robot. Generally it happens because of a difference in speed between the wheels.</a:t>
            </a:r>
          </a:p>
          <a:p>
            <a:pPr marL="0" indent="0">
              <a:buNone/>
            </a:pPr>
            <a:r>
              <a:rPr lang="en-US" dirty="0"/>
              <a:t>Having one wheel turn forwards whilst another turns backwards produces a very sharp turn.</a:t>
            </a:r>
            <a:endParaRPr lang="en-GB" dirty="0"/>
          </a:p>
        </p:txBody>
      </p:sp>
      <p:sp>
        <p:nvSpPr>
          <p:cNvPr id="4" name="Date Placeholder 3">
            <a:extLst>
              <a:ext uri="{FF2B5EF4-FFF2-40B4-BE49-F238E27FC236}">
                <a16:creationId xmlns:a16="http://schemas.microsoft.com/office/drawing/2014/main" id="{4CC72D62-823E-F57E-A2F9-EA47842B1170}"/>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2A832758-D745-5BE5-6190-B49119809700}"/>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890779F-D972-D044-1012-6AE63FCD57FF}"/>
              </a:ext>
            </a:extLst>
          </p:cNvPr>
          <p:cNvSpPr>
            <a:spLocks noGrp="1"/>
          </p:cNvSpPr>
          <p:nvPr>
            <p:ph type="sldNum" sz="quarter" idx="12"/>
          </p:nvPr>
        </p:nvSpPr>
        <p:spPr/>
        <p:txBody>
          <a:bodyPr/>
          <a:lstStyle/>
          <a:p>
            <a:fld id="{4D9A0FCD-C181-41F7-AE76-3F64F16EDCFD}" type="slidenum">
              <a:rPr lang="en-GB" smtClean="0"/>
              <a:t>40</a:t>
            </a:fld>
            <a:endParaRPr lang="en-GB"/>
          </a:p>
        </p:txBody>
      </p:sp>
    </p:spTree>
    <p:extLst>
      <p:ext uri="{BB962C8B-B14F-4D97-AF65-F5344CB8AC3E}">
        <p14:creationId xmlns:p14="http://schemas.microsoft.com/office/powerpoint/2010/main" val="2865757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A38E-957C-9DBF-1E30-EC46887AEEE5}"/>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C9DC6E2-886A-F210-888D-42E206E8044C}"/>
              </a:ext>
            </a:extLst>
          </p:cNvPr>
          <p:cNvSpPr>
            <a:spLocks noGrp="1"/>
          </p:cNvSpPr>
          <p:nvPr>
            <p:ph idx="1"/>
          </p:nvPr>
        </p:nvSpPr>
        <p:spPr/>
        <p:txBody>
          <a:bodyPr/>
          <a:lstStyle/>
          <a:p>
            <a:pPr marL="0" indent="0">
              <a:buNone/>
            </a:pPr>
            <a:r>
              <a:rPr lang="en-US" dirty="0"/>
              <a:t>If your motors make a whining sound and don’t turn, it is because the motor isn’t receiving enough power to turn.  You need to increase your PWM values.</a:t>
            </a:r>
            <a:endParaRPr lang="en-GB" dirty="0"/>
          </a:p>
        </p:txBody>
      </p:sp>
      <p:sp>
        <p:nvSpPr>
          <p:cNvPr id="4" name="Date Placeholder 3">
            <a:extLst>
              <a:ext uri="{FF2B5EF4-FFF2-40B4-BE49-F238E27FC236}">
                <a16:creationId xmlns:a16="http://schemas.microsoft.com/office/drawing/2014/main" id="{CD0EC92A-EA51-30F5-2260-EA176D629956}"/>
              </a:ext>
            </a:extLst>
          </p:cNvPr>
          <p:cNvSpPr>
            <a:spLocks noGrp="1"/>
          </p:cNvSpPr>
          <p:nvPr>
            <p:ph type="dt" sz="half" idx="10"/>
          </p:nvPr>
        </p:nvSpPr>
        <p:spPr/>
        <p:txBody>
          <a:bodyPr/>
          <a:lstStyle/>
          <a:p>
            <a:r>
              <a:rPr lang="en-US"/>
              <a:t>January ‘21</a:t>
            </a:r>
            <a:endParaRPr lang="en-GB" dirty="0"/>
          </a:p>
        </p:txBody>
      </p:sp>
      <p:sp>
        <p:nvSpPr>
          <p:cNvPr id="5" name="Footer Placeholder 4">
            <a:extLst>
              <a:ext uri="{FF2B5EF4-FFF2-40B4-BE49-F238E27FC236}">
                <a16:creationId xmlns:a16="http://schemas.microsoft.com/office/drawing/2014/main" id="{3C6DF468-EF2A-1FCF-F730-62A03EC5B1C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AD67E36-1AB7-542D-6211-4B1129C22F67}"/>
              </a:ext>
            </a:extLst>
          </p:cNvPr>
          <p:cNvSpPr>
            <a:spLocks noGrp="1"/>
          </p:cNvSpPr>
          <p:nvPr>
            <p:ph type="sldNum" sz="quarter" idx="12"/>
          </p:nvPr>
        </p:nvSpPr>
        <p:spPr/>
        <p:txBody>
          <a:bodyPr/>
          <a:lstStyle/>
          <a:p>
            <a:fld id="{4D9A0FCD-C181-41F7-AE76-3F64F16EDCFD}" type="slidenum">
              <a:rPr lang="en-GB" smtClean="0"/>
              <a:t>41</a:t>
            </a:fld>
            <a:endParaRPr lang="en-GB"/>
          </a:p>
        </p:txBody>
      </p:sp>
    </p:spTree>
    <p:extLst>
      <p:ext uri="{BB962C8B-B14F-4D97-AF65-F5344CB8AC3E}">
        <p14:creationId xmlns:p14="http://schemas.microsoft.com/office/powerpoint/2010/main" val="1549088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Black" panose="020B0A04020102020204" pitchFamily="34" charset="0"/>
              </a:rPr>
              <a:t>TASKS TO BE COMPLETED</a:t>
            </a:r>
            <a:endParaRPr lang="en-GB" b="1" i="1" dirty="0">
              <a:latin typeface="Arial Black" panose="020B0A04020102020204" pitchFamily="34" charset="0"/>
            </a:endParaRPr>
          </a:p>
        </p:txBody>
      </p:sp>
      <p:sp>
        <p:nvSpPr>
          <p:cNvPr id="3" name="Content Placeholder 2"/>
          <p:cNvSpPr>
            <a:spLocks noGrp="1"/>
          </p:cNvSpPr>
          <p:nvPr>
            <p:ph idx="1"/>
          </p:nvPr>
        </p:nvSpPr>
        <p:spPr>
          <a:xfrm>
            <a:off x="251670" y="1902068"/>
            <a:ext cx="8716161" cy="4407292"/>
          </a:xfrm>
        </p:spPr>
        <p:txBody>
          <a:bodyPr/>
          <a:lstStyle/>
          <a:p>
            <a:pPr lvl="1"/>
            <a:endParaRPr lang="en-GB" sz="2800" dirty="0">
              <a:latin typeface="Arial" panose="020B0604020202020204" pitchFamily="34" charset="0"/>
              <a:cs typeface="Arial" panose="020B0604020202020204" pitchFamily="34" charset="0"/>
            </a:endParaRPr>
          </a:p>
          <a:p>
            <a:pPr lvl="1"/>
            <a:r>
              <a:rPr lang="en-GB" sz="2800" dirty="0">
                <a:latin typeface="Arial" panose="020B0604020202020204" pitchFamily="34" charset="0"/>
                <a:cs typeface="Arial" panose="020B0604020202020204" pitchFamily="34" charset="0"/>
              </a:rPr>
              <a:t>Wire up motors to operate</a:t>
            </a:r>
          </a:p>
          <a:p>
            <a:pPr lvl="1"/>
            <a:r>
              <a:rPr lang="en-GB" sz="2800" dirty="0">
                <a:latin typeface="Arial" panose="020B0604020202020204" pitchFamily="34" charset="0"/>
                <a:cs typeface="Arial" panose="020B0604020202020204" pitchFamily="34" charset="0"/>
              </a:rPr>
              <a:t>Adjust speed of motor by editing code</a:t>
            </a:r>
          </a:p>
          <a:p>
            <a:pPr lvl="1"/>
            <a:r>
              <a:rPr lang="en-GB" sz="2800" dirty="0">
                <a:latin typeface="Arial" panose="020B0604020202020204" pitchFamily="34" charset="0"/>
                <a:cs typeface="Arial" panose="020B0604020202020204" pitchFamily="34" charset="0"/>
              </a:rPr>
              <a:t>Make car run forwards at full speed</a:t>
            </a:r>
          </a:p>
          <a:p>
            <a:pPr lvl="1"/>
            <a:r>
              <a:rPr lang="en-GB" sz="2800" dirty="0">
                <a:latin typeface="Arial" panose="020B0604020202020204" pitchFamily="34" charset="0"/>
                <a:cs typeface="Arial" panose="020B0604020202020204" pitchFamily="34" charset="0"/>
              </a:rPr>
              <a:t>Make car reverse at full speed.</a:t>
            </a:r>
          </a:p>
          <a:p>
            <a:pPr lvl="1"/>
            <a:r>
              <a:rPr lang="en-GB" sz="2800" dirty="0">
                <a:latin typeface="Arial" panose="020B0604020202020204" pitchFamily="34" charset="0"/>
                <a:cs typeface="Arial" panose="020B0604020202020204" pitchFamily="34" charset="0"/>
              </a:rPr>
              <a:t>Make car turn left </a:t>
            </a:r>
            <a:r>
              <a:rPr lang="en-GB" sz="2800">
                <a:latin typeface="Arial" panose="020B0604020202020204" pitchFamily="34" charset="0"/>
                <a:cs typeface="Arial" panose="020B0604020202020204" pitchFamily="34" charset="0"/>
              </a:rPr>
              <a:t>and right.</a:t>
            </a:r>
            <a:endParaRPr lang="en-GB" sz="2800" dirty="0">
              <a:latin typeface="Arial" panose="020B0604020202020204" pitchFamily="34" charset="0"/>
              <a:cs typeface="Arial" panose="020B0604020202020204" pitchFamily="34" charset="0"/>
            </a:endParaRPr>
          </a:p>
          <a:p>
            <a:pPr lvl="1"/>
            <a:r>
              <a:rPr lang="en-GB" sz="2800" dirty="0">
                <a:latin typeface="Arial" panose="020B0604020202020204" pitchFamily="34" charset="0"/>
                <a:cs typeface="Arial" panose="020B0604020202020204" pitchFamily="34" charset="0"/>
              </a:rPr>
              <a:t>Characterise the robot for driving motors at different speeds as indicated in separate sheet</a:t>
            </a:r>
          </a:p>
          <a:p>
            <a:endParaRPr lang="en-GB"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WU-GA-Units-1.5">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HWU-GA-Units-1.5</Template>
  <TotalTime>35</TotalTime>
  <Words>3036</Words>
  <Application>Microsoft Office PowerPoint</Application>
  <PresentationFormat>On-screen Show (4:3)</PresentationFormat>
  <Paragraphs>247</Paragraphs>
  <Slides>42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42</vt:i4>
      </vt:variant>
    </vt:vector>
  </HeadingPairs>
  <TitlesOfParts>
    <vt:vector size="52" baseType="lpstr">
      <vt:lpstr>Arial</vt:lpstr>
      <vt:lpstr>Arial Black</vt:lpstr>
      <vt:lpstr>Calibri</vt:lpstr>
      <vt:lpstr>Consolas</vt:lpstr>
      <vt:lpstr>Tw Cen MT</vt:lpstr>
      <vt:lpstr>Tw Cen MT Condensed</vt:lpstr>
      <vt:lpstr>Wingdings</vt:lpstr>
      <vt:lpstr>Wingdings 3</vt:lpstr>
      <vt:lpstr>HWU-GA-Units-1.5</vt:lpstr>
      <vt:lpstr>1_Integral</vt:lpstr>
      <vt:lpstr>B37VR  Robotics Project</vt:lpstr>
      <vt:lpstr>A mystery…..</vt:lpstr>
      <vt:lpstr>PowerPoint Presentation</vt:lpstr>
      <vt:lpstr>Pullup resistor</vt:lpstr>
      <vt:lpstr>pulldown resistor</vt:lpstr>
      <vt:lpstr>Arduino has the answer</vt:lpstr>
      <vt:lpstr>digital input</vt:lpstr>
      <vt:lpstr>digital output</vt:lpstr>
      <vt:lpstr>PWM pins</vt:lpstr>
      <vt:lpstr>digital Pin 13</vt:lpstr>
      <vt:lpstr> summary</vt:lpstr>
      <vt:lpstr>Last week we made this circuit</vt:lpstr>
      <vt:lpstr>L298 Motor driver board</vt:lpstr>
      <vt:lpstr>PowerPoint Presentation</vt:lpstr>
      <vt:lpstr>PowerPoint Presentation</vt:lpstr>
      <vt:lpstr>PowerPoint Presentation</vt:lpstr>
      <vt:lpstr>Warning!</vt:lpstr>
      <vt:lpstr>h bridge</vt:lpstr>
      <vt:lpstr>PowerPoint Presentation</vt:lpstr>
      <vt:lpstr>PowerPoint Presentation</vt:lpstr>
      <vt:lpstr>L298 Wiring</vt:lpstr>
      <vt:lpstr>use the following code to test the motors</vt:lpstr>
      <vt:lpstr>Can we vary the speed?</vt:lpstr>
      <vt:lpstr>Yes, we can.</vt:lpstr>
      <vt:lpstr>How can we use this?</vt:lpstr>
      <vt:lpstr>PowerPoint Presentation</vt:lpstr>
      <vt:lpstr>PowerPoint Presentation</vt:lpstr>
      <vt:lpstr>Speed control connections</vt:lpstr>
      <vt:lpstr>now that we have connected the pwm</vt:lpstr>
      <vt:lpstr>PowerPoint Presentation</vt:lpstr>
      <vt:lpstr>What you will do</vt:lpstr>
      <vt:lpstr>PowerPoint Presentation</vt:lpstr>
      <vt:lpstr>PowerPoint Presentation</vt:lpstr>
      <vt:lpstr>DRV8833</vt:lpstr>
      <vt:lpstr>PowerPoint Presentation</vt:lpstr>
      <vt:lpstr>PowerPoint Presentation</vt:lpstr>
      <vt:lpstr>PowerPoint Presentation</vt:lpstr>
      <vt:lpstr>PowerPoint Presentation</vt:lpstr>
      <vt:lpstr>PowerPoint Presentation</vt:lpstr>
      <vt:lpstr>Turning the robot</vt:lpstr>
      <vt:lpstr>PowerPoint Presentation</vt:lpstr>
      <vt:lpstr>TASKS TO BE COMPLETED</vt:lpstr>
    </vt:vector>
  </TitlesOfParts>
  <Company>Heriot-Watt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EDM Unit</dc:title>
  <dc:creator>Faulkner-Jones, Alan</dc:creator>
  <cp:lastModifiedBy>Bullock, Leon</cp:lastModifiedBy>
  <cp:revision>282</cp:revision>
  <dcterms:created xsi:type="dcterms:W3CDTF">2018-08-20T12:28:00Z</dcterms:created>
  <dcterms:modified xsi:type="dcterms:W3CDTF">2024-04-10T10:30:43Z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0x010100A72647EA0FCC8243B2F03302F5F72437</vt:lpwstr>
  </property>
  <property fmtid="{D5CDD505-2E9C-101B-9397-08002B2CF9AE}" pid="3" name="KSOProductBuildVer">
    <vt:lpwstr>2052-10.1.0.6748</vt:lpwstr>
  </property>
</Properties>
</file>