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gif" ContentType="image/gi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6" r:id="rId4"/>
    <p:sldId id="258" r:id="rId5"/>
    <p:sldId id="259" r:id="rId6"/>
    <p:sldId id="260" r:id="rId7"/>
    <p:sldId id="261" r:id="rId8"/>
    <p:sldId id="262" r:id="rId9"/>
    <p:sldId id="263" r:id="rId10"/>
    <p:sldId id="276" r:id="rId11"/>
    <p:sldId id="277" r:id="rId12"/>
    <p:sldId id="264" r:id="rId13"/>
    <p:sldId id="265" r:id="rId14"/>
    <p:sldId id="266" r:id="rId15"/>
    <p:sldId id="267" r:id="rId16"/>
    <p:sldId id="275" r:id="rId17"/>
    <p:sldId id="268" r:id="rId18"/>
    <p:sldId id="274" r:id="rId19"/>
    <p:sldId id="269" r:id="rId20"/>
    <p:sldId id="270" r:id="rId21"/>
    <p:sldId id="271" r:id="rId22"/>
    <p:sldId id="272" r:id="rId23"/>
    <p:sldId id="27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5" autoAdjust="0"/>
    <p:restoredTop sz="94660"/>
  </p:normalViewPr>
  <p:slideViewPr>
    <p:cSldViewPr snapToGrid="0">
      <p:cViewPr varScale="1">
        <p:scale>
          <a:sx n="97" d="100"/>
          <a:sy n="97" d="100"/>
        </p:scale>
        <p:origin x="96"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244CFEC1-4501-4E65-92A0-542AC1F01B0C}"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D96FED-6669-45E1-8503-A8F087C45F00}"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244CFEC1-4501-4E65-92A0-542AC1F01B0C}"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D96FED-6669-45E1-8503-A8F087C45F00}"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44CFEC1-4501-4E65-92A0-542AC1F01B0C}"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D96FED-6669-45E1-8503-A8F087C45F00}"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Date Placeholder 4"/>
          <p:cNvSpPr>
            <a:spLocks noGrp="1"/>
          </p:cNvSpPr>
          <p:nvPr>
            <p:ph type="dt" sz="half" idx="10"/>
          </p:nvPr>
        </p:nvSpPr>
        <p:spPr/>
        <p:txBody>
          <a:bodyPr/>
          <a:lstStyle/>
          <a:p>
            <a:fld id="{244CFEC1-4501-4E65-92A0-542AC1F01B0C}"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D96FED-6669-45E1-8503-A8F087C45F00}"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7" name="Date Placeholder 6"/>
          <p:cNvSpPr>
            <a:spLocks noGrp="1"/>
          </p:cNvSpPr>
          <p:nvPr>
            <p:ph type="dt" sz="half" idx="10"/>
          </p:nvPr>
        </p:nvSpPr>
        <p:spPr/>
        <p:txBody>
          <a:bodyPr/>
          <a:lstStyle/>
          <a:p>
            <a:fld id="{244CFEC1-4501-4E65-92A0-542AC1F01B0C}"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5D96FED-6669-45E1-8503-A8F087C45F00}"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244CFEC1-4501-4E65-92A0-542AC1F01B0C}"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5D96FED-6669-45E1-8503-A8F087C45F00}"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4CFEC1-4501-4E65-92A0-542AC1F01B0C}"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5D96FED-6669-45E1-8503-A8F087C45F00}"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44CFEC1-4501-4E65-92A0-542AC1F01B0C}"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D96FED-6669-45E1-8503-A8F087C45F00}"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44CFEC1-4501-4E65-92A0-542AC1F01B0C}"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D96FED-6669-45E1-8503-A8F087C45F00}"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244CFEC1-4501-4E65-92A0-542AC1F01B0C}"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D96FED-6669-45E1-8503-A8F087C45F00}"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244CFEC1-4501-4E65-92A0-542AC1F01B0C}"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D96FED-6669-45E1-8503-A8F087C45F00}"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4CFEC1-4501-4E65-92A0-542AC1F01B0C}" type="datetimeFigureOut">
              <a:rPr lang="en-GB" smtClean="0"/>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D96FED-6669-45E1-8503-A8F087C45F00}"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microsoft.com/office/2007/relationships/media" Target="../media/media1.mp4"/><Relationship Id="rId1" Type="http://schemas.openxmlformats.org/officeDocument/2006/relationships/video" Target="../media/media1.mp4"/></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GI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5872"/>
          <a:stretch>
            <a:fillRect/>
          </a:stretch>
        </p:blipFill>
        <p:spPr>
          <a:xfrm>
            <a:off x="7506364" y="2407640"/>
            <a:ext cx="4319032" cy="4165134"/>
          </a:xfrm>
          <a:prstGeom prst="rect">
            <a:avLst/>
          </a:prstGeom>
        </p:spPr>
      </p:pic>
      <p:sp>
        <p:nvSpPr>
          <p:cNvPr id="6" name="TextBox 5"/>
          <p:cNvSpPr txBox="1"/>
          <p:nvPr/>
        </p:nvSpPr>
        <p:spPr>
          <a:xfrm>
            <a:off x="1677798" y="377505"/>
            <a:ext cx="8892330" cy="646331"/>
          </a:xfrm>
          <a:prstGeom prst="rect">
            <a:avLst/>
          </a:prstGeom>
          <a:noFill/>
        </p:spPr>
        <p:txBody>
          <a:bodyPr wrap="square" rtlCol="0">
            <a:spAutoFit/>
          </a:bodyPr>
          <a:lstStyle/>
          <a:p>
            <a:r>
              <a:rPr lang="en-GB" sz="3600" dirty="0"/>
              <a:t>Moving a robot.</a:t>
            </a:r>
            <a:endParaRPr lang="en-GB" sz="3600" dirty="0"/>
          </a:p>
        </p:txBody>
      </p:sp>
      <p:sp>
        <p:nvSpPr>
          <p:cNvPr id="7" name="TextBox 6"/>
          <p:cNvSpPr txBox="1"/>
          <p:nvPr/>
        </p:nvSpPr>
        <p:spPr>
          <a:xfrm>
            <a:off x="0" y="1451295"/>
            <a:ext cx="5897461" cy="523220"/>
          </a:xfrm>
          <a:prstGeom prst="rect">
            <a:avLst/>
          </a:prstGeom>
          <a:noFill/>
        </p:spPr>
        <p:txBody>
          <a:bodyPr wrap="square" rtlCol="0">
            <a:spAutoFit/>
          </a:bodyPr>
          <a:lstStyle/>
          <a:p>
            <a:r>
              <a:rPr lang="en-GB" sz="2800" dirty="0"/>
              <a:t>How can we make the robot move?</a:t>
            </a:r>
            <a:endParaRPr lang="en-GB" sz="2800" dirty="0"/>
          </a:p>
        </p:txBody>
      </p:sp>
      <p:sp>
        <p:nvSpPr>
          <p:cNvPr id="8" name="Rectangle 7"/>
          <p:cNvSpPr/>
          <p:nvPr/>
        </p:nvSpPr>
        <p:spPr>
          <a:xfrm>
            <a:off x="7506364" y="2080470"/>
            <a:ext cx="1587302" cy="46726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0" y="1878754"/>
            <a:ext cx="7466202" cy="954107"/>
          </a:xfrm>
          <a:prstGeom prst="rect">
            <a:avLst/>
          </a:prstGeom>
          <a:noFill/>
        </p:spPr>
        <p:txBody>
          <a:bodyPr wrap="square" rtlCol="0">
            <a:spAutoFit/>
          </a:bodyPr>
          <a:lstStyle/>
          <a:p>
            <a:r>
              <a:rPr lang="en-GB" sz="2800" dirty="0"/>
              <a:t>Obviously, we connect power to the DC motors.</a:t>
            </a:r>
            <a:endParaRPr lang="en-GB" sz="2800" dirty="0"/>
          </a:p>
          <a:p>
            <a:r>
              <a:rPr lang="en-GB" sz="2800" dirty="0"/>
              <a:t>This will move it in a straight line at a set speed.</a:t>
            </a:r>
            <a:endParaRPr lang="en-GB"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5872"/>
          <a:stretch>
            <a:fillRect/>
          </a:stretch>
        </p:blipFill>
        <p:spPr>
          <a:xfrm rot="5400000">
            <a:off x="6641125" y="3910398"/>
            <a:ext cx="2738849" cy="2641257"/>
          </a:xfrm>
          <a:prstGeom prst="rect">
            <a:avLst/>
          </a:prstGeom>
        </p:spPr>
      </p:pic>
      <p:sp>
        <p:nvSpPr>
          <p:cNvPr id="6" name="TextBox 5"/>
          <p:cNvSpPr txBox="1"/>
          <p:nvPr/>
        </p:nvSpPr>
        <p:spPr>
          <a:xfrm>
            <a:off x="1677798" y="377505"/>
            <a:ext cx="8892330" cy="646331"/>
          </a:xfrm>
          <a:prstGeom prst="rect">
            <a:avLst/>
          </a:prstGeom>
          <a:noFill/>
        </p:spPr>
        <p:txBody>
          <a:bodyPr wrap="square" rtlCol="0">
            <a:spAutoFit/>
          </a:bodyPr>
          <a:lstStyle/>
          <a:p>
            <a:r>
              <a:rPr lang="en-GB" sz="3600" dirty="0"/>
              <a:t>Turning a robot.</a:t>
            </a:r>
            <a:endParaRPr lang="en-GB" sz="3600" dirty="0"/>
          </a:p>
        </p:txBody>
      </p:sp>
      <p:sp>
        <p:nvSpPr>
          <p:cNvPr id="10" name="TextBox 9"/>
          <p:cNvSpPr txBox="1"/>
          <p:nvPr/>
        </p:nvSpPr>
        <p:spPr>
          <a:xfrm>
            <a:off x="0" y="1141308"/>
            <a:ext cx="6761527" cy="523220"/>
          </a:xfrm>
          <a:prstGeom prst="rect">
            <a:avLst/>
          </a:prstGeom>
          <a:noFill/>
        </p:spPr>
        <p:txBody>
          <a:bodyPr wrap="square" rtlCol="0">
            <a:spAutoFit/>
          </a:bodyPr>
          <a:lstStyle/>
          <a:p>
            <a:r>
              <a:rPr lang="en-GB" sz="2800" dirty="0"/>
              <a:t>How can we make the robot turn?</a:t>
            </a:r>
            <a:endParaRPr lang="en-GB" sz="2800" dirty="0"/>
          </a:p>
        </p:txBody>
      </p:sp>
      <p:sp>
        <p:nvSpPr>
          <p:cNvPr id="11" name="TextBox 10"/>
          <p:cNvSpPr txBox="1"/>
          <p:nvPr/>
        </p:nvSpPr>
        <p:spPr>
          <a:xfrm>
            <a:off x="40162" y="1534778"/>
            <a:ext cx="7466202" cy="1815882"/>
          </a:xfrm>
          <a:prstGeom prst="rect">
            <a:avLst/>
          </a:prstGeom>
          <a:noFill/>
        </p:spPr>
        <p:txBody>
          <a:bodyPr wrap="square" rtlCol="0">
            <a:spAutoFit/>
          </a:bodyPr>
          <a:lstStyle/>
          <a:p>
            <a:r>
              <a:rPr lang="en-GB" sz="2800" dirty="0"/>
              <a:t>The wheel directions are fixed, so we need to vary the speed of the wheels. By making one wheel turn faster than the other we can control the direction </a:t>
            </a:r>
            <a:endParaRPr lang="en-GB" sz="2800" dirty="0"/>
          </a:p>
        </p:txBody>
      </p:sp>
      <p:sp>
        <p:nvSpPr>
          <p:cNvPr id="13" name="Arc 12"/>
          <p:cNvSpPr/>
          <p:nvPr/>
        </p:nvSpPr>
        <p:spPr>
          <a:xfrm rot="16200000">
            <a:off x="8010381" y="2768850"/>
            <a:ext cx="2185840" cy="2185504"/>
          </a:xfrm>
          <a:prstGeom prst="arc">
            <a:avLst/>
          </a:prstGeom>
          <a:ln w="762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TextBox 13"/>
          <p:cNvSpPr txBox="1"/>
          <p:nvPr/>
        </p:nvSpPr>
        <p:spPr>
          <a:xfrm>
            <a:off x="9507794" y="5437239"/>
            <a:ext cx="943896" cy="369332"/>
          </a:xfrm>
          <a:prstGeom prst="rect">
            <a:avLst/>
          </a:prstGeom>
          <a:noFill/>
        </p:spPr>
        <p:txBody>
          <a:bodyPr wrap="square" rtlCol="0">
            <a:spAutoFit/>
          </a:bodyPr>
          <a:lstStyle/>
          <a:p>
            <a:r>
              <a:rPr lang="en-GB" dirty="0"/>
              <a:t>STOP</a:t>
            </a:r>
            <a:endParaRPr lang="en-GB" dirty="0"/>
          </a:p>
        </p:txBody>
      </p:sp>
      <p:sp>
        <p:nvSpPr>
          <p:cNvPr id="15" name="TextBox 14"/>
          <p:cNvSpPr txBox="1"/>
          <p:nvPr/>
        </p:nvSpPr>
        <p:spPr>
          <a:xfrm>
            <a:off x="5593625" y="5404973"/>
            <a:ext cx="943896" cy="369332"/>
          </a:xfrm>
          <a:prstGeom prst="rect">
            <a:avLst/>
          </a:prstGeom>
          <a:noFill/>
        </p:spPr>
        <p:txBody>
          <a:bodyPr wrap="square" rtlCol="0">
            <a:spAutoFit/>
          </a:bodyPr>
          <a:lstStyle/>
          <a:p>
            <a:r>
              <a:rPr lang="en-GB" dirty="0"/>
              <a:t>GO</a:t>
            </a:r>
            <a:endParaRPr lang="en-GB" dirty="0"/>
          </a:p>
        </p:txBody>
      </p:sp>
      <p:cxnSp>
        <p:nvCxnSpPr>
          <p:cNvPr id="17" name="Straight Arrow Connector 16"/>
          <p:cNvCxnSpPr>
            <a:endCxn id="15" idx="3"/>
          </p:cNvCxnSpPr>
          <p:nvPr/>
        </p:nvCxnSpPr>
        <p:spPr>
          <a:xfrm>
            <a:off x="6123963" y="5589639"/>
            <a:ext cx="41355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9419928" y="5807202"/>
            <a:ext cx="40650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8988696" y="2768682"/>
            <a:ext cx="41355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There are many limits to this.</a:t>
            </a:r>
            <a:endParaRPr lang="en-GB" dirty="0"/>
          </a:p>
        </p:txBody>
      </p:sp>
      <p:sp>
        <p:nvSpPr>
          <p:cNvPr id="3" name="Content Placeholder 2"/>
          <p:cNvSpPr>
            <a:spLocks noGrp="1"/>
          </p:cNvSpPr>
          <p:nvPr>
            <p:ph idx="1"/>
          </p:nvPr>
        </p:nvSpPr>
        <p:spPr/>
        <p:txBody>
          <a:bodyPr/>
          <a:lstStyle/>
          <a:p>
            <a:pPr marL="514350" indent="-514350">
              <a:buAutoNum type="arabicParenR"/>
            </a:pPr>
            <a:r>
              <a:rPr lang="en-GB" dirty="0"/>
              <a:t>We are using an Arduino pin for each wheel.</a:t>
            </a:r>
            <a:endParaRPr lang="en-GB" dirty="0"/>
          </a:p>
          <a:p>
            <a:pPr marL="514350" indent="-514350">
              <a:buAutoNum type="arabicParenR"/>
            </a:pPr>
            <a:r>
              <a:rPr lang="en-GB" dirty="0"/>
              <a:t>The robot can only move forwards</a:t>
            </a:r>
            <a:endParaRPr lang="en-GB" dirty="0"/>
          </a:p>
          <a:p>
            <a:pPr marL="514350" indent="-514350">
              <a:buAutoNum type="arabicParenR"/>
            </a:pPr>
            <a:r>
              <a:rPr lang="en-GB" dirty="0"/>
              <a:t>The robot has a large turning circle</a:t>
            </a:r>
            <a:endParaRPr lang="en-GB" dirty="0"/>
          </a:p>
          <a:p>
            <a:pPr marL="514350" indent="-514350">
              <a:buAutoNum type="arabicParenR"/>
            </a:pPr>
            <a:r>
              <a:rPr lang="en-GB" dirty="0"/>
              <a:t>We cannot alter the speed of the robot.</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Reverse</a:t>
            </a:r>
            <a:endParaRPr lang="en-GB" dirty="0"/>
          </a:p>
        </p:txBody>
      </p:sp>
      <p:sp>
        <p:nvSpPr>
          <p:cNvPr id="3" name="Content Placeholder 2"/>
          <p:cNvSpPr>
            <a:spLocks noGrp="1"/>
          </p:cNvSpPr>
          <p:nvPr>
            <p:ph idx="1"/>
          </p:nvPr>
        </p:nvSpPr>
        <p:spPr/>
        <p:txBody>
          <a:bodyPr/>
          <a:lstStyle/>
          <a:p>
            <a:pPr marL="0" indent="0">
              <a:buNone/>
            </a:pPr>
            <a:r>
              <a:rPr lang="en-GB" dirty="0"/>
              <a:t>If the motor can reverse direction it gives us more manoeuvrability.  Not only can we go in reverse, but we can also “spin” on the spot to turn around.</a:t>
            </a:r>
            <a:endParaRPr lang="en-GB" dirty="0"/>
          </a:p>
          <a:p>
            <a:pPr marL="0" indent="0">
              <a:buNone/>
            </a:pPr>
            <a:endParaRPr lang="en-GB" dirty="0"/>
          </a:p>
          <a:p>
            <a:pPr marL="0" indent="0">
              <a:buNone/>
            </a:pPr>
            <a:r>
              <a:rPr lang="en-GB" dirty="0"/>
              <a:t>Let’s look at a short video.</a:t>
            </a: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Turning Robot">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8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This is what we want to do!</a:t>
            </a:r>
            <a:endParaRPr lang="en-GB" dirty="0"/>
          </a:p>
        </p:txBody>
      </p:sp>
      <p:sp>
        <p:nvSpPr>
          <p:cNvPr id="3" name="Content Placeholder 2"/>
          <p:cNvSpPr>
            <a:spLocks noGrp="1"/>
          </p:cNvSpPr>
          <p:nvPr>
            <p:ph idx="1"/>
          </p:nvPr>
        </p:nvSpPr>
        <p:spPr/>
        <p:txBody>
          <a:bodyPr/>
          <a:lstStyle/>
          <a:p>
            <a:pPr marL="0" indent="0">
              <a:buNone/>
            </a:pPr>
            <a:r>
              <a:rPr lang="en-GB" dirty="0"/>
              <a:t>The way to make a DC motor turn faster or slower is by changing the voltage.</a:t>
            </a:r>
            <a:endParaRPr lang="en-GB" dirty="0"/>
          </a:p>
          <a:p>
            <a:pPr marL="0" indent="0">
              <a:buNone/>
            </a:pPr>
            <a:endParaRPr lang="en-GB" dirty="0"/>
          </a:p>
          <a:p>
            <a:pPr marL="0" indent="0">
              <a:buNone/>
            </a:pPr>
            <a:r>
              <a:rPr lang="en-GB" dirty="0"/>
              <a:t>But our Arduino boards can only output a single voltage – 5V.  They can’t output 2V or 3.5V.</a:t>
            </a:r>
            <a:endParaRPr lang="en-GB" dirty="0"/>
          </a:p>
          <a:p>
            <a:pPr marL="0" indent="0">
              <a:buNone/>
            </a:pPr>
            <a:endParaRPr lang="en-GB" dirty="0"/>
          </a:p>
          <a:p>
            <a:pPr marL="0" indent="0">
              <a:buNone/>
            </a:pPr>
            <a:r>
              <a:rPr lang="en-GB" dirty="0"/>
              <a:t>So, how can we change the speed of our motor?</a:t>
            </a: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PWM</a:t>
            </a:r>
            <a:endParaRPr lang="en-GB" dirty="0"/>
          </a:p>
        </p:txBody>
      </p:sp>
      <p:sp>
        <p:nvSpPr>
          <p:cNvPr id="3" name="Content Placeholder 2"/>
          <p:cNvSpPr>
            <a:spLocks noGrp="1"/>
          </p:cNvSpPr>
          <p:nvPr>
            <p:ph idx="1"/>
          </p:nvPr>
        </p:nvSpPr>
        <p:spPr>
          <a:xfrm>
            <a:off x="838200" y="1825625"/>
            <a:ext cx="11049000" cy="4351338"/>
          </a:xfrm>
        </p:spPr>
        <p:txBody>
          <a:bodyPr>
            <a:normAutofit/>
          </a:bodyPr>
          <a:lstStyle/>
          <a:p>
            <a:pPr marL="0" indent="0">
              <a:buNone/>
            </a:pPr>
            <a:r>
              <a:rPr lang="en-GB" dirty="0"/>
              <a:t>On your Arduino, you have seen the pins called PWM.  You know that they control how fast a motor will turn.  But do you know how they do it?</a:t>
            </a:r>
            <a:endParaRPr lang="en-GB" dirty="0"/>
          </a:p>
          <a:p>
            <a:pPr marL="0" indent="0">
              <a:buNone/>
            </a:pPr>
            <a:endParaRPr lang="en-GB" dirty="0"/>
          </a:p>
          <a:p>
            <a:pPr marL="0" indent="0">
              <a:buNone/>
            </a:pPr>
            <a:r>
              <a:rPr lang="en-GB" dirty="0"/>
              <a:t>Our Arduinos can only output 5V or 0V.</a:t>
            </a:r>
            <a:endParaRPr lang="en-GB" dirty="0"/>
          </a:p>
          <a:p>
            <a:pPr marL="0" indent="0">
              <a:buNone/>
            </a:pPr>
            <a:r>
              <a:rPr lang="en-GB" dirty="0"/>
              <a:t>The board uses a technique called Pulse Width Modulation to control how often the pin has 5V and 0V.</a:t>
            </a:r>
            <a:endParaRPr lang="en-GB" dirty="0"/>
          </a:p>
          <a:p>
            <a:pPr marL="0" indent="0">
              <a:buNone/>
            </a:pPr>
            <a:endParaRPr lang="en-GB" dirty="0"/>
          </a:p>
          <a:p>
            <a:pPr marL="0" indent="0">
              <a:buNone/>
            </a:pPr>
            <a:r>
              <a:rPr lang="en-GB" dirty="0"/>
              <a:t>The PWM pins can use a value between 0 and 255 to determine the speed.</a:t>
            </a:r>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1278" y="-147"/>
            <a:ext cx="6263148" cy="68581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659329" y="707923"/>
            <a:ext cx="2812026" cy="523220"/>
          </a:xfrm>
          <a:prstGeom prst="rect">
            <a:avLst/>
          </a:prstGeom>
          <a:noFill/>
        </p:spPr>
        <p:txBody>
          <a:bodyPr wrap="square" rtlCol="0">
            <a:spAutoFit/>
          </a:bodyPr>
          <a:lstStyle/>
          <a:p>
            <a:r>
              <a:rPr lang="en-GB" sz="2800" dirty="0"/>
              <a:t>Stopped.</a:t>
            </a:r>
            <a:endParaRPr lang="en-GB" sz="2800" dirty="0"/>
          </a:p>
        </p:txBody>
      </p:sp>
      <p:sp>
        <p:nvSpPr>
          <p:cNvPr id="6" name="TextBox 5"/>
          <p:cNvSpPr txBox="1"/>
          <p:nvPr/>
        </p:nvSpPr>
        <p:spPr>
          <a:xfrm>
            <a:off x="7659329" y="2227007"/>
            <a:ext cx="2812026" cy="523220"/>
          </a:xfrm>
          <a:prstGeom prst="rect">
            <a:avLst/>
          </a:prstGeom>
          <a:noFill/>
        </p:spPr>
        <p:txBody>
          <a:bodyPr wrap="square" rtlCol="0">
            <a:spAutoFit/>
          </a:bodyPr>
          <a:lstStyle/>
          <a:p>
            <a:r>
              <a:rPr lang="en-GB" sz="2800" dirty="0"/>
              <a:t>1/4 speed.</a:t>
            </a:r>
            <a:endParaRPr lang="en-GB" sz="2800" dirty="0"/>
          </a:p>
        </p:txBody>
      </p:sp>
      <p:sp>
        <p:nvSpPr>
          <p:cNvPr id="7" name="TextBox 6"/>
          <p:cNvSpPr txBox="1"/>
          <p:nvPr/>
        </p:nvSpPr>
        <p:spPr>
          <a:xfrm>
            <a:off x="7659329" y="3484481"/>
            <a:ext cx="2812026" cy="523220"/>
          </a:xfrm>
          <a:prstGeom prst="rect">
            <a:avLst/>
          </a:prstGeom>
          <a:noFill/>
        </p:spPr>
        <p:txBody>
          <a:bodyPr wrap="square" rtlCol="0">
            <a:spAutoFit/>
          </a:bodyPr>
          <a:lstStyle/>
          <a:p>
            <a:r>
              <a:rPr lang="en-GB" sz="2800" dirty="0"/>
              <a:t>1/2 speed.</a:t>
            </a:r>
            <a:endParaRPr lang="en-GB" sz="2800" dirty="0"/>
          </a:p>
        </p:txBody>
      </p:sp>
      <p:sp>
        <p:nvSpPr>
          <p:cNvPr id="8" name="TextBox 7"/>
          <p:cNvSpPr txBox="1"/>
          <p:nvPr/>
        </p:nvSpPr>
        <p:spPr>
          <a:xfrm>
            <a:off x="7733070" y="4741955"/>
            <a:ext cx="4085303" cy="523220"/>
          </a:xfrm>
          <a:prstGeom prst="rect">
            <a:avLst/>
          </a:prstGeom>
          <a:noFill/>
        </p:spPr>
        <p:txBody>
          <a:bodyPr wrap="square" rtlCol="0">
            <a:spAutoFit/>
          </a:bodyPr>
          <a:lstStyle/>
          <a:p>
            <a:r>
              <a:rPr lang="en-GB" sz="2800" dirty="0"/>
              <a:t>3/4 speed</a:t>
            </a:r>
            <a:endParaRPr lang="en-GB" sz="2800" dirty="0"/>
          </a:p>
        </p:txBody>
      </p:sp>
      <p:sp>
        <p:nvSpPr>
          <p:cNvPr id="9" name="TextBox 8"/>
          <p:cNvSpPr txBox="1"/>
          <p:nvPr/>
        </p:nvSpPr>
        <p:spPr>
          <a:xfrm>
            <a:off x="7733070" y="5888467"/>
            <a:ext cx="2812026" cy="523220"/>
          </a:xfrm>
          <a:prstGeom prst="rect">
            <a:avLst/>
          </a:prstGeom>
          <a:noFill/>
        </p:spPr>
        <p:txBody>
          <a:bodyPr wrap="square" rtlCol="0">
            <a:spAutoFit/>
          </a:bodyPr>
          <a:lstStyle/>
          <a:p>
            <a:r>
              <a:rPr lang="en-GB" sz="2800" dirty="0"/>
              <a:t>full speed.</a:t>
            </a:r>
            <a:endParaRPr lang="en-GB"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7262"/>
          </a:xfrm>
        </p:spPr>
        <p:txBody>
          <a:bodyPr>
            <a:normAutofit fontScale="90000"/>
          </a:bodyPr>
          <a:lstStyle/>
          <a:p>
            <a:r>
              <a:rPr lang="en-GB" dirty="0"/>
              <a:t>Transistors</a:t>
            </a:r>
            <a:endParaRPr lang="en-GB" dirty="0"/>
          </a:p>
        </p:txBody>
      </p:sp>
      <p:pic>
        <p:nvPicPr>
          <p:cNvPr id="5126" name="Picture 6" descr="NPN transistor bias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 y="1281421"/>
            <a:ext cx="6111892" cy="4431121"/>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PNP transistor bias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0532" y="1583880"/>
            <a:ext cx="6091467" cy="41286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do we use transistors?</a:t>
            </a:r>
            <a:endParaRPr lang="en-GB" dirty="0"/>
          </a:p>
        </p:txBody>
      </p:sp>
      <p:sp>
        <p:nvSpPr>
          <p:cNvPr id="3" name="Content Placeholder 2"/>
          <p:cNvSpPr>
            <a:spLocks noGrp="1"/>
          </p:cNvSpPr>
          <p:nvPr>
            <p:ph idx="1"/>
          </p:nvPr>
        </p:nvSpPr>
        <p:spPr>
          <a:xfrm>
            <a:off x="199104" y="1690687"/>
            <a:ext cx="6693309" cy="4916589"/>
          </a:xfrm>
        </p:spPr>
        <p:txBody>
          <a:bodyPr>
            <a:normAutofit/>
          </a:bodyPr>
          <a:lstStyle/>
          <a:p>
            <a:pPr marL="0" indent="0">
              <a:buNone/>
            </a:pPr>
            <a:r>
              <a:rPr lang="en-GB" dirty="0"/>
              <a:t>Sometimes motors need to use a higher voltage than our Arduino can provide.  In these situations we use a second power supply and use a transistor to turn it on and off as needed.</a:t>
            </a:r>
            <a:endParaRPr lang="en-GB" dirty="0"/>
          </a:p>
          <a:p>
            <a:pPr marL="0" indent="0">
              <a:buNone/>
            </a:pPr>
            <a:endParaRPr lang="en-GB" dirty="0"/>
          </a:p>
          <a:p>
            <a:pPr marL="0" indent="0">
              <a:buNone/>
            </a:pPr>
            <a:r>
              <a:rPr lang="en-GB" dirty="0"/>
              <a:t>We supply commonly use an NPN transistor and connect our 5V pin to the base.  When our pin becomes HIGH the transistor will activate and our input voltage will flow.</a:t>
            </a:r>
            <a:endParaRPr lang="en-GB" dirty="0"/>
          </a:p>
        </p:txBody>
      </p:sp>
      <p:pic>
        <p:nvPicPr>
          <p:cNvPr id="6146" name="Picture 2" descr="Schematic view of a potentiometer connected to analog in 0 of the Arduino."/>
          <p:cNvPicPr>
            <a:picLocks noChangeAspect="1" noChangeArrowheads="1"/>
          </p:cNvPicPr>
          <p:nvPr/>
        </p:nvPicPr>
        <p:blipFill rotWithShape="1">
          <a:blip r:embed="rId1">
            <a:extLst>
              <a:ext uri="{28A0092B-C50C-407E-A947-70E740481C1C}">
                <a14:useLocalDpi xmlns:a14="http://schemas.microsoft.com/office/drawing/2010/main" val="0"/>
              </a:ext>
            </a:extLst>
          </a:blip>
          <a:srcRect l="51481"/>
          <a:stretch>
            <a:fillRect/>
          </a:stretch>
        </p:blipFill>
        <p:spPr bwMode="auto">
          <a:xfrm>
            <a:off x="7482348" y="628650"/>
            <a:ext cx="4510548" cy="56007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586741" y="3570398"/>
            <a:ext cx="1384161" cy="523220"/>
          </a:xfrm>
          <a:prstGeom prst="rect">
            <a:avLst/>
          </a:prstGeom>
          <a:noFill/>
        </p:spPr>
        <p:txBody>
          <a:bodyPr wrap="none" rtlCol="0">
            <a:spAutoFit/>
          </a:bodyPr>
          <a:lstStyle/>
          <a:p>
            <a:r>
              <a:rPr lang="en-GB" sz="2800" b="1" dirty="0"/>
              <a:t>Arduino</a:t>
            </a:r>
            <a:endParaRPr lang="en-GB"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5249"/>
          </a:xfrm>
        </p:spPr>
        <p:txBody>
          <a:bodyPr/>
          <a:lstStyle/>
          <a:p>
            <a:r>
              <a:rPr lang="en-GB" dirty="0"/>
              <a:t>Reverse?</a:t>
            </a:r>
            <a:endParaRPr lang="en-GB" dirty="0"/>
          </a:p>
        </p:txBody>
      </p:sp>
      <p:sp>
        <p:nvSpPr>
          <p:cNvPr id="3" name="Content Placeholder 2"/>
          <p:cNvSpPr>
            <a:spLocks noGrp="1"/>
          </p:cNvSpPr>
          <p:nvPr>
            <p:ph idx="1"/>
          </p:nvPr>
        </p:nvSpPr>
        <p:spPr/>
        <p:txBody>
          <a:bodyPr/>
          <a:lstStyle/>
          <a:p>
            <a:pPr marL="0" indent="0">
              <a:buNone/>
            </a:pPr>
            <a:r>
              <a:rPr lang="en-GB" dirty="0"/>
              <a:t>That’s all good, but how do we make it go in reverse?</a:t>
            </a:r>
            <a:endParaRPr lang="en-GB" dirty="0"/>
          </a:p>
          <a:p>
            <a:pPr marL="0" indent="0">
              <a:buNone/>
            </a:pPr>
            <a:endParaRPr lang="en-GB" dirty="0"/>
          </a:p>
          <a:p>
            <a:pPr marL="0" indent="0">
              <a:buNone/>
            </a:pPr>
            <a:r>
              <a:rPr lang="en-GB" dirty="0"/>
              <a:t>As you know (and can demonstrate). You can reverse the turning direction by reversing the voltage.  That’s easy to do by hand, but if we try doing that with our Arduino pins, it gets a little hard.</a:t>
            </a:r>
            <a:endParaRPr lang="en-GB" dirty="0"/>
          </a:p>
          <a:p>
            <a:pPr marL="0" indent="0">
              <a:buNone/>
            </a:pPr>
            <a:endParaRPr lang="en-GB" dirty="0"/>
          </a:p>
          <a:p>
            <a:pPr marL="0" indent="0">
              <a:buNone/>
            </a:pPr>
            <a:r>
              <a:rPr lang="en-GB" dirty="0"/>
              <a:t>We can use transistors and diodes to make a circuit that lets us do all this.  It’s called a H-bridge, and is fairly well known.</a:t>
            </a: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l293d clock wise direction current flow"/>
          <p:cNvPicPr>
            <a:picLocks noChangeAspect="1" noChangeArrowheads="1"/>
          </p:cNvPicPr>
          <p:nvPr/>
        </p:nvPicPr>
        <p:blipFill rotWithShape="1">
          <a:blip r:embed="rId1">
            <a:extLst>
              <a:ext uri="{28A0092B-C50C-407E-A947-70E740481C1C}">
                <a14:useLocalDpi xmlns:a14="http://schemas.microsoft.com/office/drawing/2010/main" val="0"/>
              </a:ext>
            </a:extLst>
          </a:blip>
          <a:srcRect b="16073"/>
          <a:stretch>
            <a:fillRect/>
          </a:stretch>
        </p:blipFill>
        <p:spPr bwMode="auto">
          <a:xfrm>
            <a:off x="5871883" y="1265903"/>
            <a:ext cx="6320117" cy="432619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235974" y="902474"/>
            <a:ext cx="5417574" cy="4832092"/>
          </a:xfrm>
          <a:prstGeom prst="rect">
            <a:avLst/>
          </a:prstGeom>
          <a:noFill/>
        </p:spPr>
        <p:txBody>
          <a:bodyPr wrap="square">
            <a:spAutoFit/>
          </a:bodyPr>
          <a:lstStyle/>
          <a:p>
            <a:r>
              <a:rPr lang="en-GB" sz="2800" b="0" i="0" dirty="0">
                <a:solidFill>
                  <a:srgbClr val="313131"/>
                </a:solidFill>
                <a:effectLst/>
                <a:latin typeface="Open Sans"/>
              </a:rPr>
              <a:t>When input 1 is closed and input 2 is opened transistor Q3 and Q2 are opened/operational, allowing current to flow from them. The motor connected across the output 1 and 2 now starts rotating. The motor direction of rotation is clock wise. One PNP and one NPN transistor is activated when one input is closed and other is opened.</a:t>
            </a:r>
            <a:endParaRPr lang="en-GB"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14222"/>
          <a:stretch>
            <a:fillRect/>
          </a:stretch>
        </p:blipFill>
        <p:spPr bwMode="auto">
          <a:xfrm>
            <a:off x="145488" y="1"/>
            <a:ext cx="6863568" cy="466049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725265" y="566678"/>
            <a:ext cx="5321247" cy="3416320"/>
          </a:xfrm>
          <a:prstGeom prst="rect">
            <a:avLst/>
          </a:prstGeom>
          <a:noFill/>
        </p:spPr>
        <p:txBody>
          <a:bodyPr wrap="square">
            <a:spAutoFit/>
          </a:bodyPr>
          <a:lstStyle/>
          <a:p>
            <a:r>
              <a:rPr lang="en-GB" sz="2400" b="0" i="0" dirty="0">
                <a:solidFill>
                  <a:srgbClr val="313131"/>
                </a:solidFill>
                <a:effectLst/>
                <a:latin typeface="Open Sans"/>
              </a:rPr>
              <a:t>When input 1 is opened and input 2 is closed transistor Q4 and Q1 are operational. Current start flowing through this path and the motor starts moving in the anti clock wise direction. Enable is still at high potential and vs is supplied  battery required voltage.</a:t>
            </a:r>
            <a:br>
              <a:rPr lang="en-GB" sz="2400" dirty="0"/>
            </a:br>
            <a:endParaRPr lang="en-GB" sz="2400" dirty="0"/>
          </a:p>
        </p:txBody>
      </p:sp>
      <p:sp>
        <p:nvSpPr>
          <p:cNvPr id="8" name="TextBox 7"/>
          <p:cNvSpPr txBox="1"/>
          <p:nvPr/>
        </p:nvSpPr>
        <p:spPr>
          <a:xfrm>
            <a:off x="529272" y="5082033"/>
            <a:ext cx="11517240" cy="1569660"/>
          </a:xfrm>
          <a:prstGeom prst="rect">
            <a:avLst/>
          </a:prstGeom>
          <a:noFill/>
        </p:spPr>
        <p:txBody>
          <a:bodyPr wrap="square">
            <a:spAutoFit/>
          </a:bodyPr>
          <a:lstStyle/>
          <a:p>
            <a:r>
              <a:rPr lang="en-GB" sz="2400" b="0" i="0" dirty="0">
                <a:solidFill>
                  <a:srgbClr val="313131"/>
                </a:solidFill>
                <a:effectLst/>
                <a:latin typeface="Open Sans"/>
              </a:rPr>
              <a:t>If both the input 1 and input 2 are opened or closed to current path will be established and motor will not rotate. If any input is closed and enable is not at high potential than still the circuit will not work. Enable is a master pin and controls the whole circuit.  </a:t>
            </a:r>
            <a:endParaRPr lang="en-GB"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60552"/>
          </a:xfrm>
        </p:spPr>
        <p:txBody>
          <a:bodyPr/>
          <a:lstStyle/>
          <a:p>
            <a:r>
              <a:rPr lang="en-GB" dirty="0"/>
              <a:t>H-Bridge controlling a motor</a:t>
            </a:r>
            <a:endParaRPr lang="en-GB" dirty="0"/>
          </a:p>
        </p:txBody>
      </p:sp>
      <p:pic>
        <p:nvPicPr>
          <p:cNvPr id="7" name="Content Placeholder 6"/>
          <p:cNvPicPr>
            <a:picLocks noGrp="1" noChangeAspect="1"/>
          </p:cNvPicPr>
          <p:nvPr>
            <p:ph idx="1"/>
          </p:nvPr>
        </p:nvPicPr>
        <p:blipFill rotWithShape="1">
          <a:blip r:embed="rId1"/>
          <a:srcRect l="2329" r="5102" b="15788"/>
          <a:stretch>
            <a:fillRect/>
          </a:stretch>
        </p:blipFill>
        <p:spPr>
          <a:xfrm>
            <a:off x="88099" y="1322726"/>
            <a:ext cx="12099968" cy="483226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This is a little messy and hard work.</a:t>
            </a:r>
            <a:endParaRPr lang="en-GB" dirty="0"/>
          </a:p>
        </p:txBody>
      </p:sp>
      <p:pic>
        <p:nvPicPr>
          <p:cNvPr id="4098" name="Picture 2" descr="See the source imag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13704" y="1366591"/>
            <a:ext cx="6587612" cy="55035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L293D H Bridge</a:t>
            </a:r>
            <a:endParaRPr lang="en-GB" dirty="0"/>
          </a:p>
        </p:txBody>
      </p:sp>
      <p:pic>
        <p:nvPicPr>
          <p:cNvPr id="7" name="Content Placeholder 6"/>
          <p:cNvPicPr>
            <a:picLocks noGrp="1" noChangeAspect="1"/>
          </p:cNvPicPr>
          <p:nvPr>
            <p:ph idx="1"/>
          </p:nvPr>
        </p:nvPicPr>
        <p:blipFill>
          <a:blip r:embed="rId1"/>
          <a:stretch>
            <a:fillRect/>
          </a:stretch>
        </p:blipFill>
        <p:spPr>
          <a:xfrm>
            <a:off x="956153" y="1327356"/>
            <a:ext cx="3566686" cy="5426644"/>
          </a:xfrm>
          <a:prstGeom prst="rect">
            <a:avLst/>
          </a:prstGeom>
        </p:spPr>
      </p:pic>
      <p:sp>
        <p:nvSpPr>
          <p:cNvPr id="3" name="TextBox 2"/>
          <p:cNvSpPr txBox="1"/>
          <p:nvPr/>
        </p:nvSpPr>
        <p:spPr>
          <a:xfrm>
            <a:off x="4630994" y="2113935"/>
            <a:ext cx="7325032" cy="2677656"/>
          </a:xfrm>
          <a:prstGeom prst="rect">
            <a:avLst/>
          </a:prstGeom>
          <a:noFill/>
        </p:spPr>
        <p:txBody>
          <a:bodyPr wrap="square" rtlCol="0">
            <a:spAutoFit/>
          </a:bodyPr>
          <a:lstStyle/>
          <a:p>
            <a:r>
              <a:rPr lang="en-GB" sz="2400" dirty="0"/>
              <a:t>Each side of this chip has a H bridge to control a DC motor.  So on our robot car we can use 1 chip to control 2 wheels.</a:t>
            </a:r>
            <a:endParaRPr lang="en-GB" sz="2400" dirty="0"/>
          </a:p>
          <a:p>
            <a:endParaRPr lang="en-GB" sz="2400" dirty="0"/>
          </a:p>
          <a:p>
            <a:r>
              <a:rPr lang="en-GB" sz="2400" dirty="0"/>
              <a:t>Pin 16 is the V+ for the chip (5V).</a:t>
            </a:r>
            <a:endParaRPr lang="en-GB" sz="2400" dirty="0"/>
          </a:p>
          <a:p>
            <a:r>
              <a:rPr lang="en-GB" sz="2400" dirty="0"/>
              <a:t>Pin 8 is the V+ for the motor (we use 5V but it can be between 0V to 36V).</a:t>
            </a:r>
            <a:endParaRPr lang="en-GB"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summary</a:t>
            </a:r>
            <a:endParaRPr lang="en-GB" dirty="0"/>
          </a:p>
        </p:txBody>
      </p:sp>
      <p:sp>
        <p:nvSpPr>
          <p:cNvPr id="3" name="Content Placeholder 2"/>
          <p:cNvSpPr>
            <a:spLocks noGrp="1"/>
          </p:cNvSpPr>
          <p:nvPr>
            <p:ph idx="1"/>
          </p:nvPr>
        </p:nvSpPr>
        <p:spPr/>
        <p:txBody>
          <a:bodyPr>
            <a:normAutofit/>
          </a:bodyPr>
          <a:lstStyle/>
          <a:p>
            <a:r>
              <a:rPr lang="en-GB" b="1" dirty="0"/>
              <a:t>LEARNING RESOURCES AVAILABLE </a:t>
            </a:r>
            <a:endParaRPr lang="en-GB" b="1" dirty="0"/>
          </a:p>
          <a:p>
            <a:r>
              <a:rPr lang="en-GB" b="1" dirty="0"/>
              <a:t>LEARNING ACTIVITIES</a:t>
            </a:r>
            <a:endParaRPr lang="en-GB" b="1" dirty="0"/>
          </a:p>
          <a:p>
            <a:pPr lvl="1"/>
            <a:r>
              <a:rPr lang="en-GB" dirty="0"/>
              <a:t>Learning to control speed and direction of motors using H Bridge. </a:t>
            </a:r>
            <a:endParaRPr lang="en-GB" dirty="0"/>
          </a:p>
          <a:p>
            <a:pPr lvl="1"/>
            <a:r>
              <a:rPr lang="en-GB" dirty="0"/>
              <a:t>Show operation of motors</a:t>
            </a:r>
            <a:endParaRPr lang="en-GB" dirty="0"/>
          </a:p>
          <a:p>
            <a:pPr lvl="1"/>
            <a:r>
              <a:rPr lang="en-GB" dirty="0"/>
              <a:t>Build sensor circuit for the 2 light detectors</a:t>
            </a:r>
            <a:endParaRPr lang="en-GB" dirty="0"/>
          </a:p>
          <a:p>
            <a:r>
              <a:rPr lang="en-GB" b="1" dirty="0"/>
              <a:t>TASKS TO BE COMPLETED</a:t>
            </a:r>
            <a:endParaRPr lang="en-GB" b="1" i="1" dirty="0"/>
          </a:p>
          <a:p>
            <a:pPr lvl="1"/>
            <a:r>
              <a:rPr lang="en-GB" dirty="0"/>
              <a:t>Set up motor to operate using adafruit-arduino-lesson-15-dc-motor-reversing lab sheet</a:t>
            </a:r>
            <a:endParaRPr lang="en-GB" dirty="0"/>
          </a:p>
          <a:p>
            <a:pPr lvl="1"/>
            <a:r>
              <a:rPr lang="en-GB" dirty="0"/>
              <a:t>Demonstrate adjusting speed of motor</a:t>
            </a:r>
            <a:endParaRPr lang="en-GB" dirty="0"/>
          </a:p>
          <a:p>
            <a:pPr lvl="1"/>
            <a:r>
              <a:rPr lang="en-GB" dirty="0"/>
              <a:t>Run motors in forward and reverse</a:t>
            </a:r>
            <a:endParaRPr lang="en-GB" dirty="0"/>
          </a:p>
          <a:p>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284" y="365125"/>
            <a:ext cx="11356258" cy="1325563"/>
          </a:xfrm>
        </p:spPr>
        <p:txBody>
          <a:bodyPr/>
          <a:lstStyle/>
          <a:p>
            <a:r>
              <a:rPr lang="en-GB" dirty="0"/>
              <a:t>Running a dc motor directly from a power supply</a:t>
            </a:r>
            <a:endParaRPr lang="en-GB" dirty="0"/>
          </a:p>
        </p:txBody>
      </p:sp>
      <p:pic>
        <p:nvPicPr>
          <p:cNvPr id="11" name="Picture 10"/>
          <p:cNvPicPr>
            <a:picLocks noChangeAspect="1"/>
          </p:cNvPicPr>
          <p:nvPr/>
        </p:nvPicPr>
        <p:blipFill>
          <a:blip r:embed="rId1"/>
          <a:stretch>
            <a:fillRect/>
          </a:stretch>
        </p:blipFill>
        <p:spPr>
          <a:xfrm>
            <a:off x="1266151" y="1670790"/>
            <a:ext cx="7641875" cy="477805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Running a DC motor from an H-Bridge but not controlling speed</a:t>
            </a:r>
            <a:endParaRPr lang="en-GB" dirty="0"/>
          </a:p>
        </p:txBody>
      </p:sp>
      <p:pic>
        <p:nvPicPr>
          <p:cNvPr id="11" name="Picture 10"/>
          <p:cNvPicPr>
            <a:picLocks noChangeAspect="1"/>
          </p:cNvPicPr>
          <p:nvPr/>
        </p:nvPicPr>
        <p:blipFill>
          <a:blip r:embed="rId1"/>
          <a:stretch>
            <a:fillRect/>
          </a:stretch>
        </p:blipFill>
        <p:spPr>
          <a:xfrm>
            <a:off x="1309019" y="1690688"/>
            <a:ext cx="9573961" cy="502990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Running a dc motor controlling speed and direction</a:t>
            </a:r>
            <a:endParaRPr lang="en-GB" dirty="0"/>
          </a:p>
        </p:txBody>
      </p:sp>
      <p:pic>
        <p:nvPicPr>
          <p:cNvPr id="11" name="Picture 10"/>
          <p:cNvPicPr>
            <a:picLocks noChangeAspect="1"/>
          </p:cNvPicPr>
          <p:nvPr/>
        </p:nvPicPr>
        <p:blipFill rotWithShape="1">
          <a:blip r:embed="rId1"/>
          <a:srcRect r="13424"/>
          <a:stretch>
            <a:fillRect/>
          </a:stretch>
        </p:blipFill>
        <p:spPr>
          <a:xfrm rot="5400000">
            <a:off x="3730797" y="487677"/>
            <a:ext cx="5777541"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Code</a:t>
            </a:r>
            <a:endParaRPr lang="en-GB" dirty="0"/>
          </a:p>
        </p:txBody>
      </p:sp>
      <p:pic>
        <p:nvPicPr>
          <p:cNvPr id="10" name="Content Placeholder 9"/>
          <p:cNvPicPr>
            <a:picLocks noGrp="1" noChangeAspect="1"/>
          </p:cNvPicPr>
          <p:nvPr>
            <p:ph idx="1"/>
          </p:nvPr>
        </p:nvPicPr>
        <p:blipFill>
          <a:blip r:embed="rId1"/>
          <a:stretch>
            <a:fillRect/>
          </a:stretch>
        </p:blipFill>
        <p:spPr>
          <a:xfrm>
            <a:off x="3932903" y="-151"/>
            <a:ext cx="4945626" cy="688308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TASKS TO BE COMPLETED</a:t>
            </a:r>
            <a:endParaRPr lang="en-GB" b="1" i="1" dirty="0"/>
          </a:p>
        </p:txBody>
      </p:sp>
      <p:sp>
        <p:nvSpPr>
          <p:cNvPr id="3" name="Content Placeholder 2"/>
          <p:cNvSpPr>
            <a:spLocks noGrp="1"/>
          </p:cNvSpPr>
          <p:nvPr>
            <p:ph idx="1"/>
          </p:nvPr>
        </p:nvSpPr>
        <p:spPr/>
        <p:txBody>
          <a:bodyPr/>
          <a:lstStyle/>
          <a:p>
            <a:pPr lvl="1"/>
            <a:r>
              <a:rPr lang="en-GB" sz="2800" dirty="0"/>
              <a:t>Set up motor to operate using adafruit-arduino-lesson-15-dc-motor-reversing lab sheet</a:t>
            </a:r>
            <a:endParaRPr lang="en-GB" sz="2800" dirty="0"/>
          </a:p>
          <a:p>
            <a:pPr lvl="1"/>
            <a:r>
              <a:rPr lang="en-GB" sz="2800" dirty="0"/>
              <a:t>Demonstrate adjusting speed of motor</a:t>
            </a:r>
            <a:endParaRPr lang="en-GB" sz="2800" dirty="0"/>
          </a:p>
          <a:p>
            <a:pPr lvl="1"/>
            <a:r>
              <a:rPr lang="en-GB" sz="2800" dirty="0"/>
              <a:t>Run motors in forward and reverse</a:t>
            </a:r>
            <a:endParaRPr lang="en-GB" sz="2800" dirty="0"/>
          </a:p>
          <a:p>
            <a:pPr lvl="1"/>
            <a:r>
              <a:rPr lang="en-GB" sz="2800" dirty="0"/>
              <a:t>Build sensor circuit for the 2 light detectors</a:t>
            </a:r>
            <a:endParaRPr lang="en-GB" sz="2800" dirty="0"/>
          </a:p>
          <a:p>
            <a:pPr lvl="1"/>
            <a:endParaRPr lang="en-GB" sz="2800" dirty="0"/>
          </a:p>
          <a:p>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4049</Words>
  <Application>WPS 演示</Application>
  <PresentationFormat>Widescreen</PresentationFormat>
  <Paragraphs>122</Paragraphs>
  <Slides>22</Slides>
  <Notes>0</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宋体</vt:lpstr>
      <vt:lpstr>Wingdings</vt:lpstr>
      <vt:lpstr>Open Sans</vt:lpstr>
      <vt:lpstr>Segoe Print</vt:lpstr>
      <vt:lpstr>Calibri</vt:lpstr>
      <vt:lpstr>微软雅黑</vt:lpstr>
      <vt:lpstr>Arial Unicode MS</vt:lpstr>
      <vt:lpstr>Calibri Light</vt:lpstr>
      <vt:lpstr>等线</vt:lpstr>
      <vt:lpstr>Office Theme</vt:lpstr>
      <vt:lpstr>PowerPoint 演示文稿</vt:lpstr>
      <vt:lpstr>PowerPoint 演示文稿</vt:lpstr>
      <vt:lpstr>There are many limits to this.</vt:lpstr>
      <vt:lpstr>Reverse</vt:lpstr>
      <vt:lpstr>PowerPoint 演示文稿</vt:lpstr>
      <vt:lpstr>This is what we want to do!</vt:lpstr>
      <vt:lpstr>PWM</vt:lpstr>
      <vt:lpstr>PowerPoint 演示文稿</vt:lpstr>
      <vt:lpstr>Transistors</vt:lpstr>
      <vt:lpstr>Why do we use transistors?</vt:lpstr>
      <vt:lpstr>Reverse?</vt:lpstr>
      <vt:lpstr>PowerPoint 演示文稿</vt:lpstr>
      <vt:lpstr>PowerPoint 演示文稿</vt:lpstr>
      <vt:lpstr>H-Bridge controlling a motor</vt:lpstr>
      <vt:lpstr>This is a little messy and hard work.</vt:lpstr>
      <vt:lpstr>L293D H Bridge</vt:lpstr>
      <vt:lpstr>2 summary</vt:lpstr>
      <vt:lpstr>Running a dc motor directly from a power supply</vt:lpstr>
      <vt:lpstr>Running a DC motor from an H-Bridge but not controlling speed</vt:lpstr>
      <vt:lpstr>Running a dc motor controlling speed and direction</vt:lpstr>
      <vt:lpstr>Code</vt:lpstr>
      <vt:lpstr>TASKS TO BE COMPLETED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Leon Bullock</dc:creator>
  <cp:lastModifiedBy>PC</cp:lastModifiedBy>
  <cp:revision>12</cp:revision>
  <dcterms:created xsi:type="dcterms:W3CDTF">2021-04-08T04:53:00Z</dcterms:created>
  <dcterms:modified xsi:type="dcterms:W3CDTF">2021-04-08T23:48:44Z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863A17F793BE4387A3381C8BD2B1558D</vt:lpwstr>
  </property>
  <property fmtid="{D5CDD505-2E9C-101B-9397-08002B2CF9AE}" pid="3" name="KSOProductBuildVer">
    <vt:lpwstr>2052-11.1.0.10356</vt:lpwstr>
  </property>
</Properties>
</file>