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5.jpg" ContentType="image/pn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312" r:id="rId3"/>
    <p:sldId id="311" r:id="rId4"/>
    <p:sldId id="300" r:id="rId5"/>
    <p:sldId id="301" r:id="rId6"/>
    <p:sldId id="313" r:id="rId7"/>
    <p:sldId id="259" r:id="rId8"/>
    <p:sldId id="257" r:id="rId9"/>
    <p:sldId id="260" r:id="rId10"/>
    <p:sldId id="261" r:id="rId11"/>
    <p:sldId id="263" r:id="rId12"/>
    <p:sldId id="262" r:id="rId13"/>
    <p:sldId id="267" r:id="rId14"/>
    <p:sldId id="268" r:id="rId15"/>
    <p:sldId id="298" r:id="rId16"/>
    <p:sldId id="269" r:id="rId17"/>
    <p:sldId id="270" r:id="rId18"/>
    <p:sldId id="271" r:id="rId19"/>
    <p:sldId id="272" r:id="rId20"/>
    <p:sldId id="273" r:id="rId21"/>
    <p:sldId id="274" r:id="rId22"/>
    <p:sldId id="275" r:id="rId23"/>
    <p:sldId id="276" r:id="rId24"/>
    <p:sldId id="279" r:id="rId25"/>
    <p:sldId id="280" r:id="rId26"/>
    <p:sldId id="281" r:id="rId27"/>
    <p:sldId id="282" r:id="rId28"/>
    <p:sldId id="283" r:id="rId29"/>
    <p:sldId id="285" r:id="rId30"/>
    <p:sldId id="284" r:id="rId31"/>
    <p:sldId id="286" r:id="rId32"/>
    <p:sldId id="287" r:id="rId33"/>
    <p:sldId id="288" r:id="rId34"/>
    <p:sldId id="289" r:id="rId35"/>
    <p:sldId id="290" r:id="rId36"/>
    <p:sldId id="291" r:id="rId37"/>
    <p:sldId id="293" r:id="rId38"/>
    <p:sldId id="299" r:id="rId39"/>
    <p:sldId id="292" r:id="rId40"/>
    <p:sldId id="295" r:id="rId41"/>
    <p:sldId id="294" r:id="rId42"/>
    <p:sldId id="297" r:id="rId43"/>
    <p:sldId id="265" r:id="rId44"/>
    <p:sldId id="264" r:id="rId45"/>
    <p:sldId id="266" r:id="rId46"/>
    <p:sldId id="278" r:id="rId47"/>
    <p:sldId id="277" r:id="rId48"/>
    <p:sldId id="304" r:id="rId49"/>
    <p:sldId id="305" r:id="rId50"/>
    <p:sldId id="306" r:id="rId51"/>
    <p:sldId id="307" r:id="rId52"/>
    <p:sldId id="308" r:id="rId53"/>
    <p:sldId id="309" r:id="rId54"/>
    <p:sldId id="310" r:id="rId55"/>
    <p:sldId id="303"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46" autoAdjust="0"/>
    <p:restoredTop sz="94660"/>
  </p:normalViewPr>
  <p:slideViewPr>
    <p:cSldViewPr snapToGrid="0">
      <p:cViewPr varScale="1">
        <p:scale>
          <a:sx n="88" d="100"/>
          <a:sy n="88" d="100"/>
        </p:scale>
        <p:origin x="46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 Bullock" userId="3215beb814d09e4a" providerId="LiveId" clId="{9FE800A3-7436-491E-BFC4-BD9877A5084A}"/>
    <pc:docChg chg="modSld">
      <pc:chgData name="Leon Bullock" userId="3215beb814d09e4a" providerId="LiveId" clId="{9FE800A3-7436-491E-BFC4-BD9877A5084A}" dt="2023-05-17T09:46:14.204" v="5" actId="20577"/>
      <pc:docMkLst>
        <pc:docMk/>
      </pc:docMkLst>
      <pc:sldChg chg="modSp mod">
        <pc:chgData name="Leon Bullock" userId="3215beb814d09e4a" providerId="LiveId" clId="{9FE800A3-7436-491E-BFC4-BD9877A5084A}" dt="2023-05-17T09:46:14.204" v="5" actId="20577"/>
        <pc:sldMkLst>
          <pc:docMk/>
          <pc:sldMk cId="974915070" sldId="288"/>
        </pc:sldMkLst>
        <pc:spChg chg="mod">
          <ac:chgData name="Leon Bullock" userId="3215beb814d09e4a" providerId="LiveId" clId="{9FE800A3-7436-491E-BFC4-BD9877A5084A}" dt="2023-05-17T09:46:14.204" v="5" actId="20577"/>
          <ac:spMkLst>
            <pc:docMk/>
            <pc:sldMk cId="974915070" sldId="288"/>
            <ac:spMk id="3" creationId="{DE591687-0C2B-4FD1-811C-3278BD97D89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62BAA-7F57-4AAE-A5A2-175A724964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962F8B4-2C24-4378-A069-F99AB647F7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F2AED39-2F83-4602-B4CA-7D44373C2CE0}"/>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5" name="Footer Placeholder 4">
            <a:extLst>
              <a:ext uri="{FF2B5EF4-FFF2-40B4-BE49-F238E27FC236}">
                <a16:creationId xmlns:a16="http://schemas.microsoft.com/office/drawing/2014/main" id="{ED523F36-D575-4E33-9574-CAD9CFE9C1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8F424F-22D8-4742-BD12-C1659F702AD6}"/>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3142318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B9B1E-E270-41C8-A36E-89D61ACEFDF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F73570E-E19B-4AF2-A922-76F74ECEC5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4B7211-4AE2-4AD1-B786-B5C712A8FE46}"/>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5" name="Footer Placeholder 4">
            <a:extLst>
              <a:ext uri="{FF2B5EF4-FFF2-40B4-BE49-F238E27FC236}">
                <a16:creationId xmlns:a16="http://schemas.microsoft.com/office/drawing/2014/main" id="{4289598A-ACF6-4492-9F9D-6EF2918FF2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FCEBF3-8F0E-43BF-8B78-A0ACFC921A9E}"/>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3120155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C55A-4E49-4470-B660-26DDDE0953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842ABC4-DB8D-4C2C-A68C-6B1B8BA78E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0A59B5-3B59-4363-AA53-37CC38F30D2D}"/>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5" name="Footer Placeholder 4">
            <a:extLst>
              <a:ext uri="{FF2B5EF4-FFF2-40B4-BE49-F238E27FC236}">
                <a16:creationId xmlns:a16="http://schemas.microsoft.com/office/drawing/2014/main" id="{3DE22886-3D69-4DE0-AFCC-A40BD9ACB0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AEF984-4896-4F2A-A978-9A45D481F6C8}"/>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3983936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FFE3F-6964-4DEB-848A-923147185EF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18A55DB-C65C-479E-8D8D-B5C275F5CB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7A3E34D-F866-43BE-8CB5-0FDCB36736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82A85A2-604A-4AC2-A396-D3263A308315}"/>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6" name="Footer Placeholder 5">
            <a:extLst>
              <a:ext uri="{FF2B5EF4-FFF2-40B4-BE49-F238E27FC236}">
                <a16:creationId xmlns:a16="http://schemas.microsoft.com/office/drawing/2014/main" id="{393EEF6C-6FCB-487F-897C-8774B74FF5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5F2DAD4-1F64-4D6D-8552-55A8537250CC}"/>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95913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AD1C5-EBFA-41D8-BDB4-DF1D8EFCDDE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61117EF-A77D-4878-9AA6-EC07444F22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AC7E77-D103-42C4-A0EC-1391F1ACF5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DF3A17-7CAE-49E2-9800-5E4E0BCAA2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9EF45B-F18D-4429-B199-34FCE30AB7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35614D1-D6F5-4DA5-AF7C-1BFFC60A9634}"/>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8" name="Footer Placeholder 7">
            <a:extLst>
              <a:ext uri="{FF2B5EF4-FFF2-40B4-BE49-F238E27FC236}">
                <a16:creationId xmlns:a16="http://schemas.microsoft.com/office/drawing/2014/main" id="{E95EB23C-005A-4D47-AB92-F1363C88A0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F01741A-A07D-4DFE-8BD7-C7E9474FEED3}"/>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4263376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6C1E-99D7-4CC8-9FB1-DDB15D9C844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D5CE966-E2AC-4E99-9DD4-028A7816D576}"/>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4" name="Footer Placeholder 3">
            <a:extLst>
              <a:ext uri="{FF2B5EF4-FFF2-40B4-BE49-F238E27FC236}">
                <a16:creationId xmlns:a16="http://schemas.microsoft.com/office/drawing/2014/main" id="{A7E52D89-4AA5-463F-B9D8-76C1F42D4D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5AFDB0A-EC86-4A17-A04E-ED6B62A2AD2F}"/>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3372674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A289EC-D090-4FBD-B4F0-678996960EFA}"/>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3" name="Footer Placeholder 2">
            <a:extLst>
              <a:ext uri="{FF2B5EF4-FFF2-40B4-BE49-F238E27FC236}">
                <a16:creationId xmlns:a16="http://schemas.microsoft.com/office/drawing/2014/main" id="{36577BF2-F1AF-4018-B9D8-49EC08B3962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90172C0-6FE3-4C70-A7F9-9FF08D4BE7F3}"/>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3485617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9D270-C325-4237-8BFE-703A328383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14411B-A10A-4489-A6AD-4E44C48F07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0DEF187-D3A7-49F7-8CEC-7C3941E62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91BA92-F63A-4DC5-9093-C96068EDF3A2}"/>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6" name="Footer Placeholder 5">
            <a:extLst>
              <a:ext uri="{FF2B5EF4-FFF2-40B4-BE49-F238E27FC236}">
                <a16:creationId xmlns:a16="http://schemas.microsoft.com/office/drawing/2014/main" id="{EBC92924-31D9-46C0-8BAE-FE8C34145AF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D0D0A33-108F-4027-A419-4837CEAB66AB}"/>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290031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F164-1A07-4470-A0D9-C1B452E807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AD8D757-FD2F-4B73-9C92-C1B173E099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A220E8B-17C8-4654-9877-496AF9A74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D8AF01-062F-4404-B89E-EC0894D76561}"/>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6" name="Footer Placeholder 5">
            <a:extLst>
              <a:ext uri="{FF2B5EF4-FFF2-40B4-BE49-F238E27FC236}">
                <a16:creationId xmlns:a16="http://schemas.microsoft.com/office/drawing/2014/main" id="{F92CE509-1536-49FA-BA93-F853B8650FC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DDBAAE2-A0DE-494F-8A71-1EA6B0A1A669}"/>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3359760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A077F-21B9-4F81-B27B-5954A48B910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3D8DF9-5C0C-4F0E-B6E4-B65B0A19D1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1725A0-B57D-4EB5-9DD6-6AFFC61D08ED}"/>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5" name="Footer Placeholder 4">
            <a:extLst>
              <a:ext uri="{FF2B5EF4-FFF2-40B4-BE49-F238E27FC236}">
                <a16:creationId xmlns:a16="http://schemas.microsoft.com/office/drawing/2014/main" id="{66FFD830-4DDC-40E3-9CDD-51CC9EC6090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7C15BF-F4D0-48F3-BEBC-74C948F23F58}"/>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112039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79FDB8-435E-487D-934B-AEF391851E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DA5925F-D39A-46DB-B54F-0674EB0702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4F63FB-AE34-4B9C-BA9A-FA1B5437E171}"/>
              </a:ext>
            </a:extLst>
          </p:cNvPr>
          <p:cNvSpPr>
            <a:spLocks noGrp="1"/>
          </p:cNvSpPr>
          <p:nvPr>
            <p:ph type="dt" sz="half" idx="10"/>
          </p:nvPr>
        </p:nvSpPr>
        <p:spPr/>
        <p:txBody>
          <a:bodyPr/>
          <a:lstStyle/>
          <a:p>
            <a:fld id="{B97AA163-5649-463D-879B-DF4F02B17C3C}" type="datetimeFigureOut">
              <a:rPr lang="en-GB" smtClean="0"/>
              <a:t>17/05/2023</a:t>
            </a:fld>
            <a:endParaRPr lang="en-GB"/>
          </a:p>
        </p:txBody>
      </p:sp>
      <p:sp>
        <p:nvSpPr>
          <p:cNvPr id="5" name="Footer Placeholder 4">
            <a:extLst>
              <a:ext uri="{FF2B5EF4-FFF2-40B4-BE49-F238E27FC236}">
                <a16:creationId xmlns:a16="http://schemas.microsoft.com/office/drawing/2014/main" id="{58500646-2C19-4391-9B5D-1865E42FD7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774E26-7C40-417E-AF5E-87360A2BE9D4}"/>
              </a:ext>
            </a:extLst>
          </p:cNvPr>
          <p:cNvSpPr>
            <a:spLocks noGrp="1"/>
          </p:cNvSpPr>
          <p:nvPr>
            <p:ph type="sldNum" sz="quarter" idx="12"/>
          </p:nvPr>
        </p:nvSpPr>
        <p:spPr/>
        <p:txBody>
          <a:bodyPr/>
          <a:lstStyle/>
          <a:p>
            <a:fld id="{D9FED311-AA05-4AF2-A87A-1984B3C4BECC}" type="slidenum">
              <a:rPr lang="en-GB" smtClean="0"/>
              <a:t>‹#›</a:t>
            </a:fld>
            <a:endParaRPr lang="en-GB"/>
          </a:p>
        </p:txBody>
      </p:sp>
    </p:spTree>
    <p:extLst>
      <p:ext uri="{BB962C8B-B14F-4D97-AF65-F5344CB8AC3E}">
        <p14:creationId xmlns:p14="http://schemas.microsoft.com/office/powerpoint/2010/main" val="1399028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1238BB-D77C-4A7A-A1D1-02FF5A88C1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1E685EA-86EF-402C-AFC9-12DB6AE1F5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6D3C58-AA86-4746-B0AD-40711B3AAA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7AA163-5649-463D-879B-DF4F02B17C3C}" type="datetimeFigureOut">
              <a:rPr lang="en-GB" smtClean="0"/>
              <a:t>17/05/2023</a:t>
            </a:fld>
            <a:endParaRPr lang="en-GB"/>
          </a:p>
        </p:txBody>
      </p:sp>
      <p:sp>
        <p:nvSpPr>
          <p:cNvPr id="5" name="Footer Placeholder 4">
            <a:extLst>
              <a:ext uri="{FF2B5EF4-FFF2-40B4-BE49-F238E27FC236}">
                <a16:creationId xmlns:a16="http://schemas.microsoft.com/office/drawing/2014/main" id="{7A04BCF3-EB19-4C54-B8EA-C9922778E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69167CE-2EE2-4CC3-8C0F-D48E134AFB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FED311-AA05-4AF2-A87A-1984B3C4BECC}" type="slidenum">
              <a:rPr lang="en-GB" smtClean="0"/>
              <a:t>‹#›</a:t>
            </a:fld>
            <a:endParaRPr lang="en-GB"/>
          </a:p>
        </p:txBody>
      </p:sp>
    </p:spTree>
    <p:extLst>
      <p:ext uri="{BB962C8B-B14F-4D97-AF65-F5344CB8AC3E}">
        <p14:creationId xmlns:p14="http://schemas.microsoft.com/office/powerpoint/2010/main" val="2521732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Angular_velocity"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learn.sparkfun.com/tutorials/i2c/all"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1F11-AC13-46E2-9ECB-1D8751B24603}"/>
              </a:ext>
            </a:extLst>
          </p:cNvPr>
          <p:cNvSpPr>
            <a:spLocks noGrp="1"/>
          </p:cNvSpPr>
          <p:nvPr>
            <p:ph type="ctrTitle"/>
          </p:nvPr>
        </p:nvSpPr>
        <p:spPr/>
        <p:txBody>
          <a:bodyPr/>
          <a:lstStyle/>
          <a:p>
            <a:r>
              <a:rPr lang="en-GB" dirty="0"/>
              <a:t>Week 08</a:t>
            </a:r>
          </a:p>
        </p:txBody>
      </p:sp>
      <p:sp>
        <p:nvSpPr>
          <p:cNvPr id="3" name="Subtitle 2">
            <a:extLst>
              <a:ext uri="{FF2B5EF4-FFF2-40B4-BE49-F238E27FC236}">
                <a16:creationId xmlns:a16="http://schemas.microsoft.com/office/drawing/2014/main" id="{E1098E05-80D3-4CDE-8CD7-677D7942A63C}"/>
              </a:ext>
            </a:extLst>
          </p:cNvPr>
          <p:cNvSpPr>
            <a:spLocks noGrp="1"/>
          </p:cNvSpPr>
          <p:nvPr>
            <p:ph type="subTitle" idx="1"/>
          </p:nvPr>
        </p:nvSpPr>
        <p:spPr/>
        <p:txBody>
          <a:bodyPr/>
          <a:lstStyle/>
          <a:p>
            <a:r>
              <a:rPr lang="en-GB" dirty="0"/>
              <a:t>Friday 28</a:t>
            </a:r>
            <a:r>
              <a:rPr lang="en-GB" baseline="30000" dirty="0"/>
              <a:t>th</a:t>
            </a:r>
            <a:r>
              <a:rPr lang="en-GB" dirty="0"/>
              <a:t> May</a:t>
            </a:r>
          </a:p>
        </p:txBody>
      </p:sp>
      <p:pic>
        <p:nvPicPr>
          <p:cNvPr id="1026" name="Picture 2">
            <a:extLst>
              <a:ext uri="{FF2B5EF4-FFF2-40B4-BE49-F238E27FC236}">
                <a16:creationId xmlns:a16="http://schemas.microsoft.com/office/drawing/2014/main" id="{124A0ED3-73A7-4571-8872-D213C0A70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4149771" cy="1030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4037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B158B5-50B5-4927-A367-7C9F3AFE5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BEA2A-C8D9-B601-91E3-EAF903F7D40C}"/>
              </a:ext>
            </a:extLst>
          </p:cNvPr>
          <p:cNvSpPr>
            <a:spLocks noGrp="1"/>
          </p:cNvSpPr>
          <p:nvPr>
            <p:ph type="title"/>
          </p:nvPr>
        </p:nvSpPr>
        <p:spPr>
          <a:xfrm>
            <a:off x="6981824" y="1367673"/>
            <a:ext cx="4375151" cy="2665509"/>
          </a:xfrm>
        </p:spPr>
        <p:txBody>
          <a:bodyPr vert="horz" lIns="91440" tIns="45720" rIns="91440" bIns="45720" rtlCol="0" anchor="b">
            <a:normAutofit/>
          </a:bodyPr>
          <a:lstStyle/>
          <a:p>
            <a:pPr algn="r"/>
            <a:r>
              <a:rPr lang="en-US" sz="6700">
                <a:solidFill>
                  <a:schemeClr val="bg1"/>
                </a:solidFill>
              </a:rPr>
              <a:t>L298 Motor Driver</a:t>
            </a:r>
          </a:p>
        </p:txBody>
      </p:sp>
      <p:pic>
        <p:nvPicPr>
          <p:cNvPr id="4" name="Content Placeholder 3">
            <a:extLst>
              <a:ext uri="{FF2B5EF4-FFF2-40B4-BE49-F238E27FC236}">
                <a16:creationId xmlns:a16="http://schemas.microsoft.com/office/drawing/2014/main" id="{DEFD8002-ED6B-3863-05B4-99FD812E2205}"/>
              </a:ext>
            </a:extLst>
          </p:cNvPr>
          <p:cNvPicPr>
            <a:picLocks noGrp="1" noChangeAspect="1"/>
          </p:cNvPicPr>
          <p:nvPr>
            <p:ph idx="1"/>
          </p:nvPr>
        </p:nvPicPr>
        <p:blipFill rotWithShape="1">
          <a:blip r:embed="rId2"/>
          <a:srcRect l="7036" r="5030" b="1"/>
          <a:stretch/>
        </p:blipFill>
        <p:spPr>
          <a:xfrm>
            <a:off x="1" y="2"/>
            <a:ext cx="6249303" cy="6857998"/>
          </a:xfrm>
          <a:custGeom>
            <a:avLst/>
            <a:gdLst/>
            <a:ahLst/>
            <a:cxnLst/>
            <a:rect l="l" t="t" r="r" b="b"/>
            <a:pathLst>
              <a:path w="6249303" h="6857998">
                <a:moveTo>
                  <a:pt x="5497146" y="6118149"/>
                </a:moveTo>
                <a:cubicBezTo>
                  <a:pt x="5503695" y="6124102"/>
                  <a:pt x="5511317" y="6129341"/>
                  <a:pt x="5518366" y="6133723"/>
                </a:cubicBezTo>
                <a:cubicBezTo>
                  <a:pt x="5525509" y="6138152"/>
                  <a:pt x="5530855" y="6143474"/>
                  <a:pt x="5534525" y="6149380"/>
                </a:cubicBezTo>
                <a:lnTo>
                  <a:pt x="5540000" y="6166562"/>
                </a:lnTo>
                <a:lnTo>
                  <a:pt x="5534525" y="6149379"/>
                </a:lnTo>
                <a:cubicBezTo>
                  <a:pt x="5530855" y="6143474"/>
                  <a:pt x="5525509" y="6138152"/>
                  <a:pt x="5518366" y="6133722"/>
                </a:cubicBezTo>
                <a:cubicBezTo>
                  <a:pt x="5511317" y="6129341"/>
                  <a:pt x="5503695" y="6124102"/>
                  <a:pt x="5497146" y="6118149"/>
                </a:cubicBezTo>
                <a:close/>
                <a:moveTo>
                  <a:pt x="5405304" y="4941372"/>
                </a:moveTo>
                <a:lnTo>
                  <a:pt x="5408634" y="4950869"/>
                </a:lnTo>
                <a:lnTo>
                  <a:pt x="5418318" y="4991382"/>
                </a:lnTo>
                <a:lnTo>
                  <a:pt x="5408634" y="4950868"/>
                </a:lnTo>
                <a:close/>
                <a:moveTo>
                  <a:pt x="5409242" y="4749807"/>
                </a:moveTo>
                <a:cubicBezTo>
                  <a:pt x="5397106" y="4762826"/>
                  <a:pt x="5396249" y="4781365"/>
                  <a:pt x="5394535" y="4799797"/>
                </a:cubicBezTo>
                <a:cubicBezTo>
                  <a:pt x="5396249" y="4781365"/>
                  <a:pt x="5397106" y="4762827"/>
                  <a:pt x="5409242" y="4749807"/>
                </a:cubicBezTo>
                <a:close/>
                <a:moveTo>
                  <a:pt x="5427041" y="4543185"/>
                </a:moveTo>
                <a:cubicBezTo>
                  <a:pt x="5428019" y="4548281"/>
                  <a:pt x="5430065" y="4553662"/>
                  <a:pt x="5432447" y="4557092"/>
                </a:cubicBezTo>
                <a:cubicBezTo>
                  <a:pt x="5444067" y="4573618"/>
                  <a:pt x="5452855" y="4588275"/>
                  <a:pt x="5458810" y="4602021"/>
                </a:cubicBezTo>
                <a:cubicBezTo>
                  <a:pt x="5452855" y="4588275"/>
                  <a:pt x="5444067" y="4573618"/>
                  <a:pt x="5432447" y="4557091"/>
                </a:cubicBezTo>
                <a:close/>
                <a:moveTo>
                  <a:pt x="5893259" y="2819253"/>
                </a:moveTo>
                <a:lnTo>
                  <a:pt x="5904902" y="2827484"/>
                </a:lnTo>
                <a:lnTo>
                  <a:pt x="5904904" y="2827486"/>
                </a:lnTo>
                <a:lnTo>
                  <a:pt x="5933407" y="2861156"/>
                </a:lnTo>
                <a:lnTo>
                  <a:pt x="5923753" y="2842392"/>
                </a:lnTo>
                <a:lnTo>
                  <a:pt x="5904904" y="2827486"/>
                </a:lnTo>
                <a:lnTo>
                  <a:pt x="5904902" y="2827483"/>
                </a:lnTo>
                <a:close/>
                <a:moveTo>
                  <a:pt x="5823604" y="1974015"/>
                </a:moveTo>
                <a:lnTo>
                  <a:pt x="5817090" y="1999763"/>
                </a:lnTo>
                <a:cubicBezTo>
                  <a:pt x="5813281" y="2008056"/>
                  <a:pt x="5807601" y="2016020"/>
                  <a:pt x="5799362" y="2023547"/>
                </a:cubicBezTo>
                <a:cubicBezTo>
                  <a:pt x="5815841" y="2008497"/>
                  <a:pt x="5822079" y="1991685"/>
                  <a:pt x="5823604" y="1974015"/>
                </a:cubicBezTo>
                <a:close/>
                <a:moveTo>
                  <a:pt x="5806410" y="1768838"/>
                </a:moveTo>
                <a:cubicBezTo>
                  <a:pt x="5802029" y="1774411"/>
                  <a:pt x="5799266" y="1779948"/>
                  <a:pt x="5797809" y="1785412"/>
                </a:cubicBezTo>
                <a:lnTo>
                  <a:pt x="5797028" y="1801558"/>
                </a:lnTo>
                <a:cubicBezTo>
                  <a:pt x="5795361" y="1790986"/>
                  <a:pt x="5797647" y="1779981"/>
                  <a:pt x="5806410" y="1768838"/>
                </a:cubicBezTo>
                <a:close/>
                <a:moveTo>
                  <a:pt x="5915999" y="520953"/>
                </a:moveTo>
                <a:lnTo>
                  <a:pt x="5909271" y="549926"/>
                </a:lnTo>
                <a:lnTo>
                  <a:pt x="5903017" y="566616"/>
                </a:lnTo>
                <a:lnTo>
                  <a:pt x="5897067" y="581804"/>
                </a:lnTo>
                <a:lnTo>
                  <a:pt x="5896649" y="583595"/>
                </a:lnTo>
                <a:lnTo>
                  <a:pt x="5894474" y="589388"/>
                </a:lnTo>
                <a:cubicBezTo>
                  <a:pt x="5892074" y="597005"/>
                  <a:pt x="5890316" y="604728"/>
                  <a:pt x="5889851" y="612658"/>
                </a:cubicBezTo>
                <a:lnTo>
                  <a:pt x="5896649" y="583595"/>
                </a:lnTo>
                <a:lnTo>
                  <a:pt x="5902965" y="566754"/>
                </a:lnTo>
                <a:lnTo>
                  <a:pt x="5903017" y="566616"/>
                </a:lnTo>
                <a:lnTo>
                  <a:pt x="5908855" y="551717"/>
                </a:lnTo>
                <a:lnTo>
                  <a:pt x="5909271" y="549926"/>
                </a:lnTo>
                <a:lnTo>
                  <a:pt x="5911436" y="544146"/>
                </a:lnTo>
                <a:cubicBezTo>
                  <a:pt x="5913823" y="536547"/>
                  <a:pt x="5915561" y="528850"/>
                  <a:pt x="5915999" y="520953"/>
                </a:cubicBezTo>
                <a:close/>
                <a:moveTo>
                  <a:pt x="5864896" y="268794"/>
                </a:moveTo>
                <a:cubicBezTo>
                  <a:pt x="5862371" y="279176"/>
                  <a:pt x="5860668" y="289296"/>
                  <a:pt x="5860021" y="299164"/>
                </a:cubicBezTo>
                <a:cubicBezTo>
                  <a:pt x="5859371" y="309031"/>
                  <a:pt x="5859776" y="318646"/>
                  <a:pt x="5861466" y="328017"/>
                </a:cubicBezTo>
                <a:close/>
                <a:moveTo>
                  <a:pt x="0" y="0"/>
                </a:moveTo>
                <a:lnTo>
                  <a:pt x="6182312" y="0"/>
                </a:lnTo>
                <a:lnTo>
                  <a:pt x="6178097" y="24480"/>
                </a:lnTo>
                <a:cubicBezTo>
                  <a:pt x="6175612" y="32636"/>
                  <a:pt x="6171850" y="40471"/>
                  <a:pt x="6166086" y="47806"/>
                </a:cubicBezTo>
                <a:cubicBezTo>
                  <a:pt x="6151226" y="66857"/>
                  <a:pt x="6154655" y="85336"/>
                  <a:pt x="6156942" y="105718"/>
                </a:cubicBezTo>
                <a:cubicBezTo>
                  <a:pt x="6158656" y="121150"/>
                  <a:pt x="6158085" y="136963"/>
                  <a:pt x="6158277" y="152584"/>
                </a:cubicBezTo>
                <a:cubicBezTo>
                  <a:pt x="6158846" y="180017"/>
                  <a:pt x="6159037" y="207450"/>
                  <a:pt x="6159990" y="234883"/>
                </a:cubicBezTo>
                <a:cubicBezTo>
                  <a:pt x="6160370" y="243648"/>
                  <a:pt x="6165135" y="252600"/>
                  <a:pt x="6164373" y="261173"/>
                </a:cubicBezTo>
                <a:cubicBezTo>
                  <a:pt x="6160752" y="300800"/>
                  <a:pt x="6155037" y="340425"/>
                  <a:pt x="6151798" y="380050"/>
                </a:cubicBezTo>
                <a:cubicBezTo>
                  <a:pt x="6149894" y="402529"/>
                  <a:pt x="6153511" y="425581"/>
                  <a:pt x="6150846" y="447870"/>
                </a:cubicBezTo>
                <a:cubicBezTo>
                  <a:pt x="6147798" y="473587"/>
                  <a:pt x="6139988" y="498733"/>
                  <a:pt x="6135223" y="524262"/>
                </a:cubicBezTo>
                <a:cubicBezTo>
                  <a:pt x="6133891" y="531310"/>
                  <a:pt x="6135606" y="539121"/>
                  <a:pt x="6135985" y="546552"/>
                </a:cubicBezTo>
                <a:cubicBezTo>
                  <a:pt x="6136367" y="554933"/>
                  <a:pt x="6137129" y="563125"/>
                  <a:pt x="6137320" y="571508"/>
                </a:cubicBezTo>
                <a:cubicBezTo>
                  <a:pt x="6137702" y="597037"/>
                  <a:pt x="6137129" y="622564"/>
                  <a:pt x="6138464" y="648092"/>
                </a:cubicBezTo>
                <a:cubicBezTo>
                  <a:pt x="6139225" y="663713"/>
                  <a:pt x="6147035" y="680096"/>
                  <a:pt x="6144177" y="694576"/>
                </a:cubicBezTo>
                <a:cubicBezTo>
                  <a:pt x="6138654" y="724104"/>
                  <a:pt x="6151036" y="753633"/>
                  <a:pt x="6140750" y="783158"/>
                </a:cubicBezTo>
                <a:cubicBezTo>
                  <a:pt x="6137702" y="792306"/>
                  <a:pt x="6145322" y="804877"/>
                  <a:pt x="6145702" y="815929"/>
                </a:cubicBezTo>
                <a:cubicBezTo>
                  <a:pt x="6146654" y="843552"/>
                  <a:pt x="6146464" y="871173"/>
                  <a:pt x="6146274" y="898797"/>
                </a:cubicBezTo>
                <a:cubicBezTo>
                  <a:pt x="6146084" y="923562"/>
                  <a:pt x="6148750" y="949281"/>
                  <a:pt x="6143416" y="973095"/>
                </a:cubicBezTo>
                <a:cubicBezTo>
                  <a:pt x="6137702" y="998052"/>
                  <a:pt x="6138464" y="1020529"/>
                  <a:pt x="6144940" y="1044725"/>
                </a:cubicBezTo>
                <a:cubicBezTo>
                  <a:pt x="6149322" y="1061298"/>
                  <a:pt x="6149894" y="1078826"/>
                  <a:pt x="6151226" y="1095972"/>
                </a:cubicBezTo>
                <a:cubicBezTo>
                  <a:pt x="6152750" y="1114449"/>
                  <a:pt x="6148750" y="1134834"/>
                  <a:pt x="6155037" y="1151600"/>
                </a:cubicBezTo>
                <a:cubicBezTo>
                  <a:pt x="6173706" y="1201512"/>
                  <a:pt x="6177706" y="1252757"/>
                  <a:pt x="6177706" y="1304955"/>
                </a:cubicBezTo>
                <a:cubicBezTo>
                  <a:pt x="6177706" y="1314483"/>
                  <a:pt x="6175041" y="1324198"/>
                  <a:pt x="6172183" y="1333341"/>
                </a:cubicBezTo>
                <a:cubicBezTo>
                  <a:pt x="6155037" y="1386684"/>
                  <a:pt x="6156560" y="1440216"/>
                  <a:pt x="6167039" y="1494509"/>
                </a:cubicBezTo>
                <a:cubicBezTo>
                  <a:pt x="6169325" y="1505751"/>
                  <a:pt x="6169706" y="1518324"/>
                  <a:pt x="6167421" y="1529563"/>
                </a:cubicBezTo>
                <a:cubicBezTo>
                  <a:pt x="6160752" y="1561189"/>
                  <a:pt x="6149702" y="1591859"/>
                  <a:pt x="6144940" y="1623675"/>
                </a:cubicBezTo>
                <a:cubicBezTo>
                  <a:pt x="6137129" y="1676253"/>
                  <a:pt x="6163417" y="1721785"/>
                  <a:pt x="6180565" y="1768838"/>
                </a:cubicBezTo>
                <a:cubicBezTo>
                  <a:pt x="6196758" y="1813610"/>
                  <a:pt x="6233335" y="1851709"/>
                  <a:pt x="6225142" y="1904673"/>
                </a:cubicBezTo>
                <a:cubicBezTo>
                  <a:pt x="6224381" y="1910004"/>
                  <a:pt x="6229524" y="1915912"/>
                  <a:pt x="6230858" y="1921817"/>
                </a:cubicBezTo>
                <a:cubicBezTo>
                  <a:pt x="6234479" y="1938009"/>
                  <a:pt x="6238857" y="1954202"/>
                  <a:pt x="6240574" y="1970586"/>
                </a:cubicBezTo>
                <a:cubicBezTo>
                  <a:pt x="6242861" y="1990589"/>
                  <a:pt x="6242100" y="2010974"/>
                  <a:pt x="6244004" y="2030977"/>
                </a:cubicBezTo>
                <a:cubicBezTo>
                  <a:pt x="6245147" y="2043835"/>
                  <a:pt x="6247242" y="2056600"/>
                  <a:pt x="6249052" y="2069340"/>
                </a:cubicBezTo>
                <a:lnTo>
                  <a:pt x="6249303" y="2072225"/>
                </a:lnTo>
                <a:lnTo>
                  <a:pt x="6249303" y="2131532"/>
                </a:lnTo>
                <a:lnTo>
                  <a:pt x="6248432" y="2138304"/>
                </a:lnTo>
                <a:cubicBezTo>
                  <a:pt x="6246241" y="2148519"/>
                  <a:pt x="6243623" y="2158712"/>
                  <a:pt x="6241908" y="2168903"/>
                </a:cubicBezTo>
                <a:cubicBezTo>
                  <a:pt x="6237145" y="2197670"/>
                  <a:pt x="6238479" y="2229296"/>
                  <a:pt x="6226286" y="2254633"/>
                </a:cubicBezTo>
                <a:cubicBezTo>
                  <a:pt x="6213332" y="2281683"/>
                  <a:pt x="6207426" y="2307402"/>
                  <a:pt x="6211426" y="2335405"/>
                </a:cubicBezTo>
                <a:cubicBezTo>
                  <a:pt x="6212760" y="2344741"/>
                  <a:pt x="6220762" y="2356744"/>
                  <a:pt x="6228952" y="2360933"/>
                </a:cubicBezTo>
                <a:cubicBezTo>
                  <a:pt x="6247241" y="2370270"/>
                  <a:pt x="6250481" y="2383032"/>
                  <a:pt x="6244193" y="2400369"/>
                </a:cubicBezTo>
                <a:cubicBezTo>
                  <a:pt x="6238857" y="2415420"/>
                  <a:pt x="6236192" y="2433897"/>
                  <a:pt x="6225904" y="2444184"/>
                </a:cubicBezTo>
                <a:cubicBezTo>
                  <a:pt x="6196758" y="2473333"/>
                  <a:pt x="6195806" y="2510483"/>
                  <a:pt x="6187996" y="2546678"/>
                </a:cubicBezTo>
                <a:cubicBezTo>
                  <a:pt x="6183231" y="2568774"/>
                  <a:pt x="6183041" y="2589352"/>
                  <a:pt x="6186279" y="2611450"/>
                </a:cubicBezTo>
                <a:cubicBezTo>
                  <a:pt x="6193518" y="2659455"/>
                  <a:pt x="6183231" y="2706131"/>
                  <a:pt x="6170087" y="2752235"/>
                </a:cubicBezTo>
                <a:cubicBezTo>
                  <a:pt x="6161325" y="2782716"/>
                  <a:pt x="6155990" y="2813958"/>
                  <a:pt x="6147035" y="2844248"/>
                </a:cubicBezTo>
                <a:cubicBezTo>
                  <a:pt x="6140177" y="2866918"/>
                  <a:pt x="6131985" y="2889587"/>
                  <a:pt x="6120937" y="2910353"/>
                </a:cubicBezTo>
                <a:cubicBezTo>
                  <a:pt x="6104743" y="2940455"/>
                  <a:pt x="6080358" y="2966742"/>
                  <a:pt x="6086835" y="3005035"/>
                </a:cubicBezTo>
                <a:cubicBezTo>
                  <a:pt x="6092550" y="3038756"/>
                  <a:pt x="6080550" y="3069235"/>
                  <a:pt x="6069119" y="3100099"/>
                </a:cubicBezTo>
                <a:cubicBezTo>
                  <a:pt x="6060737" y="3122770"/>
                  <a:pt x="6052162" y="3145436"/>
                  <a:pt x="6046828" y="3168870"/>
                </a:cubicBezTo>
                <a:cubicBezTo>
                  <a:pt x="6040542" y="3196686"/>
                  <a:pt x="6043210" y="3228119"/>
                  <a:pt x="6031589" y="3252885"/>
                </a:cubicBezTo>
                <a:cubicBezTo>
                  <a:pt x="6019396" y="3278795"/>
                  <a:pt x="6027588" y="3300319"/>
                  <a:pt x="6031017" y="3323372"/>
                </a:cubicBezTo>
                <a:cubicBezTo>
                  <a:pt x="6036353" y="3360139"/>
                  <a:pt x="6046258" y="3396719"/>
                  <a:pt x="6033685" y="3433866"/>
                </a:cubicBezTo>
                <a:cubicBezTo>
                  <a:pt x="6018444" y="3479015"/>
                  <a:pt x="6002060" y="3523785"/>
                  <a:pt x="5987583" y="3569124"/>
                </a:cubicBezTo>
                <a:cubicBezTo>
                  <a:pt x="5982056" y="3586653"/>
                  <a:pt x="5979770" y="3605509"/>
                  <a:pt x="5977295" y="3623799"/>
                </a:cubicBezTo>
                <a:cubicBezTo>
                  <a:pt x="5975197" y="3641134"/>
                  <a:pt x="5980533" y="3661899"/>
                  <a:pt x="5972533" y="3675238"/>
                </a:cubicBezTo>
                <a:cubicBezTo>
                  <a:pt x="5951958" y="3709529"/>
                  <a:pt x="5941860" y="3744770"/>
                  <a:pt x="5941860" y="3784397"/>
                </a:cubicBezTo>
                <a:cubicBezTo>
                  <a:pt x="5941860" y="3799258"/>
                  <a:pt x="5933287" y="3813737"/>
                  <a:pt x="5931762" y="3828785"/>
                </a:cubicBezTo>
                <a:cubicBezTo>
                  <a:pt x="5929858" y="3849362"/>
                  <a:pt x="5924714" y="3872985"/>
                  <a:pt x="5931955" y="3890891"/>
                </a:cubicBezTo>
                <a:cubicBezTo>
                  <a:pt x="5949100" y="3932993"/>
                  <a:pt x="5934810" y="3967091"/>
                  <a:pt x="5917857" y="4003861"/>
                </a:cubicBezTo>
                <a:cubicBezTo>
                  <a:pt x="5901092" y="4040058"/>
                  <a:pt x="5887757" y="4078159"/>
                  <a:pt x="5876707" y="4116641"/>
                </a:cubicBezTo>
                <a:cubicBezTo>
                  <a:pt x="5872706" y="4131119"/>
                  <a:pt x="5879375" y="4148453"/>
                  <a:pt x="5880708" y="4164458"/>
                </a:cubicBezTo>
                <a:cubicBezTo>
                  <a:pt x="5881089" y="4170174"/>
                  <a:pt x="5881661" y="4176461"/>
                  <a:pt x="5879756" y="4181603"/>
                </a:cubicBezTo>
                <a:cubicBezTo>
                  <a:pt x="5861466" y="4231324"/>
                  <a:pt x="5847560" y="4281810"/>
                  <a:pt x="5857085" y="4335722"/>
                </a:cubicBezTo>
                <a:cubicBezTo>
                  <a:pt x="5858038" y="4340674"/>
                  <a:pt x="5855942" y="4346201"/>
                  <a:pt x="5854608" y="4351154"/>
                </a:cubicBezTo>
                <a:cubicBezTo>
                  <a:pt x="5847751" y="4375349"/>
                  <a:pt x="5836892" y="4398972"/>
                  <a:pt x="5834415" y="4423545"/>
                </a:cubicBezTo>
                <a:cubicBezTo>
                  <a:pt x="5828319" y="4484127"/>
                  <a:pt x="5825841" y="4545086"/>
                  <a:pt x="5821841" y="4606053"/>
                </a:cubicBezTo>
                <a:cubicBezTo>
                  <a:pt x="5821653" y="4609863"/>
                  <a:pt x="5821653" y="4613864"/>
                  <a:pt x="5820317" y="4617291"/>
                </a:cubicBezTo>
                <a:cubicBezTo>
                  <a:pt x="5812125" y="4639772"/>
                  <a:pt x="5814794" y="4659393"/>
                  <a:pt x="5830414" y="4678445"/>
                </a:cubicBezTo>
                <a:cubicBezTo>
                  <a:pt x="5837273" y="4686828"/>
                  <a:pt x="5840892" y="4698258"/>
                  <a:pt x="5844703" y="4708734"/>
                </a:cubicBezTo>
                <a:cubicBezTo>
                  <a:pt x="5850418" y="4724167"/>
                  <a:pt x="5855942" y="4739978"/>
                  <a:pt x="5859562" y="4755980"/>
                </a:cubicBezTo>
                <a:cubicBezTo>
                  <a:pt x="5862991" y="4771793"/>
                  <a:pt x="5867753" y="4788747"/>
                  <a:pt x="5865088" y="4803988"/>
                </a:cubicBezTo>
                <a:cubicBezTo>
                  <a:pt x="5860326" y="4831420"/>
                  <a:pt x="5849657" y="4857522"/>
                  <a:pt x="5842606" y="4884572"/>
                </a:cubicBezTo>
                <a:cubicBezTo>
                  <a:pt x="5840129" y="4893907"/>
                  <a:pt x="5840512" y="4904195"/>
                  <a:pt x="5840321" y="4913909"/>
                </a:cubicBezTo>
                <a:cubicBezTo>
                  <a:pt x="5839750" y="4936201"/>
                  <a:pt x="5845274" y="4959061"/>
                  <a:pt x="5829462" y="4979253"/>
                </a:cubicBezTo>
                <a:cubicBezTo>
                  <a:pt x="5814602" y="4997922"/>
                  <a:pt x="5818983" y="5016785"/>
                  <a:pt x="5830223" y="5036405"/>
                </a:cubicBezTo>
                <a:cubicBezTo>
                  <a:pt x="5838225" y="5050504"/>
                  <a:pt x="5844513" y="5066505"/>
                  <a:pt x="5847560" y="5082317"/>
                </a:cubicBezTo>
                <a:cubicBezTo>
                  <a:pt x="5851752" y="5104036"/>
                  <a:pt x="5853466" y="5125562"/>
                  <a:pt x="5850988" y="5148995"/>
                </a:cubicBezTo>
                <a:cubicBezTo>
                  <a:pt x="5849275" y="5165570"/>
                  <a:pt x="5848512" y="5179097"/>
                  <a:pt x="5838416" y="5192051"/>
                </a:cubicBezTo>
                <a:cubicBezTo>
                  <a:pt x="5836892" y="5194145"/>
                  <a:pt x="5836510" y="5197955"/>
                  <a:pt x="5836703" y="5200813"/>
                </a:cubicBezTo>
                <a:cubicBezTo>
                  <a:pt x="5839941" y="5238343"/>
                  <a:pt x="5838225" y="5275491"/>
                  <a:pt x="5835937" y="5313403"/>
                </a:cubicBezTo>
                <a:cubicBezTo>
                  <a:pt x="5832892" y="5361598"/>
                  <a:pt x="5841844" y="5412276"/>
                  <a:pt x="5873849" y="5453995"/>
                </a:cubicBezTo>
                <a:cubicBezTo>
                  <a:pt x="5878613" y="5460092"/>
                  <a:pt x="5880708" y="5469236"/>
                  <a:pt x="5881852" y="5477239"/>
                </a:cubicBezTo>
                <a:cubicBezTo>
                  <a:pt x="5886804" y="5514957"/>
                  <a:pt x="5890233" y="5552869"/>
                  <a:pt x="5895758" y="5590590"/>
                </a:cubicBezTo>
                <a:cubicBezTo>
                  <a:pt x="5898806" y="5611164"/>
                  <a:pt x="5901474" y="5632691"/>
                  <a:pt x="5909856" y="5651360"/>
                </a:cubicBezTo>
                <a:cubicBezTo>
                  <a:pt x="5918047" y="5669647"/>
                  <a:pt x="5927762" y="5684320"/>
                  <a:pt x="5910618" y="5695178"/>
                </a:cubicBezTo>
                <a:cubicBezTo>
                  <a:pt x="5919762" y="5714607"/>
                  <a:pt x="5927383" y="5731564"/>
                  <a:pt x="5935573" y="5748136"/>
                </a:cubicBezTo>
                <a:cubicBezTo>
                  <a:pt x="5938620" y="5754234"/>
                  <a:pt x="5943575" y="5759378"/>
                  <a:pt x="5946433" y="5765474"/>
                </a:cubicBezTo>
                <a:cubicBezTo>
                  <a:pt x="5949481" y="5771953"/>
                  <a:pt x="5951385" y="5779191"/>
                  <a:pt x="5952911" y="5786239"/>
                </a:cubicBezTo>
                <a:cubicBezTo>
                  <a:pt x="5959768" y="5817674"/>
                  <a:pt x="5966054" y="5849107"/>
                  <a:pt x="5973485" y="5880348"/>
                </a:cubicBezTo>
                <a:cubicBezTo>
                  <a:pt x="5975008" y="5886447"/>
                  <a:pt x="5981104" y="5891590"/>
                  <a:pt x="5985103" y="5897114"/>
                </a:cubicBezTo>
                <a:cubicBezTo>
                  <a:pt x="5987772" y="5900735"/>
                  <a:pt x="5991773" y="5904353"/>
                  <a:pt x="5992345" y="5908355"/>
                </a:cubicBezTo>
                <a:cubicBezTo>
                  <a:pt x="5996917" y="5938836"/>
                  <a:pt x="6002252" y="5969124"/>
                  <a:pt x="6004537" y="5999796"/>
                </a:cubicBezTo>
                <a:cubicBezTo>
                  <a:pt x="6006440" y="6025515"/>
                  <a:pt x="6005871" y="6050282"/>
                  <a:pt x="6039018" y="6056948"/>
                </a:cubicBezTo>
                <a:cubicBezTo>
                  <a:pt x="6044734" y="6058092"/>
                  <a:pt x="6050831" y="6066284"/>
                  <a:pt x="6053687" y="6072569"/>
                </a:cubicBezTo>
                <a:cubicBezTo>
                  <a:pt x="6061879" y="6090477"/>
                  <a:pt x="6067404" y="6109530"/>
                  <a:pt x="6075785" y="6127247"/>
                </a:cubicBezTo>
                <a:cubicBezTo>
                  <a:pt x="6103790" y="6185351"/>
                  <a:pt x="6121508" y="6246121"/>
                  <a:pt x="6118269" y="6311084"/>
                </a:cubicBezTo>
                <a:cubicBezTo>
                  <a:pt x="6117317" y="6331277"/>
                  <a:pt x="6107028" y="6350899"/>
                  <a:pt x="6103217" y="6363664"/>
                </a:cubicBezTo>
                <a:cubicBezTo>
                  <a:pt x="6118269" y="6400429"/>
                  <a:pt x="6132747" y="6431292"/>
                  <a:pt x="6143606" y="6463490"/>
                </a:cubicBezTo>
                <a:cubicBezTo>
                  <a:pt x="6153322" y="6491874"/>
                  <a:pt x="6159418" y="6521593"/>
                  <a:pt x="6166466" y="6550742"/>
                </a:cubicBezTo>
                <a:cubicBezTo>
                  <a:pt x="6169135" y="6561411"/>
                  <a:pt x="6170658" y="6572269"/>
                  <a:pt x="6171993" y="6583128"/>
                </a:cubicBezTo>
                <a:cubicBezTo>
                  <a:pt x="6176183" y="6617036"/>
                  <a:pt x="6166086" y="6652472"/>
                  <a:pt x="6182089" y="6685617"/>
                </a:cubicBezTo>
                <a:cubicBezTo>
                  <a:pt x="6190471" y="6702955"/>
                  <a:pt x="6200567" y="6720103"/>
                  <a:pt x="6204949" y="6738388"/>
                </a:cubicBezTo>
                <a:cubicBezTo>
                  <a:pt x="6209712" y="6758011"/>
                  <a:pt x="6217142" y="6777207"/>
                  <a:pt x="6222453" y="6796804"/>
                </a:cubicBezTo>
                <a:lnTo>
                  <a:pt x="6227224" y="6857457"/>
                </a:lnTo>
                <a:lnTo>
                  <a:pt x="6099985" y="6857457"/>
                </a:lnTo>
                <a:lnTo>
                  <a:pt x="6099985" y="6857998"/>
                </a:lnTo>
                <a:lnTo>
                  <a:pt x="0" y="6857998"/>
                </a:lnTo>
                <a:close/>
              </a:path>
            </a:pathLst>
          </a:custGeom>
          <a:effectLst>
            <a:outerShdw blurRad="381000" dist="152400" algn="tl" rotWithShape="0">
              <a:prstClr val="black">
                <a:alpha val="10000"/>
              </a:prstClr>
            </a:outerShdw>
          </a:effectLst>
        </p:spPr>
      </p:pic>
      <p:sp>
        <p:nvSpPr>
          <p:cNvPr id="11" name="Freeform: Shape 10">
            <a:extLst>
              <a:ext uri="{FF2B5EF4-FFF2-40B4-BE49-F238E27FC236}">
                <a16:creationId xmlns:a16="http://schemas.microsoft.com/office/drawing/2014/main" id="{B01367A3-F670-4BD9-9972-F7E97FC22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38C3DB02-606C-40EC-8381-7A29A1ADF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36690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8CF55-FE45-6996-8376-D537E93C0CEB}"/>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EBF63425-E807-EC9D-B2DA-2A72D4AF1A0F}"/>
              </a:ext>
            </a:extLst>
          </p:cNvPr>
          <p:cNvSpPr>
            <a:spLocks noGrp="1"/>
          </p:cNvSpPr>
          <p:nvPr>
            <p:ph idx="1"/>
          </p:nvPr>
        </p:nvSpPr>
        <p:spPr/>
        <p:txBody>
          <a:bodyPr/>
          <a:lstStyle/>
          <a:p>
            <a:pPr marL="0" indent="0">
              <a:buNone/>
            </a:pPr>
            <a:r>
              <a:rPr lang="en-US" dirty="0"/>
              <a:t>Do the wires fall out of your motor driver?</a:t>
            </a:r>
          </a:p>
          <a:p>
            <a:pPr marL="0" indent="0">
              <a:buNone/>
            </a:pPr>
            <a:endParaRPr lang="en-US" dirty="0"/>
          </a:p>
          <a:p>
            <a:pPr marL="0" indent="0">
              <a:buNone/>
            </a:pPr>
            <a:r>
              <a:rPr lang="en-US" dirty="0"/>
              <a:t>There is a special way to insert them.</a:t>
            </a:r>
            <a:endParaRPr lang="en-GB" dirty="0"/>
          </a:p>
        </p:txBody>
      </p:sp>
    </p:spTree>
    <p:extLst>
      <p:ext uri="{BB962C8B-B14F-4D97-AF65-F5344CB8AC3E}">
        <p14:creationId xmlns:p14="http://schemas.microsoft.com/office/powerpoint/2010/main" val="4035161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65A1D-6F62-4F42-AAF4-B09945698D06}"/>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7B0A50FF-D91E-41ED-B7C3-8D15BAA2412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30162" r="27433" b="35458"/>
          <a:stretch/>
        </p:blipFill>
        <p:spPr>
          <a:xfrm>
            <a:off x="0" y="0"/>
            <a:ext cx="10866922" cy="6864715"/>
          </a:xfrm>
        </p:spPr>
      </p:pic>
    </p:spTree>
    <p:extLst>
      <p:ext uri="{BB962C8B-B14F-4D97-AF65-F5344CB8AC3E}">
        <p14:creationId xmlns:p14="http://schemas.microsoft.com/office/powerpoint/2010/main" val="4070601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21662-6A3D-4A60-A512-CDAB9578B89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CDE8B3DB-4F3D-419B-84B6-4F1D6DC08C7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51392" r="41545" b="24496"/>
          <a:stretch/>
        </p:blipFill>
        <p:spPr>
          <a:xfrm>
            <a:off x="0" y="0"/>
            <a:ext cx="11805991" cy="6492876"/>
          </a:xfrm>
        </p:spPr>
      </p:pic>
    </p:spTree>
    <p:extLst>
      <p:ext uri="{BB962C8B-B14F-4D97-AF65-F5344CB8AC3E}">
        <p14:creationId xmlns:p14="http://schemas.microsoft.com/office/powerpoint/2010/main" val="3739288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5BDE4-0A21-ACDC-3E7B-2C23DA1D833B}"/>
              </a:ext>
            </a:extLst>
          </p:cNvPr>
          <p:cNvSpPr>
            <a:spLocks noGrp="1"/>
          </p:cNvSpPr>
          <p:nvPr>
            <p:ph type="title"/>
          </p:nvPr>
        </p:nvSpPr>
        <p:spPr/>
        <p:txBody>
          <a:bodyPr/>
          <a:lstStyle/>
          <a:p>
            <a:r>
              <a:rPr lang="en-US" dirty="0"/>
              <a:t>Sensors</a:t>
            </a:r>
            <a:endParaRPr lang="en-GB" dirty="0"/>
          </a:p>
        </p:txBody>
      </p:sp>
      <p:sp>
        <p:nvSpPr>
          <p:cNvPr id="3" name="Content Placeholder 2">
            <a:extLst>
              <a:ext uri="{FF2B5EF4-FFF2-40B4-BE49-F238E27FC236}">
                <a16:creationId xmlns:a16="http://schemas.microsoft.com/office/drawing/2014/main" id="{A49E0558-47DE-C263-EA77-E7FDE46D9F13}"/>
              </a:ext>
            </a:extLst>
          </p:cNvPr>
          <p:cNvSpPr>
            <a:spLocks noGrp="1"/>
          </p:cNvSpPr>
          <p:nvPr>
            <p:ph idx="1"/>
          </p:nvPr>
        </p:nvSpPr>
        <p:spPr/>
        <p:txBody>
          <a:bodyPr/>
          <a:lstStyle/>
          <a:p>
            <a:pPr marL="0" indent="0">
              <a:buNone/>
            </a:pPr>
            <a:r>
              <a:rPr lang="en-US" dirty="0"/>
              <a:t>Let’s talk about sensors</a:t>
            </a:r>
            <a:endParaRPr lang="en-GB" dirty="0"/>
          </a:p>
        </p:txBody>
      </p:sp>
    </p:spTree>
    <p:extLst>
      <p:ext uri="{BB962C8B-B14F-4D97-AF65-F5344CB8AC3E}">
        <p14:creationId xmlns:p14="http://schemas.microsoft.com/office/powerpoint/2010/main" val="997155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C69B8-BA0C-4418-A52B-8E4322F0D0A2}"/>
              </a:ext>
            </a:extLst>
          </p:cNvPr>
          <p:cNvSpPr>
            <a:spLocks noGrp="1"/>
          </p:cNvSpPr>
          <p:nvPr>
            <p:ph type="title"/>
          </p:nvPr>
        </p:nvSpPr>
        <p:spPr/>
        <p:txBody>
          <a:bodyPr/>
          <a:lstStyle/>
          <a:p>
            <a:r>
              <a:rPr lang="en-US" dirty="0"/>
              <a:t>Sensors</a:t>
            </a:r>
            <a:endParaRPr lang="en-GB" dirty="0"/>
          </a:p>
        </p:txBody>
      </p:sp>
      <p:sp>
        <p:nvSpPr>
          <p:cNvPr id="3" name="Content Placeholder 2">
            <a:extLst>
              <a:ext uri="{FF2B5EF4-FFF2-40B4-BE49-F238E27FC236}">
                <a16:creationId xmlns:a16="http://schemas.microsoft.com/office/drawing/2014/main" id="{5DBEA1C5-61CC-4073-AD55-5F02CF40C14F}"/>
              </a:ext>
            </a:extLst>
          </p:cNvPr>
          <p:cNvSpPr>
            <a:spLocks noGrp="1"/>
          </p:cNvSpPr>
          <p:nvPr>
            <p:ph idx="1"/>
          </p:nvPr>
        </p:nvSpPr>
        <p:spPr/>
        <p:txBody>
          <a:bodyPr/>
          <a:lstStyle/>
          <a:p>
            <a:pPr marL="0" indent="0">
              <a:buNone/>
            </a:pPr>
            <a:r>
              <a:rPr lang="en-US" dirty="0"/>
              <a:t>So far, on our little robot car, we have installed two types of analog sensors.  We have the 3 IR sensors to follow the line, and we have the 2 LDR sensors to detect light, luckily our Arduino has 6 analog pins, right? </a:t>
            </a:r>
          </a:p>
          <a:p>
            <a:pPr marL="0" indent="0">
              <a:buNone/>
            </a:pPr>
            <a:endParaRPr lang="en-US" dirty="0"/>
          </a:p>
          <a:p>
            <a:pPr marL="0" indent="0">
              <a:buNone/>
            </a:pPr>
            <a:r>
              <a:rPr lang="en-US" dirty="0"/>
              <a:t>But in the real world we will need to do a lot more than that.  We need to measure things such as air pressure and humidity (how much water is in the air).  We need to check if the robot is on a slope going up or down.  Maybe one side of the robot is raised higher than the other.</a:t>
            </a:r>
          </a:p>
          <a:p>
            <a:pPr marL="0" indent="0">
              <a:buNone/>
            </a:pPr>
            <a:r>
              <a:rPr lang="en-US" dirty="0"/>
              <a:t>There are many types of sensors we could use.  Today we are going to look at some fairly common ones.</a:t>
            </a:r>
            <a:endParaRPr lang="en-GB" dirty="0"/>
          </a:p>
        </p:txBody>
      </p:sp>
    </p:spTree>
    <p:extLst>
      <p:ext uri="{BB962C8B-B14F-4D97-AF65-F5344CB8AC3E}">
        <p14:creationId xmlns:p14="http://schemas.microsoft.com/office/powerpoint/2010/main" val="1994596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CA9FAF-1674-4E23-922B-5A483FDDD855}"/>
              </a:ext>
            </a:extLst>
          </p:cNvPr>
          <p:cNvPicPr>
            <a:picLocks noChangeAspect="1"/>
          </p:cNvPicPr>
          <p:nvPr/>
        </p:nvPicPr>
        <p:blipFill>
          <a:blip r:embed="rId2"/>
          <a:stretch>
            <a:fillRect/>
          </a:stretch>
        </p:blipFill>
        <p:spPr>
          <a:xfrm>
            <a:off x="697665" y="269370"/>
            <a:ext cx="6059014" cy="3992237"/>
          </a:xfrm>
          <a:prstGeom prst="rect">
            <a:avLst/>
          </a:prstGeom>
        </p:spPr>
      </p:pic>
      <p:sp>
        <p:nvSpPr>
          <p:cNvPr id="3" name="Content Placeholder 2">
            <a:extLst>
              <a:ext uri="{FF2B5EF4-FFF2-40B4-BE49-F238E27FC236}">
                <a16:creationId xmlns:a16="http://schemas.microsoft.com/office/drawing/2014/main" id="{C133F18B-D648-4EB9-BBB4-3D9BE8856084}"/>
              </a:ext>
            </a:extLst>
          </p:cNvPr>
          <p:cNvSpPr>
            <a:spLocks noGrp="1"/>
          </p:cNvSpPr>
          <p:nvPr>
            <p:ph idx="1"/>
          </p:nvPr>
        </p:nvSpPr>
        <p:spPr>
          <a:xfrm>
            <a:off x="838200" y="4328719"/>
            <a:ext cx="10515600" cy="2259911"/>
          </a:xfrm>
        </p:spPr>
        <p:txBody>
          <a:bodyPr>
            <a:normAutofit/>
          </a:bodyPr>
          <a:lstStyle/>
          <a:p>
            <a:pPr marL="0" indent="0">
              <a:buNone/>
            </a:pPr>
            <a:r>
              <a:rPr lang="en-US" dirty="0"/>
              <a:t>This sensor is made by Bosch, it can measure temperature, air pressure and humidity.   It is a single package with 3 sensors onboard.</a:t>
            </a:r>
          </a:p>
          <a:p>
            <a:pPr marL="0" indent="0">
              <a:buNone/>
            </a:pPr>
            <a:r>
              <a:rPr lang="en-US" dirty="0"/>
              <a:t>It is a very commonly used sensor in weather stations and for home appliances.  It can be used in some simple medical equipment too.</a:t>
            </a:r>
            <a:endParaRPr lang="en-GB" dirty="0"/>
          </a:p>
        </p:txBody>
      </p:sp>
      <p:sp>
        <p:nvSpPr>
          <p:cNvPr id="6" name="TextBox 5">
            <a:extLst>
              <a:ext uri="{FF2B5EF4-FFF2-40B4-BE49-F238E27FC236}">
                <a16:creationId xmlns:a16="http://schemas.microsoft.com/office/drawing/2014/main" id="{CF9FC4D5-BA86-4DF0-A432-6DC1A9D423F8}"/>
              </a:ext>
            </a:extLst>
          </p:cNvPr>
          <p:cNvSpPr txBox="1"/>
          <p:nvPr/>
        </p:nvSpPr>
        <p:spPr>
          <a:xfrm>
            <a:off x="6920917" y="1073791"/>
            <a:ext cx="3926048" cy="707886"/>
          </a:xfrm>
          <a:prstGeom prst="rect">
            <a:avLst/>
          </a:prstGeom>
          <a:noFill/>
        </p:spPr>
        <p:txBody>
          <a:bodyPr wrap="square" rtlCol="0">
            <a:spAutoFit/>
          </a:bodyPr>
          <a:lstStyle/>
          <a:p>
            <a:r>
              <a:rPr lang="en-US" sz="4000" dirty="0"/>
              <a:t>BME 280</a:t>
            </a:r>
            <a:endParaRPr lang="en-GB" sz="4000" dirty="0"/>
          </a:p>
        </p:txBody>
      </p:sp>
    </p:spTree>
    <p:extLst>
      <p:ext uri="{BB962C8B-B14F-4D97-AF65-F5344CB8AC3E}">
        <p14:creationId xmlns:p14="http://schemas.microsoft.com/office/powerpoint/2010/main" val="189727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3D752D-40E2-4234-9541-B8541DBC8164}"/>
              </a:ext>
            </a:extLst>
          </p:cNvPr>
          <p:cNvSpPr>
            <a:spLocks noGrp="1"/>
          </p:cNvSpPr>
          <p:nvPr>
            <p:ph idx="1"/>
          </p:nvPr>
        </p:nvSpPr>
        <p:spPr>
          <a:xfrm>
            <a:off x="838200" y="444617"/>
            <a:ext cx="10515600" cy="5732346"/>
          </a:xfrm>
        </p:spPr>
        <p:txBody>
          <a:bodyPr/>
          <a:lstStyle/>
          <a:p>
            <a:pPr marL="0" indent="0">
              <a:buNone/>
            </a:pPr>
            <a:r>
              <a:rPr lang="en-US" dirty="0"/>
              <a:t>Why is this relevant?  Well, you can use it to do simple weather estimation.  You can make your robot reduce it’s speed in wet conditions.</a:t>
            </a:r>
          </a:p>
          <a:p>
            <a:pPr marL="0" indent="0">
              <a:buNone/>
            </a:pPr>
            <a:r>
              <a:rPr lang="en-US" dirty="0"/>
              <a:t>Maybe you want your robot to stop/start the motors when you breathe on the sensor. (</a:t>
            </a:r>
            <a:r>
              <a:rPr lang="en-US" b="1" dirty="0"/>
              <a:t>Our breath contains a lot of moisture, so it quickly raises humidity</a:t>
            </a:r>
            <a:r>
              <a:rPr lang="en-US" dirty="0"/>
              <a:t>).</a:t>
            </a:r>
          </a:p>
          <a:p>
            <a:pPr marL="0" indent="0">
              <a:buNone/>
            </a:pPr>
            <a:r>
              <a:rPr lang="en-US" dirty="0"/>
              <a:t>You could have the robot move towards areas of high humidity, so the robot can find a water source.</a:t>
            </a:r>
          </a:p>
          <a:p>
            <a:pPr marL="0" indent="0">
              <a:buNone/>
            </a:pPr>
            <a:r>
              <a:rPr lang="en-US" dirty="0"/>
              <a:t>As for the air pressure sensor – if it is precise enough you can use it to estimate the height above sea level.  You can check if the height has raised or lowered since the robot was activated.</a:t>
            </a:r>
          </a:p>
          <a:p>
            <a:pPr marL="0" indent="0">
              <a:buNone/>
            </a:pPr>
            <a:r>
              <a:rPr lang="en-US" dirty="0"/>
              <a:t>You can have the robot move towards/away from areas of high temperature, or see if the motor is overheating.</a:t>
            </a:r>
          </a:p>
        </p:txBody>
      </p:sp>
    </p:spTree>
    <p:extLst>
      <p:ext uri="{BB962C8B-B14F-4D97-AF65-F5344CB8AC3E}">
        <p14:creationId xmlns:p14="http://schemas.microsoft.com/office/powerpoint/2010/main" val="677282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D4009B-B602-4703-8150-7B064389413E}"/>
              </a:ext>
            </a:extLst>
          </p:cNvPr>
          <p:cNvPicPr>
            <a:picLocks noChangeAspect="1"/>
          </p:cNvPicPr>
          <p:nvPr/>
        </p:nvPicPr>
        <p:blipFill>
          <a:blip r:embed="rId2"/>
          <a:stretch>
            <a:fillRect/>
          </a:stretch>
        </p:blipFill>
        <p:spPr>
          <a:xfrm>
            <a:off x="0" y="1089996"/>
            <a:ext cx="12192000" cy="4678008"/>
          </a:xfrm>
          <a:prstGeom prst="rect">
            <a:avLst/>
          </a:prstGeom>
        </p:spPr>
      </p:pic>
    </p:spTree>
    <p:extLst>
      <p:ext uri="{BB962C8B-B14F-4D97-AF65-F5344CB8AC3E}">
        <p14:creationId xmlns:p14="http://schemas.microsoft.com/office/powerpoint/2010/main" val="3500982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4FF77F3-BCC7-4AEF-B8BB-BD2471EAE0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729" y="62219"/>
            <a:ext cx="5708009" cy="5708009"/>
          </a:xfrm>
          <a:prstGeom prst="rect">
            <a:avLst/>
          </a:prstGeom>
        </p:spPr>
      </p:pic>
      <p:sp>
        <p:nvSpPr>
          <p:cNvPr id="9" name="Content Placeholder 8">
            <a:extLst>
              <a:ext uri="{FF2B5EF4-FFF2-40B4-BE49-F238E27FC236}">
                <a16:creationId xmlns:a16="http://schemas.microsoft.com/office/drawing/2014/main" id="{C5DA632F-E852-409C-9FEC-A17F717E24B3}"/>
              </a:ext>
            </a:extLst>
          </p:cNvPr>
          <p:cNvSpPr>
            <a:spLocks noGrp="1"/>
          </p:cNvSpPr>
          <p:nvPr>
            <p:ph idx="1"/>
          </p:nvPr>
        </p:nvSpPr>
        <p:spPr>
          <a:xfrm>
            <a:off x="5989738" y="1825625"/>
            <a:ext cx="5364062" cy="4351338"/>
          </a:xfrm>
        </p:spPr>
        <p:txBody>
          <a:bodyPr/>
          <a:lstStyle/>
          <a:p>
            <a:pPr marL="0" indent="0">
              <a:buNone/>
            </a:pPr>
            <a:r>
              <a:rPr lang="en-US" dirty="0"/>
              <a:t>In our robot kit we have a board with this sensor on it.  We need to solder the header pins to it before we can use it.</a:t>
            </a:r>
          </a:p>
          <a:p>
            <a:pPr marL="0" indent="0">
              <a:buNone/>
            </a:pPr>
            <a:endParaRPr lang="en-US" dirty="0"/>
          </a:p>
          <a:p>
            <a:pPr marL="0" indent="0">
              <a:buNone/>
            </a:pPr>
            <a:r>
              <a:rPr lang="en-US" dirty="0"/>
              <a:t>We will talk about the pins later in the lecture.</a:t>
            </a:r>
            <a:endParaRPr lang="en-GB" dirty="0"/>
          </a:p>
        </p:txBody>
      </p:sp>
    </p:spTree>
    <p:extLst>
      <p:ext uri="{BB962C8B-B14F-4D97-AF65-F5344CB8AC3E}">
        <p14:creationId xmlns:p14="http://schemas.microsoft.com/office/powerpoint/2010/main" val="495048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41EFB-0296-48CB-A282-C94B1C4762F2}"/>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6799CBC1-70D2-4E3E-B137-CFE1D2344189}"/>
              </a:ext>
            </a:extLst>
          </p:cNvPr>
          <p:cNvSpPr>
            <a:spLocks noGrp="1"/>
          </p:cNvSpPr>
          <p:nvPr>
            <p:ph idx="1"/>
          </p:nvPr>
        </p:nvSpPr>
        <p:spPr/>
        <p:txBody>
          <a:bodyPr/>
          <a:lstStyle/>
          <a:p>
            <a:pPr marL="0" indent="0">
              <a:buNone/>
            </a:pPr>
            <a:r>
              <a:rPr lang="en-US" dirty="0"/>
              <a:t>Using changing air pressure is a good method to determine height, making the robot stop the engines when you lift it up.  But you need to lift it quite high to do that.  And due to environmental variables it may trigger the robot at the wrong time.</a:t>
            </a:r>
          </a:p>
          <a:p>
            <a:pPr marL="0" indent="0">
              <a:buNone/>
            </a:pPr>
            <a:endParaRPr lang="en-US" dirty="0"/>
          </a:p>
          <a:p>
            <a:pPr marL="0" indent="0">
              <a:buNone/>
            </a:pPr>
            <a:r>
              <a:rPr lang="en-US" dirty="0"/>
              <a:t>A better method would be to use an accelerometer.  This is used to measure acceleration in different directions.  You have them in your phone and many other devices.</a:t>
            </a:r>
            <a:endParaRPr lang="en-GB" dirty="0"/>
          </a:p>
        </p:txBody>
      </p:sp>
    </p:spTree>
    <p:extLst>
      <p:ext uri="{BB962C8B-B14F-4D97-AF65-F5344CB8AC3E}">
        <p14:creationId xmlns:p14="http://schemas.microsoft.com/office/powerpoint/2010/main" val="2217269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6C355-30A2-442D-9E36-D3ADC0F08A49}"/>
              </a:ext>
            </a:extLst>
          </p:cNvPr>
          <p:cNvSpPr>
            <a:spLocks noGrp="1"/>
          </p:cNvSpPr>
          <p:nvPr>
            <p:ph idx="1"/>
          </p:nvPr>
        </p:nvSpPr>
        <p:spPr>
          <a:xfrm>
            <a:off x="838200" y="1593908"/>
            <a:ext cx="10515600" cy="5161896"/>
          </a:xfrm>
        </p:spPr>
        <p:txBody>
          <a:bodyPr>
            <a:noAutofit/>
          </a:bodyPr>
          <a:lstStyle/>
          <a:p>
            <a:pPr marL="0" indent="0">
              <a:buNone/>
            </a:pPr>
            <a:r>
              <a:rPr lang="en-GB" b="0" i="0" dirty="0">
                <a:effectLst/>
              </a:rPr>
              <a:t>An accelerometer works using an electromechanical sensor that is designed to measure either static or dynamic acceleration. Static acceleration is the constant force acting on a body, like gravity or friction. These forces are predictable and uniform to a large extend. For example, the acceleration due to gravity is constant at 9.8m/s, and the gravitation force is almost the same at every point on earth.</a:t>
            </a:r>
            <a:br>
              <a:rPr lang="en-GB" dirty="0"/>
            </a:br>
            <a:br>
              <a:rPr lang="en-GB" dirty="0"/>
            </a:br>
            <a:r>
              <a:rPr lang="en-GB" b="0" i="0" dirty="0">
                <a:effectLst/>
              </a:rPr>
              <a:t>Dynamic acceleration forces are non-uniform, and the best example is vibration or shock. A car crash is an excellent example of dynamic acceleration. Here, the acceleration change is sudden when compared to its previous state. The theory behind accelerometers is that they can detect acceleration and convert it into measurable quantities like electrical signals.</a:t>
            </a:r>
            <a:endParaRPr lang="en-GB" dirty="0"/>
          </a:p>
        </p:txBody>
      </p:sp>
      <p:sp>
        <p:nvSpPr>
          <p:cNvPr id="4" name="Title 1">
            <a:extLst>
              <a:ext uri="{FF2B5EF4-FFF2-40B4-BE49-F238E27FC236}">
                <a16:creationId xmlns:a16="http://schemas.microsoft.com/office/drawing/2014/main" id="{EE2300A2-978F-49A9-8E41-5E09AA01408E}"/>
              </a:ext>
            </a:extLst>
          </p:cNvPr>
          <p:cNvSpPr>
            <a:spLocks noGrp="1"/>
          </p:cNvSpPr>
          <p:nvPr>
            <p:ph type="title"/>
          </p:nvPr>
        </p:nvSpPr>
        <p:spPr>
          <a:xfrm>
            <a:off x="838200" y="365125"/>
            <a:ext cx="10515600" cy="1325563"/>
          </a:xfrm>
        </p:spPr>
        <p:txBody>
          <a:bodyPr/>
          <a:lstStyle/>
          <a:p>
            <a:r>
              <a:rPr lang="en-US" dirty="0"/>
              <a:t>Accelerometer</a:t>
            </a:r>
            <a:endParaRPr lang="en-GB" dirty="0"/>
          </a:p>
        </p:txBody>
      </p:sp>
    </p:spTree>
    <p:extLst>
      <p:ext uri="{BB962C8B-B14F-4D97-AF65-F5344CB8AC3E}">
        <p14:creationId xmlns:p14="http://schemas.microsoft.com/office/powerpoint/2010/main" val="9801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02A31B-EA97-4038-A3F9-F1C3D77F7335}"/>
              </a:ext>
            </a:extLst>
          </p:cNvPr>
          <p:cNvSpPr>
            <a:spLocks noGrp="1"/>
          </p:cNvSpPr>
          <p:nvPr>
            <p:ph idx="1"/>
          </p:nvPr>
        </p:nvSpPr>
        <p:spPr>
          <a:xfrm>
            <a:off x="838200" y="461394"/>
            <a:ext cx="10515600" cy="5715569"/>
          </a:xfrm>
        </p:spPr>
        <p:txBody>
          <a:bodyPr/>
          <a:lstStyle/>
          <a:p>
            <a:pPr marL="0" indent="0">
              <a:buNone/>
            </a:pPr>
            <a:r>
              <a:rPr lang="en-US" dirty="0"/>
              <a:t>We will be using a 3-axis accelerometer.  It can measure acceleration moving forwards/backwards (x-axis), side-to-side (y-axis) and up/down (z-axis).</a:t>
            </a:r>
          </a:p>
          <a:p>
            <a:pPr marL="0" indent="0">
              <a:buNone/>
            </a:pPr>
            <a:endParaRPr lang="en-US" dirty="0"/>
          </a:p>
          <a:p>
            <a:pPr marL="0" indent="0">
              <a:buNone/>
            </a:pPr>
            <a:r>
              <a:rPr lang="en-US" dirty="0"/>
              <a:t>Remember, when the robot is steady, there is a constant acceleration downwards because of gravity.  If the car is rolling over, the different sensors will read different accelerations due to gravity.</a:t>
            </a:r>
          </a:p>
          <a:p>
            <a:pPr marL="0" indent="0">
              <a:buNone/>
            </a:pPr>
            <a:endParaRPr lang="en-US" dirty="0"/>
          </a:p>
          <a:p>
            <a:pPr marL="0" indent="0">
              <a:buNone/>
            </a:pPr>
            <a:r>
              <a:rPr lang="en-US" dirty="0"/>
              <a:t>If the robot is falling the y-axis will read 0 acceleration.  If the robot is picked up, the robot will read a high y-acceleration.  If the robot is lowered to the ground (or going down a slope) the robot will read a low y-axis acceleration.</a:t>
            </a:r>
            <a:endParaRPr lang="en-GB" dirty="0"/>
          </a:p>
        </p:txBody>
      </p:sp>
    </p:spTree>
    <p:extLst>
      <p:ext uri="{BB962C8B-B14F-4D97-AF65-F5344CB8AC3E}">
        <p14:creationId xmlns:p14="http://schemas.microsoft.com/office/powerpoint/2010/main" val="1783788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7E7D-F9A3-49BF-A39B-D0562FC52B2E}"/>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D0AFB438-433F-4B6D-8CA4-4799B830AB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202" y="22757"/>
            <a:ext cx="11841421" cy="6654879"/>
          </a:xfrm>
        </p:spPr>
      </p:pic>
    </p:spTree>
    <p:extLst>
      <p:ext uri="{BB962C8B-B14F-4D97-AF65-F5344CB8AC3E}">
        <p14:creationId xmlns:p14="http://schemas.microsoft.com/office/powerpoint/2010/main" val="3034843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32EF1-A7A4-440B-BB82-9E38BB5A22F8}"/>
              </a:ext>
            </a:extLst>
          </p:cNvPr>
          <p:cNvSpPr>
            <a:spLocks noGrp="1"/>
          </p:cNvSpPr>
          <p:nvPr>
            <p:ph type="title"/>
          </p:nvPr>
        </p:nvSpPr>
        <p:spPr/>
        <p:txBody>
          <a:bodyPr/>
          <a:lstStyle/>
          <a:p>
            <a:r>
              <a:rPr lang="en-US" dirty="0"/>
              <a:t>Gyroscope</a:t>
            </a:r>
            <a:endParaRPr lang="en-GB" dirty="0"/>
          </a:p>
        </p:txBody>
      </p:sp>
      <p:sp>
        <p:nvSpPr>
          <p:cNvPr id="3" name="Content Placeholder 2">
            <a:extLst>
              <a:ext uri="{FF2B5EF4-FFF2-40B4-BE49-F238E27FC236}">
                <a16:creationId xmlns:a16="http://schemas.microsoft.com/office/drawing/2014/main" id="{328F6493-63E5-434F-9EC3-8AA01F889E4A}"/>
              </a:ext>
            </a:extLst>
          </p:cNvPr>
          <p:cNvSpPr>
            <a:spLocks noGrp="1"/>
          </p:cNvSpPr>
          <p:nvPr>
            <p:ph idx="1"/>
          </p:nvPr>
        </p:nvSpPr>
        <p:spPr>
          <a:xfrm>
            <a:off x="838200" y="1585518"/>
            <a:ext cx="10515600" cy="4999839"/>
          </a:xfrm>
        </p:spPr>
        <p:txBody>
          <a:bodyPr>
            <a:normAutofit/>
          </a:bodyPr>
          <a:lstStyle/>
          <a:p>
            <a:pPr marL="0" indent="0">
              <a:buNone/>
            </a:pPr>
            <a:r>
              <a:rPr lang="en-GB" b="0" i="0" dirty="0">
                <a:effectLst/>
                <a:latin typeface="Arial" panose="020B0604020202020204" pitchFamily="34" charset="0"/>
              </a:rPr>
              <a:t>Gyroscope sensor is a device that can measure and maintain the orientation and </a:t>
            </a:r>
            <a:r>
              <a:rPr lang="en-GB" b="0" i="0" u="none" strike="noStrike" dirty="0">
                <a:effectLst/>
                <a:latin typeface="Arial" panose="020B0604020202020204" pitchFamily="34" charset="0"/>
                <a:hlinkClick r:id="rId2">
                  <a:extLst>
                    <a:ext uri="{A12FA001-AC4F-418D-AE19-62706E023703}">
                      <ahyp:hlinkClr xmlns:ahyp="http://schemas.microsoft.com/office/drawing/2018/hyperlinkcolor" val="tx"/>
                    </a:ext>
                  </a:extLst>
                </a:hlinkClick>
              </a:rPr>
              <a:t>angular velocity </a:t>
            </a:r>
            <a:r>
              <a:rPr lang="en-GB" b="0" i="0" dirty="0">
                <a:effectLst/>
                <a:latin typeface="Arial" panose="020B0604020202020204" pitchFamily="34" charset="0"/>
              </a:rPr>
              <a:t>of an object. These are more advanced than accelerometers. These can measure the tilt and lateral orientation of the object whereas accelerometer can only measure the linear motion.</a:t>
            </a:r>
          </a:p>
          <a:p>
            <a:pPr algn="just" fontAlgn="base"/>
            <a:r>
              <a:rPr lang="en-GB" b="0" i="0" dirty="0">
                <a:effectLst/>
                <a:latin typeface="Arial" panose="020B0604020202020204" pitchFamily="34" charset="0"/>
              </a:rPr>
              <a:t>Gyroscope sensors are also called as Angular Rate Sensor or Angular Velocity Sensors. These sensors are installed in the applications where the orientation of the object is difficult to sense by humans.</a:t>
            </a:r>
          </a:p>
          <a:p>
            <a:pPr algn="just" fontAlgn="base"/>
            <a:r>
              <a:rPr lang="en-GB" b="0" i="0" dirty="0">
                <a:effectLst/>
                <a:latin typeface="Arial" panose="020B0604020202020204" pitchFamily="34" charset="0"/>
              </a:rPr>
              <a:t>Measured in degrees per second, angular velocity is the change in the rotational angle of the object per unit of time.</a:t>
            </a:r>
          </a:p>
          <a:p>
            <a:pPr marL="0" indent="0">
              <a:buNone/>
            </a:pPr>
            <a:endParaRPr lang="en-GB" dirty="0"/>
          </a:p>
        </p:txBody>
      </p:sp>
    </p:spTree>
    <p:extLst>
      <p:ext uri="{BB962C8B-B14F-4D97-AF65-F5344CB8AC3E}">
        <p14:creationId xmlns:p14="http://schemas.microsoft.com/office/powerpoint/2010/main" val="366550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9350F0-E29B-4A46-9B08-02778525CF66}"/>
              </a:ext>
            </a:extLst>
          </p:cNvPr>
          <p:cNvSpPr>
            <a:spLocks noGrp="1"/>
          </p:cNvSpPr>
          <p:nvPr>
            <p:ph idx="1"/>
          </p:nvPr>
        </p:nvSpPr>
        <p:spPr>
          <a:xfrm>
            <a:off x="838200" y="511728"/>
            <a:ext cx="10515600" cy="5665235"/>
          </a:xfrm>
        </p:spPr>
        <p:txBody>
          <a:bodyPr/>
          <a:lstStyle/>
          <a:p>
            <a:pPr marL="0" indent="0" algn="just" fontAlgn="base">
              <a:buNone/>
            </a:pPr>
            <a:r>
              <a:rPr lang="en-GB" b="0" i="0" dirty="0">
                <a:effectLst/>
                <a:latin typeface="Arial" panose="020B0604020202020204" pitchFamily="34" charset="0"/>
              </a:rPr>
              <a:t>Besides sensing the angular velocity, Gyroscope sensors can also measure the motion of the object. For more robust and accurate motion sensing, in consumer electronics Gyroscope sensors are combined with Accelerometer sensors.</a:t>
            </a:r>
          </a:p>
          <a:p>
            <a:pPr marL="0" indent="0" algn="just" fontAlgn="base">
              <a:buNone/>
            </a:pPr>
            <a:r>
              <a:rPr lang="en-GB" b="0" i="0" dirty="0">
                <a:effectLst/>
                <a:latin typeface="Arial" panose="020B0604020202020204" pitchFamily="34" charset="0"/>
              </a:rPr>
              <a:t>Depending on the direction there are three types of angular rate measurements. </a:t>
            </a:r>
          </a:p>
          <a:p>
            <a:pPr marL="0" indent="0" algn="just" fontAlgn="base">
              <a:buNone/>
            </a:pPr>
            <a:r>
              <a:rPr lang="en-GB" b="0" i="0" dirty="0">
                <a:effectLst/>
                <a:latin typeface="Arial" panose="020B0604020202020204" pitchFamily="34" charset="0"/>
              </a:rPr>
              <a:t>Yaw- the horizontal rotation on a flat surface when seen the object from above, </a:t>
            </a:r>
          </a:p>
          <a:p>
            <a:pPr marL="0" indent="0" algn="just" fontAlgn="base">
              <a:buNone/>
            </a:pPr>
            <a:r>
              <a:rPr lang="en-GB" b="0" i="0" dirty="0">
                <a:effectLst/>
                <a:latin typeface="Arial" panose="020B0604020202020204" pitchFamily="34" charset="0"/>
              </a:rPr>
              <a:t>Pitch- Vertical rotation as seen the object from front, </a:t>
            </a:r>
          </a:p>
          <a:p>
            <a:pPr marL="0" indent="0" algn="just" fontAlgn="base">
              <a:buNone/>
            </a:pPr>
            <a:r>
              <a:rPr lang="en-GB" b="0" i="0" dirty="0">
                <a:effectLst/>
                <a:latin typeface="Arial" panose="020B0604020202020204" pitchFamily="34" charset="0"/>
              </a:rPr>
              <a:t>Roll- the horizontal rotation when seen the object from front.</a:t>
            </a:r>
          </a:p>
          <a:p>
            <a:pPr marL="0" indent="0">
              <a:buNone/>
            </a:pPr>
            <a:endParaRPr lang="en-GB" dirty="0"/>
          </a:p>
        </p:txBody>
      </p:sp>
    </p:spTree>
    <p:extLst>
      <p:ext uri="{BB962C8B-B14F-4D97-AF65-F5344CB8AC3E}">
        <p14:creationId xmlns:p14="http://schemas.microsoft.com/office/powerpoint/2010/main" val="1796878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CA2D92-4A5C-4DED-B79C-901517C9E5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80"/>
            <a:ext cx="12192000" cy="6847440"/>
          </a:xfrm>
          <a:prstGeom prst="rect">
            <a:avLst/>
          </a:prstGeom>
        </p:spPr>
      </p:pic>
      <p:sp>
        <p:nvSpPr>
          <p:cNvPr id="6" name="Rectangle 5">
            <a:extLst>
              <a:ext uri="{FF2B5EF4-FFF2-40B4-BE49-F238E27FC236}">
                <a16:creationId xmlns:a16="http://schemas.microsoft.com/office/drawing/2014/main" id="{A3D53147-6FE1-4EAB-A6FF-D92B0AF8B1B5}"/>
              </a:ext>
            </a:extLst>
          </p:cNvPr>
          <p:cNvSpPr/>
          <p:nvPr/>
        </p:nvSpPr>
        <p:spPr>
          <a:xfrm>
            <a:off x="394283" y="3959604"/>
            <a:ext cx="4177717" cy="5033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FE81ECE5-99F8-441C-83BF-1F36CA0E960B}"/>
              </a:ext>
            </a:extLst>
          </p:cNvPr>
          <p:cNvSpPr/>
          <p:nvPr/>
        </p:nvSpPr>
        <p:spPr>
          <a:xfrm>
            <a:off x="5236129" y="5311630"/>
            <a:ext cx="4177717" cy="5033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3F367FA-2F39-46B3-B89E-8577653D407B}"/>
              </a:ext>
            </a:extLst>
          </p:cNvPr>
          <p:cNvSpPr/>
          <p:nvPr/>
        </p:nvSpPr>
        <p:spPr>
          <a:xfrm>
            <a:off x="8014283" y="4462943"/>
            <a:ext cx="4177717" cy="5033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2F72BEC2-1147-4D16-BC2D-3FD405EB210D}"/>
              </a:ext>
            </a:extLst>
          </p:cNvPr>
          <p:cNvSpPr/>
          <p:nvPr/>
        </p:nvSpPr>
        <p:spPr>
          <a:xfrm>
            <a:off x="4007141" y="6082175"/>
            <a:ext cx="4969079" cy="5870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48006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B9176-95BF-410F-92C3-6F53CD20F175}"/>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6AAF51ED-475D-4B99-9E97-2B128BDC20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250" y="131596"/>
            <a:ext cx="6292442" cy="6726404"/>
          </a:xfrm>
        </p:spPr>
      </p:pic>
      <p:sp>
        <p:nvSpPr>
          <p:cNvPr id="6" name="Content Placeholder 2">
            <a:extLst>
              <a:ext uri="{FF2B5EF4-FFF2-40B4-BE49-F238E27FC236}">
                <a16:creationId xmlns:a16="http://schemas.microsoft.com/office/drawing/2014/main" id="{AB184117-C6AB-4313-8D3C-A7DB3AFB26DC}"/>
              </a:ext>
            </a:extLst>
          </p:cNvPr>
          <p:cNvSpPr txBox="1">
            <a:spLocks/>
          </p:cNvSpPr>
          <p:nvPr/>
        </p:nvSpPr>
        <p:spPr>
          <a:xfrm>
            <a:off x="6778304" y="1853967"/>
            <a:ext cx="5070446" cy="43229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 gyroscope is very useful in our robot, because we can easily detect if our robot is on a slope, or if it has been picked up.</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99832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2CE4D-E1C1-4093-B6D6-7E82DE1F0EAC}"/>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F6825E38-05C7-43E5-AA56-5A752A33F07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8776" r="10512"/>
          <a:stretch/>
        </p:blipFill>
        <p:spPr>
          <a:xfrm>
            <a:off x="0" y="13567"/>
            <a:ext cx="7298423" cy="6830866"/>
          </a:xfrm>
        </p:spPr>
      </p:pic>
      <p:sp>
        <p:nvSpPr>
          <p:cNvPr id="6" name="TextBox 5">
            <a:extLst>
              <a:ext uri="{FF2B5EF4-FFF2-40B4-BE49-F238E27FC236}">
                <a16:creationId xmlns:a16="http://schemas.microsoft.com/office/drawing/2014/main" id="{5B8E0900-22B8-42EB-B062-61C77CED2F36}"/>
              </a:ext>
            </a:extLst>
          </p:cNvPr>
          <p:cNvSpPr txBox="1"/>
          <p:nvPr/>
        </p:nvSpPr>
        <p:spPr>
          <a:xfrm>
            <a:off x="7692705" y="1946246"/>
            <a:ext cx="4328719" cy="923330"/>
          </a:xfrm>
          <a:prstGeom prst="rect">
            <a:avLst/>
          </a:prstGeom>
          <a:noFill/>
        </p:spPr>
        <p:txBody>
          <a:bodyPr wrap="square" rtlCol="0">
            <a:spAutoFit/>
          </a:bodyPr>
          <a:lstStyle/>
          <a:p>
            <a:r>
              <a:rPr lang="en-US" dirty="0"/>
              <a:t>We have 2 sensors with a total of 6 axis.  We can measure 3 axis of acceleration and 3 axis of angles.</a:t>
            </a:r>
            <a:endParaRPr lang="en-GB" dirty="0"/>
          </a:p>
        </p:txBody>
      </p:sp>
    </p:spTree>
    <p:extLst>
      <p:ext uri="{BB962C8B-B14F-4D97-AF65-F5344CB8AC3E}">
        <p14:creationId xmlns:p14="http://schemas.microsoft.com/office/powerpoint/2010/main" val="2639820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B9715A7-9404-4A5C-9288-8DFA897B6257}"/>
              </a:ext>
            </a:extLst>
          </p:cNvPr>
          <p:cNvSpPr>
            <a:spLocks noGrp="1"/>
          </p:cNvSpPr>
          <p:nvPr>
            <p:ph idx="1"/>
          </p:nvPr>
        </p:nvSpPr>
        <p:spPr/>
        <p:txBody>
          <a:bodyPr/>
          <a:lstStyle/>
          <a:p>
            <a:pPr algn="l"/>
            <a:r>
              <a:rPr lang="en-GB" b="0" i="0" dirty="0">
                <a:solidFill>
                  <a:srgbClr val="2E2E2E"/>
                </a:solidFill>
                <a:effectLst/>
                <a:latin typeface="NexusSans"/>
              </a:rPr>
              <a:t>A magnetometer is a scientific instrument used to measure the strength and direction of the magnetic field in the vicinity of the instrument. Magnetism varies from place to place because of differences in Earth’s magnetic field caused by the differing nature of rocks and the interaction between charged particles from the sun and the magnetosphere of a planet.</a:t>
            </a:r>
          </a:p>
          <a:p>
            <a:pPr algn="l"/>
            <a:r>
              <a:rPr lang="en-GB" b="0" i="0" dirty="0">
                <a:solidFill>
                  <a:srgbClr val="2E2E2E"/>
                </a:solidFill>
                <a:effectLst/>
                <a:latin typeface="NexusSans"/>
              </a:rPr>
              <a:t>Magnetometers are used in geophysical surveys to find deposits of iron because they can measure the magnetic field variations caused by the deposits. Magnetometers are also used to detect shipwrecks and other buried or submerged objects.</a:t>
            </a:r>
          </a:p>
          <a:p>
            <a:pPr marL="0" indent="0">
              <a:buNone/>
            </a:pPr>
            <a:endParaRPr lang="en-GB" dirty="0"/>
          </a:p>
        </p:txBody>
      </p:sp>
      <p:sp>
        <p:nvSpPr>
          <p:cNvPr id="6" name="Title 1">
            <a:extLst>
              <a:ext uri="{FF2B5EF4-FFF2-40B4-BE49-F238E27FC236}">
                <a16:creationId xmlns:a16="http://schemas.microsoft.com/office/drawing/2014/main" id="{C1E8873A-AA19-4452-9056-5B8D50B9E4D0}"/>
              </a:ext>
            </a:extLst>
          </p:cNvPr>
          <p:cNvSpPr>
            <a:spLocks noGrp="1"/>
          </p:cNvSpPr>
          <p:nvPr>
            <p:ph type="title"/>
          </p:nvPr>
        </p:nvSpPr>
        <p:spPr>
          <a:xfrm>
            <a:off x="838200" y="365125"/>
            <a:ext cx="10515600" cy="1325563"/>
          </a:xfrm>
        </p:spPr>
        <p:txBody>
          <a:bodyPr/>
          <a:lstStyle/>
          <a:p>
            <a:r>
              <a:rPr lang="en-US" dirty="0"/>
              <a:t>Magnetometer</a:t>
            </a:r>
            <a:endParaRPr lang="en-GB" dirty="0"/>
          </a:p>
        </p:txBody>
      </p:sp>
    </p:spTree>
    <p:extLst>
      <p:ext uri="{BB962C8B-B14F-4D97-AF65-F5344CB8AC3E}">
        <p14:creationId xmlns:p14="http://schemas.microsoft.com/office/powerpoint/2010/main" val="4201617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8A827-2046-4E66-8F6A-5558714F3C7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57BF34B-2B4B-42F7-83E8-F5DE9553929C}"/>
              </a:ext>
            </a:extLst>
          </p:cNvPr>
          <p:cNvSpPr>
            <a:spLocks noGrp="1"/>
          </p:cNvSpPr>
          <p:nvPr>
            <p:ph idx="1"/>
          </p:nvPr>
        </p:nvSpPr>
        <p:spPr>
          <a:xfrm>
            <a:off x="7885650" y="1241571"/>
            <a:ext cx="3468149" cy="4935392"/>
          </a:xfrm>
        </p:spPr>
        <p:txBody>
          <a:bodyPr/>
          <a:lstStyle/>
          <a:p>
            <a:pPr marL="0" indent="0">
              <a:buNone/>
            </a:pPr>
            <a:r>
              <a:rPr lang="en-US" dirty="0"/>
              <a:t>A common use for a magnetometer is as a compass.  You can easily use it to determine North. </a:t>
            </a:r>
          </a:p>
          <a:p>
            <a:pPr marL="0" indent="0">
              <a:buNone/>
            </a:pPr>
            <a:endParaRPr lang="en-US" dirty="0"/>
          </a:p>
          <a:p>
            <a:pPr marL="0" indent="0">
              <a:buNone/>
            </a:pPr>
            <a:r>
              <a:rPr lang="en-US" dirty="0"/>
              <a:t>When you use it with a gyroscope and accelerometer you can accomplish many great things.</a:t>
            </a:r>
            <a:endParaRPr lang="en-GB" dirty="0"/>
          </a:p>
        </p:txBody>
      </p:sp>
      <p:pic>
        <p:nvPicPr>
          <p:cNvPr id="1026" name="Picture 2" descr="iPhone compass">
            <a:extLst>
              <a:ext uri="{FF2B5EF4-FFF2-40B4-BE49-F238E27FC236}">
                <a16:creationId xmlns:a16="http://schemas.microsoft.com/office/drawing/2014/main" id="{E4B23BD5-4A7C-460C-B47E-0F631EBB0B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43" r="17444"/>
          <a:stretch/>
        </p:blipFill>
        <p:spPr bwMode="auto">
          <a:xfrm>
            <a:off x="0" y="0"/>
            <a:ext cx="7801761" cy="6815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567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F621E-FBF5-4216-9173-3961BD41EA09}"/>
              </a:ext>
            </a:extLst>
          </p:cNvPr>
          <p:cNvSpPr>
            <a:spLocks noGrp="1"/>
          </p:cNvSpPr>
          <p:nvPr>
            <p:ph type="title"/>
          </p:nvPr>
        </p:nvSpPr>
        <p:spPr>
          <a:xfrm>
            <a:off x="6040074" y="365125"/>
            <a:ext cx="5313726" cy="1325563"/>
          </a:xfrm>
        </p:spPr>
        <p:txBody>
          <a:bodyPr/>
          <a:lstStyle/>
          <a:p>
            <a:r>
              <a:rPr lang="en-US" dirty="0"/>
              <a:t>MPU-9250</a:t>
            </a:r>
            <a:endParaRPr lang="en-GB" dirty="0"/>
          </a:p>
        </p:txBody>
      </p:sp>
      <p:pic>
        <p:nvPicPr>
          <p:cNvPr id="5" name="Content Placeholder 4">
            <a:extLst>
              <a:ext uri="{FF2B5EF4-FFF2-40B4-BE49-F238E27FC236}">
                <a16:creationId xmlns:a16="http://schemas.microsoft.com/office/drawing/2014/main" id="{ACAE393A-1472-41D9-AD2E-D15AE1B924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6040074" cy="6040074"/>
          </a:xfrm>
        </p:spPr>
      </p:pic>
      <p:sp>
        <p:nvSpPr>
          <p:cNvPr id="6" name="TextBox 5">
            <a:extLst>
              <a:ext uri="{FF2B5EF4-FFF2-40B4-BE49-F238E27FC236}">
                <a16:creationId xmlns:a16="http://schemas.microsoft.com/office/drawing/2014/main" id="{75BECCC1-DDB2-44DE-86A8-94F5B93FFD98}"/>
              </a:ext>
            </a:extLst>
          </p:cNvPr>
          <p:cNvSpPr txBox="1"/>
          <p:nvPr/>
        </p:nvSpPr>
        <p:spPr>
          <a:xfrm>
            <a:off x="6551802" y="1560352"/>
            <a:ext cx="5310231" cy="4832092"/>
          </a:xfrm>
          <a:prstGeom prst="rect">
            <a:avLst/>
          </a:prstGeom>
          <a:noFill/>
        </p:spPr>
        <p:txBody>
          <a:bodyPr wrap="square" rtlCol="0">
            <a:spAutoFit/>
          </a:bodyPr>
          <a:lstStyle/>
          <a:p>
            <a:r>
              <a:rPr lang="en-US" sz="2800" dirty="0"/>
              <a:t>This is an MPU-9250 it is a sensor module with three 3 axis sensors. </a:t>
            </a:r>
          </a:p>
          <a:p>
            <a:endParaRPr lang="en-US" sz="2800" dirty="0"/>
          </a:p>
          <a:p>
            <a:r>
              <a:rPr lang="en-GB" sz="2800" b="0" i="0" dirty="0">
                <a:solidFill>
                  <a:srgbClr val="000000"/>
                </a:solidFill>
                <a:effectLst/>
              </a:rPr>
              <a:t>A triple-axis MEMS gyroscope</a:t>
            </a:r>
            <a:br>
              <a:rPr lang="en-GB" sz="2800" dirty="0"/>
            </a:br>
            <a:r>
              <a:rPr lang="en-GB" sz="2800" b="0" i="0" dirty="0">
                <a:solidFill>
                  <a:srgbClr val="000000"/>
                </a:solidFill>
                <a:effectLst/>
              </a:rPr>
              <a:t>A triple-axis MEMS accelerometer</a:t>
            </a:r>
            <a:r>
              <a:rPr lang="en-GB" sz="2800" dirty="0"/>
              <a:t> </a:t>
            </a:r>
            <a:br>
              <a:rPr lang="en-GB" sz="2800" dirty="0"/>
            </a:br>
            <a:r>
              <a:rPr lang="en-GB" sz="2800" b="0" i="0" dirty="0">
                <a:solidFill>
                  <a:srgbClr val="000000"/>
                </a:solidFill>
                <a:effectLst/>
              </a:rPr>
              <a:t>A triple-axis MEMS magnetometer</a:t>
            </a:r>
          </a:p>
          <a:p>
            <a:endParaRPr lang="en-GB" sz="2800" dirty="0">
              <a:solidFill>
                <a:srgbClr val="000000"/>
              </a:solidFill>
            </a:endParaRPr>
          </a:p>
          <a:p>
            <a:r>
              <a:rPr lang="en-GB" sz="2800" dirty="0">
                <a:solidFill>
                  <a:srgbClr val="000000"/>
                </a:solidFill>
              </a:rPr>
              <a:t>These types of sensor modules are often referred to as 9 Degrees of Freedom (9DoF)</a:t>
            </a:r>
            <a:r>
              <a:rPr lang="en-GB" sz="2800" b="0" i="0" dirty="0">
                <a:solidFill>
                  <a:srgbClr val="000000"/>
                </a:solidFill>
                <a:effectLst/>
              </a:rPr>
              <a:t> boards because they measure 9 different axis.</a:t>
            </a:r>
            <a:endParaRPr lang="en-GB" sz="2800" dirty="0"/>
          </a:p>
        </p:txBody>
      </p:sp>
    </p:spTree>
    <p:extLst>
      <p:ext uri="{BB962C8B-B14F-4D97-AF65-F5344CB8AC3E}">
        <p14:creationId xmlns:p14="http://schemas.microsoft.com/office/powerpoint/2010/main" val="30951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7467B-DE64-4462-8D5A-1059EA62F64A}"/>
              </a:ext>
            </a:extLst>
          </p:cNvPr>
          <p:cNvSpPr>
            <a:spLocks noGrp="1"/>
          </p:cNvSpPr>
          <p:nvPr>
            <p:ph type="title"/>
          </p:nvPr>
        </p:nvSpPr>
        <p:spPr/>
        <p:txBody>
          <a:bodyPr/>
          <a:lstStyle/>
          <a:p>
            <a:r>
              <a:rPr lang="en-US" dirty="0"/>
              <a:t>How many sensors?</a:t>
            </a:r>
            <a:endParaRPr lang="en-GB" dirty="0"/>
          </a:p>
        </p:txBody>
      </p:sp>
      <p:sp>
        <p:nvSpPr>
          <p:cNvPr id="3" name="Content Placeholder 2">
            <a:extLst>
              <a:ext uri="{FF2B5EF4-FFF2-40B4-BE49-F238E27FC236}">
                <a16:creationId xmlns:a16="http://schemas.microsoft.com/office/drawing/2014/main" id="{AAC069DE-A252-4253-A739-86E3505FCF37}"/>
              </a:ext>
            </a:extLst>
          </p:cNvPr>
          <p:cNvSpPr>
            <a:spLocks noGrp="1"/>
          </p:cNvSpPr>
          <p:nvPr>
            <p:ph idx="1"/>
          </p:nvPr>
        </p:nvSpPr>
        <p:spPr>
          <a:xfrm>
            <a:off x="720753" y="2068906"/>
            <a:ext cx="4354585" cy="1227967"/>
          </a:xfrm>
        </p:spPr>
        <p:txBody>
          <a:bodyPr/>
          <a:lstStyle/>
          <a:p>
            <a:pPr marL="0" indent="0">
              <a:buNone/>
            </a:pPr>
            <a:r>
              <a:rPr lang="en-US" dirty="0"/>
              <a:t>So, let’s count how many sensors our robot has</a:t>
            </a:r>
          </a:p>
          <a:p>
            <a:pPr marL="0" indent="0">
              <a:buNone/>
            </a:pPr>
            <a:endParaRPr lang="en-US" dirty="0"/>
          </a:p>
        </p:txBody>
      </p:sp>
      <p:graphicFrame>
        <p:nvGraphicFramePr>
          <p:cNvPr id="4" name="Table 4">
            <a:extLst>
              <a:ext uri="{FF2B5EF4-FFF2-40B4-BE49-F238E27FC236}">
                <a16:creationId xmlns:a16="http://schemas.microsoft.com/office/drawing/2014/main" id="{69B9E1A2-99F6-4E9A-94D4-0BE6D98AD157}"/>
              </a:ext>
            </a:extLst>
          </p:cNvPr>
          <p:cNvGraphicFramePr>
            <a:graphicFrameLocks noGrp="1"/>
          </p:cNvGraphicFramePr>
          <p:nvPr>
            <p:extLst>
              <p:ext uri="{D42A27DB-BD31-4B8C-83A1-F6EECF244321}">
                <p14:modId xmlns:p14="http://schemas.microsoft.com/office/powerpoint/2010/main" val="6575816"/>
              </p:ext>
            </p:extLst>
          </p:nvPr>
        </p:nvGraphicFramePr>
        <p:xfrm>
          <a:off x="5603845" y="1604963"/>
          <a:ext cx="6274965" cy="4572000"/>
        </p:xfrm>
        <a:graphic>
          <a:graphicData uri="http://schemas.openxmlformats.org/drawingml/2006/table">
            <a:tbl>
              <a:tblPr firstRow="1" bandRow="1">
                <a:tableStyleId>{5C22544A-7EE6-4342-B048-85BDC9FD1C3A}</a:tableStyleId>
              </a:tblPr>
              <a:tblGrid>
                <a:gridCol w="3783435">
                  <a:extLst>
                    <a:ext uri="{9D8B030D-6E8A-4147-A177-3AD203B41FA5}">
                      <a16:colId xmlns:a16="http://schemas.microsoft.com/office/drawing/2014/main" val="4069858414"/>
                    </a:ext>
                  </a:extLst>
                </a:gridCol>
                <a:gridCol w="1501629">
                  <a:extLst>
                    <a:ext uri="{9D8B030D-6E8A-4147-A177-3AD203B41FA5}">
                      <a16:colId xmlns:a16="http://schemas.microsoft.com/office/drawing/2014/main" val="2560073675"/>
                    </a:ext>
                  </a:extLst>
                </a:gridCol>
                <a:gridCol w="989901">
                  <a:extLst>
                    <a:ext uri="{9D8B030D-6E8A-4147-A177-3AD203B41FA5}">
                      <a16:colId xmlns:a16="http://schemas.microsoft.com/office/drawing/2014/main" val="3472564622"/>
                    </a:ext>
                  </a:extLst>
                </a:gridCol>
              </a:tblGrid>
              <a:tr h="412562">
                <a:tc>
                  <a:txBody>
                    <a:bodyPr/>
                    <a:lstStyle/>
                    <a:p>
                      <a:r>
                        <a:rPr lang="en-US" sz="2400" dirty="0"/>
                        <a:t>Sensor</a:t>
                      </a:r>
                      <a:endParaRPr lang="en-GB" sz="2400" dirty="0"/>
                    </a:p>
                  </a:txBody>
                  <a:tcPr/>
                </a:tc>
                <a:tc>
                  <a:txBody>
                    <a:bodyPr/>
                    <a:lstStyle/>
                    <a:p>
                      <a:r>
                        <a:rPr lang="en-US" sz="2400" dirty="0"/>
                        <a:t>Quantity</a:t>
                      </a:r>
                      <a:endParaRPr lang="en-GB" sz="2400" dirty="0"/>
                    </a:p>
                  </a:txBody>
                  <a:tcPr/>
                </a:tc>
                <a:tc>
                  <a:txBody>
                    <a:bodyPr/>
                    <a:lstStyle/>
                    <a:p>
                      <a:r>
                        <a:rPr lang="en-US" sz="2400" dirty="0"/>
                        <a:t>Total</a:t>
                      </a:r>
                      <a:endParaRPr lang="en-GB" sz="2400" dirty="0"/>
                    </a:p>
                  </a:txBody>
                  <a:tcPr/>
                </a:tc>
                <a:extLst>
                  <a:ext uri="{0D108BD9-81ED-4DB2-BD59-A6C34878D82A}">
                    <a16:rowId xmlns:a16="http://schemas.microsoft.com/office/drawing/2014/main" val="3184121048"/>
                  </a:ext>
                </a:extLst>
              </a:tr>
              <a:tr h="412562">
                <a:tc>
                  <a:txBody>
                    <a:bodyPr/>
                    <a:lstStyle/>
                    <a:p>
                      <a:r>
                        <a:rPr lang="en-US" sz="2400" dirty="0"/>
                        <a:t>IR proximity sensor</a:t>
                      </a:r>
                      <a:endParaRPr lang="en-GB" sz="2400" dirty="0"/>
                    </a:p>
                  </a:txBody>
                  <a:tcPr/>
                </a:tc>
                <a:tc>
                  <a:txBody>
                    <a:bodyPr/>
                    <a:lstStyle/>
                    <a:p>
                      <a:r>
                        <a:rPr lang="en-US" sz="2400" dirty="0"/>
                        <a:t>3</a:t>
                      </a:r>
                      <a:endParaRPr lang="en-GB" sz="2400" dirty="0"/>
                    </a:p>
                  </a:txBody>
                  <a:tcPr/>
                </a:tc>
                <a:tc>
                  <a:txBody>
                    <a:bodyPr/>
                    <a:lstStyle/>
                    <a:p>
                      <a:r>
                        <a:rPr lang="en-US" sz="2400" dirty="0"/>
                        <a:t>3</a:t>
                      </a:r>
                      <a:endParaRPr lang="en-GB" sz="2400" dirty="0"/>
                    </a:p>
                  </a:txBody>
                  <a:tcPr/>
                </a:tc>
                <a:extLst>
                  <a:ext uri="{0D108BD9-81ED-4DB2-BD59-A6C34878D82A}">
                    <a16:rowId xmlns:a16="http://schemas.microsoft.com/office/drawing/2014/main" val="1577999656"/>
                  </a:ext>
                </a:extLst>
              </a:tr>
              <a:tr h="412562">
                <a:tc>
                  <a:txBody>
                    <a:bodyPr/>
                    <a:lstStyle/>
                    <a:p>
                      <a:r>
                        <a:rPr lang="en-US" sz="2400" dirty="0"/>
                        <a:t>LDR light sensor</a:t>
                      </a:r>
                      <a:endParaRPr lang="en-GB" sz="2400" dirty="0"/>
                    </a:p>
                  </a:txBody>
                  <a:tcPr/>
                </a:tc>
                <a:tc>
                  <a:txBody>
                    <a:bodyPr/>
                    <a:lstStyle/>
                    <a:p>
                      <a:r>
                        <a:rPr lang="en-US" sz="2400" dirty="0"/>
                        <a:t>2</a:t>
                      </a:r>
                      <a:endParaRPr lang="en-GB" sz="2400" dirty="0"/>
                    </a:p>
                  </a:txBody>
                  <a:tcPr/>
                </a:tc>
                <a:tc>
                  <a:txBody>
                    <a:bodyPr/>
                    <a:lstStyle/>
                    <a:p>
                      <a:r>
                        <a:rPr lang="en-US" sz="2400" dirty="0"/>
                        <a:t>5</a:t>
                      </a:r>
                      <a:endParaRPr lang="en-GB" sz="2400" dirty="0"/>
                    </a:p>
                  </a:txBody>
                  <a:tcPr/>
                </a:tc>
                <a:extLst>
                  <a:ext uri="{0D108BD9-81ED-4DB2-BD59-A6C34878D82A}">
                    <a16:rowId xmlns:a16="http://schemas.microsoft.com/office/drawing/2014/main" val="3567608969"/>
                  </a:ext>
                </a:extLst>
              </a:tr>
              <a:tr h="412562">
                <a:tc>
                  <a:txBody>
                    <a:bodyPr/>
                    <a:lstStyle/>
                    <a:p>
                      <a:r>
                        <a:rPr lang="en-US" sz="2400" dirty="0"/>
                        <a:t>Ultrasound distance sensor</a:t>
                      </a:r>
                      <a:endParaRPr lang="en-GB" sz="2400" dirty="0"/>
                    </a:p>
                  </a:txBody>
                  <a:tcPr/>
                </a:tc>
                <a:tc>
                  <a:txBody>
                    <a:bodyPr/>
                    <a:lstStyle/>
                    <a:p>
                      <a:r>
                        <a:rPr lang="en-US" sz="2400" dirty="0"/>
                        <a:t>1</a:t>
                      </a:r>
                      <a:endParaRPr lang="en-GB" sz="2400" dirty="0"/>
                    </a:p>
                  </a:txBody>
                  <a:tcPr/>
                </a:tc>
                <a:tc>
                  <a:txBody>
                    <a:bodyPr/>
                    <a:lstStyle/>
                    <a:p>
                      <a:r>
                        <a:rPr lang="en-US" sz="2400" dirty="0"/>
                        <a:t>6</a:t>
                      </a:r>
                      <a:endParaRPr lang="en-GB" sz="2400" dirty="0"/>
                    </a:p>
                  </a:txBody>
                  <a:tcPr/>
                </a:tc>
                <a:extLst>
                  <a:ext uri="{0D108BD9-81ED-4DB2-BD59-A6C34878D82A}">
                    <a16:rowId xmlns:a16="http://schemas.microsoft.com/office/drawing/2014/main" val="2558500334"/>
                  </a:ext>
                </a:extLst>
              </a:tr>
              <a:tr h="412562">
                <a:tc>
                  <a:txBody>
                    <a:bodyPr/>
                    <a:lstStyle/>
                    <a:p>
                      <a:r>
                        <a:rPr lang="en-US" sz="2400" dirty="0"/>
                        <a:t>Air Pressure</a:t>
                      </a:r>
                      <a:endParaRPr lang="en-GB" sz="2400" dirty="0"/>
                    </a:p>
                  </a:txBody>
                  <a:tcPr/>
                </a:tc>
                <a:tc>
                  <a:txBody>
                    <a:bodyPr/>
                    <a:lstStyle/>
                    <a:p>
                      <a:r>
                        <a:rPr lang="en-US" sz="2400" dirty="0"/>
                        <a:t>1</a:t>
                      </a:r>
                      <a:endParaRPr lang="en-GB" sz="2400" dirty="0"/>
                    </a:p>
                  </a:txBody>
                  <a:tcPr/>
                </a:tc>
                <a:tc>
                  <a:txBody>
                    <a:bodyPr/>
                    <a:lstStyle/>
                    <a:p>
                      <a:r>
                        <a:rPr lang="en-US" sz="2400" dirty="0"/>
                        <a:t>7</a:t>
                      </a:r>
                      <a:endParaRPr lang="en-GB" sz="2400" dirty="0"/>
                    </a:p>
                  </a:txBody>
                  <a:tcPr/>
                </a:tc>
                <a:extLst>
                  <a:ext uri="{0D108BD9-81ED-4DB2-BD59-A6C34878D82A}">
                    <a16:rowId xmlns:a16="http://schemas.microsoft.com/office/drawing/2014/main" val="1719197399"/>
                  </a:ext>
                </a:extLst>
              </a:tr>
              <a:tr h="412562">
                <a:tc>
                  <a:txBody>
                    <a:bodyPr/>
                    <a:lstStyle/>
                    <a:p>
                      <a:r>
                        <a:rPr lang="en-US" sz="2400" dirty="0"/>
                        <a:t>Temperature</a:t>
                      </a:r>
                      <a:endParaRPr lang="en-GB" sz="2400" dirty="0"/>
                    </a:p>
                  </a:txBody>
                  <a:tcPr/>
                </a:tc>
                <a:tc>
                  <a:txBody>
                    <a:bodyPr/>
                    <a:lstStyle/>
                    <a:p>
                      <a:r>
                        <a:rPr lang="en-US" sz="2400" dirty="0"/>
                        <a:t>1</a:t>
                      </a:r>
                      <a:endParaRPr lang="en-GB" sz="2400" dirty="0"/>
                    </a:p>
                  </a:txBody>
                  <a:tcPr/>
                </a:tc>
                <a:tc>
                  <a:txBody>
                    <a:bodyPr/>
                    <a:lstStyle/>
                    <a:p>
                      <a:r>
                        <a:rPr lang="en-US" sz="2400" dirty="0"/>
                        <a:t>8</a:t>
                      </a:r>
                      <a:endParaRPr lang="en-GB" sz="2400" dirty="0"/>
                    </a:p>
                  </a:txBody>
                  <a:tcPr/>
                </a:tc>
                <a:extLst>
                  <a:ext uri="{0D108BD9-81ED-4DB2-BD59-A6C34878D82A}">
                    <a16:rowId xmlns:a16="http://schemas.microsoft.com/office/drawing/2014/main" val="3229743800"/>
                  </a:ext>
                </a:extLst>
              </a:tr>
              <a:tr h="412562">
                <a:tc>
                  <a:txBody>
                    <a:bodyPr/>
                    <a:lstStyle/>
                    <a:p>
                      <a:r>
                        <a:rPr lang="en-US" sz="2400" dirty="0"/>
                        <a:t>Humidity</a:t>
                      </a:r>
                      <a:endParaRPr lang="en-GB" sz="2400" dirty="0"/>
                    </a:p>
                  </a:txBody>
                  <a:tcPr/>
                </a:tc>
                <a:tc>
                  <a:txBody>
                    <a:bodyPr/>
                    <a:lstStyle/>
                    <a:p>
                      <a:r>
                        <a:rPr lang="en-US" sz="2400" dirty="0"/>
                        <a:t>1</a:t>
                      </a:r>
                      <a:endParaRPr lang="en-GB" sz="2400" dirty="0"/>
                    </a:p>
                  </a:txBody>
                  <a:tcPr/>
                </a:tc>
                <a:tc>
                  <a:txBody>
                    <a:bodyPr/>
                    <a:lstStyle/>
                    <a:p>
                      <a:r>
                        <a:rPr lang="en-US" sz="2400" dirty="0"/>
                        <a:t>9</a:t>
                      </a:r>
                      <a:endParaRPr lang="en-GB" sz="2400" dirty="0"/>
                    </a:p>
                  </a:txBody>
                  <a:tcPr/>
                </a:tc>
                <a:extLst>
                  <a:ext uri="{0D108BD9-81ED-4DB2-BD59-A6C34878D82A}">
                    <a16:rowId xmlns:a16="http://schemas.microsoft.com/office/drawing/2014/main" val="537944823"/>
                  </a:ext>
                </a:extLst>
              </a:tr>
              <a:tr h="412562">
                <a:tc>
                  <a:txBody>
                    <a:bodyPr/>
                    <a:lstStyle/>
                    <a:p>
                      <a:r>
                        <a:rPr lang="en-US" sz="2400" dirty="0"/>
                        <a:t>Accelerometer</a:t>
                      </a:r>
                      <a:endParaRPr lang="en-GB" sz="2400" dirty="0"/>
                    </a:p>
                  </a:txBody>
                  <a:tcPr/>
                </a:tc>
                <a:tc>
                  <a:txBody>
                    <a:bodyPr/>
                    <a:lstStyle/>
                    <a:p>
                      <a:r>
                        <a:rPr lang="en-US" sz="2400" dirty="0"/>
                        <a:t>3</a:t>
                      </a:r>
                      <a:endParaRPr lang="en-GB" sz="2400" dirty="0"/>
                    </a:p>
                  </a:txBody>
                  <a:tcPr/>
                </a:tc>
                <a:tc>
                  <a:txBody>
                    <a:bodyPr/>
                    <a:lstStyle/>
                    <a:p>
                      <a:r>
                        <a:rPr lang="en-US" sz="2400" dirty="0"/>
                        <a:t>12</a:t>
                      </a:r>
                      <a:endParaRPr lang="en-GB" sz="2400" dirty="0"/>
                    </a:p>
                  </a:txBody>
                  <a:tcPr/>
                </a:tc>
                <a:extLst>
                  <a:ext uri="{0D108BD9-81ED-4DB2-BD59-A6C34878D82A}">
                    <a16:rowId xmlns:a16="http://schemas.microsoft.com/office/drawing/2014/main" val="1096083697"/>
                  </a:ext>
                </a:extLst>
              </a:tr>
              <a:tr h="412562">
                <a:tc>
                  <a:txBody>
                    <a:bodyPr/>
                    <a:lstStyle/>
                    <a:p>
                      <a:r>
                        <a:rPr lang="en-US" sz="2400" dirty="0"/>
                        <a:t>Gyroscope</a:t>
                      </a:r>
                      <a:endParaRPr lang="en-GB" sz="2400" dirty="0"/>
                    </a:p>
                  </a:txBody>
                  <a:tcPr/>
                </a:tc>
                <a:tc>
                  <a:txBody>
                    <a:bodyPr/>
                    <a:lstStyle/>
                    <a:p>
                      <a:r>
                        <a:rPr lang="en-US" sz="2400" dirty="0"/>
                        <a:t>3</a:t>
                      </a:r>
                      <a:endParaRPr lang="en-GB" sz="2400" dirty="0"/>
                    </a:p>
                  </a:txBody>
                  <a:tcPr/>
                </a:tc>
                <a:tc>
                  <a:txBody>
                    <a:bodyPr/>
                    <a:lstStyle/>
                    <a:p>
                      <a:r>
                        <a:rPr lang="en-US" sz="2400" dirty="0"/>
                        <a:t>15</a:t>
                      </a:r>
                      <a:endParaRPr lang="en-GB" sz="2400" dirty="0"/>
                    </a:p>
                  </a:txBody>
                  <a:tcPr/>
                </a:tc>
                <a:extLst>
                  <a:ext uri="{0D108BD9-81ED-4DB2-BD59-A6C34878D82A}">
                    <a16:rowId xmlns:a16="http://schemas.microsoft.com/office/drawing/2014/main" val="1061246051"/>
                  </a:ext>
                </a:extLst>
              </a:tr>
              <a:tr h="412562">
                <a:tc>
                  <a:txBody>
                    <a:bodyPr/>
                    <a:lstStyle/>
                    <a:p>
                      <a:r>
                        <a:rPr lang="en-US" sz="2400" dirty="0"/>
                        <a:t>Magnetometer</a:t>
                      </a:r>
                      <a:endParaRPr lang="en-GB" sz="2400" dirty="0"/>
                    </a:p>
                  </a:txBody>
                  <a:tcPr/>
                </a:tc>
                <a:tc>
                  <a:txBody>
                    <a:bodyPr/>
                    <a:lstStyle/>
                    <a:p>
                      <a:r>
                        <a:rPr lang="en-US" sz="2400" dirty="0"/>
                        <a:t>3</a:t>
                      </a:r>
                      <a:endParaRPr lang="en-GB" sz="2400" dirty="0"/>
                    </a:p>
                  </a:txBody>
                  <a:tcPr/>
                </a:tc>
                <a:tc>
                  <a:txBody>
                    <a:bodyPr/>
                    <a:lstStyle/>
                    <a:p>
                      <a:r>
                        <a:rPr lang="en-US" sz="2400" dirty="0"/>
                        <a:t>18</a:t>
                      </a:r>
                      <a:endParaRPr lang="en-GB" sz="2400" dirty="0"/>
                    </a:p>
                  </a:txBody>
                  <a:tcPr/>
                </a:tc>
                <a:extLst>
                  <a:ext uri="{0D108BD9-81ED-4DB2-BD59-A6C34878D82A}">
                    <a16:rowId xmlns:a16="http://schemas.microsoft.com/office/drawing/2014/main" val="2670293278"/>
                  </a:ext>
                </a:extLst>
              </a:tr>
            </a:tbl>
          </a:graphicData>
        </a:graphic>
      </p:graphicFrame>
      <p:sp>
        <p:nvSpPr>
          <p:cNvPr id="5" name="Rectangle 4">
            <a:extLst>
              <a:ext uri="{FF2B5EF4-FFF2-40B4-BE49-F238E27FC236}">
                <a16:creationId xmlns:a16="http://schemas.microsoft.com/office/drawing/2014/main" id="{3D7A5499-7C40-48FA-B08C-CF420F8DB8AB}"/>
              </a:ext>
            </a:extLst>
          </p:cNvPr>
          <p:cNvSpPr/>
          <p:nvPr/>
        </p:nvSpPr>
        <p:spPr>
          <a:xfrm>
            <a:off x="5603845" y="2068906"/>
            <a:ext cx="6274965"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67D5A83C-4D42-47A3-BC50-50B139C836E0}"/>
              </a:ext>
            </a:extLst>
          </p:cNvPr>
          <p:cNvSpPr/>
          <p:nvPr/>
        </p:nvSpPr>
        <p:spPr>
          <a:xfrm>
            <a:off x="5603845" y="2532849"/>
            <a:ext cx="6333689"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960463F0-FEBB-4A5C-8B24-81F081C96067}"/>
              </a:ext>
            </a:extLst>
          </p:cNvPr>
          <p:cNvSpPr/>
          <p:nvPr/>
        </p:nvSpPr>
        <p:spPr>
          <a:xfrm>
            <a:off x="5603845" y="2964431"/>
            <a:ext cx="6333689"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43A47574-8838-4CF7-919B-1292885B9FAF}"/>
              </a:ext>
            </a:extLst>
          </p:cNvPr>
          <p:cNvSpPr/>
          <p:nvPr/>
        </p:nvSpPr>
        <p:spPr>
          <a:xfrm>
            <a:off x="5617827" y="3428374"/>
            <a:ext cx="6333689"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1D5A779-A5D4-4AF3-94F4-A372E959E61D}"/>
              </a:ext>
            </a:extLst>
          </p:cNvPr>
          <p:cNvSpPr/>
          <p:nvPr/>
        </p:nvSpPr>
        <p:spPr>
          <a:xfrm>
            <a:off x="5589863" y="3890963"/>
            <a:ext cx="6333689"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7F35AA65-DBD5-4201-A4DD-E5FC37A11CC5}"/>
              </a:ext>
            </a:extLst>
          </p:cNvPr>
          <p:cNvSpPr/>
          <p:nvPr/>
        </p:nvSpPr>
        <p:spPr>
          <a:xfrm>
            <a:off x="5575881" y="4339089"/>
            <a:ext cx="6333689"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D1F9F468-B8E7-48AE-8E3B-70A00C3AC5E7}"/>
              </a:ext>
            </a:extLst>
          </p:cNvPr>
          <p:cNvSpPr/>
          <p:nvPr/>
        </p:nvSpPr>
        <p:spPr>
          <a:xfrm>
            <a:off x="5573085" y="4809900"/>
            <a:ext cx="6319707"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4748563-C0EF-4A5D-A9B9-EA3628B6C170}"/>
              </a:ext>
            </a:extLst>
          </p:cNvPr>
          <p:cNvSpPr/>
          <p:nvPr/>
        </p:nvSpPr>
        <p:spPr>
          <a:xfrm>
            <a:off x="5595455" y="5274469"/>
            <a:ext cx="6274965"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057CF7C3-D0BD-40FB-BF29-C0A3A87C455E}"/>
              </a:ext>
            </a:extLst>
          </p:cNvPr>
          <p:cNvSpPr/>
          <p:nvPr/>
        </p:nvSpPr>
        <p:spPr>
          <a:xfrm>
            <a:off x="5545121" y="5739038"/>
            <a:ext cx="6406395" cy="4645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FCB01C5A-23E9-4C61-876E-3FF8EFF53E16}"/>
              </a:ext>
            </a:extLst>
          </p:cNvPr>
          <p:cNvSpPr txBox="1"/>
          <p:nvPr/>
        </p:nvSpPr>
        <p:spPr>
          <a:xfrm>
            <a:off x="373308" y="4339089"/>
            <a:ext cx="4907559" cy="2246769"/>
          </a:xfrm>
          <a:prstGeom prst="rect">
            <a:avLst/>
          </a:prstGeom>
          <a:noFill/>
        </p:spPr>
        <p:txBody>
          <a:bodyPr wrap="square" rtlCol="0">
            <a:spAutoFit/>
          </a:bodyPr>
          <a:lstStyle/>
          <a:p>
            <a:r>
              <a:rPr lang="en-US" sz="2800" dirty="0"/>
              <a:t>We have a total of </a:t>
            </a:r>
            <a:r>
              <a:rPr lang="en-US" sz="2800" b="1" dirty="0"/>
              <a:t>18</a:t>
            </a:r>
            <a:r>
              <a:rPr lang="en-US" sz="2800" dirty="0"/>
              <a:t> sensors on our car.</a:t>
            </a:r>
          </a:p>
          <a:p>
            <a:endParaRPr lang="en-US" sz="2800" dirty="0"/>
          </a:p>
          <a:p>
            <a:r>
              <a:rPr lang="en-US" sz="2800" dirty="0"/>
              <a:t>Our car only has 6 analog input pins….</a:t>
            </a:r>
            <a:endParaRPr lang="en-GB" sz="2800" dirty="0"/>
          </a:p>
        </p:txBody>
      </p:sp>
    </p:spTree>
    <p:extLst>
      <p:ext uri="{BB962C8B-B14F-4D97-AF65-F5344CB8AC3E}">
        <p14:creationId xmlns:p14="http://schemas.microsoft.com/office/powerpoint/2010/main" val="97794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9953A-E524-4AB6-BF16-E3DDC6ADC4E7}"/>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B6292288-A31D-4F3E-8B32-A291A33ADC25}"/>
              </a:ext>
            </a:extLst>
          </p:cNvPr>
          <p:cNvSpPr>
            <a:spLocks noGrp="1"/>
          </p:cNvSpPr>
          <p:nvPr>
            <p:ph idx="1"/>
          </p:nvPr>
        </p:nvSpPr>
        <p:spPr>
          <a:xfrm>
            <a:off x="838200" y="1825624"/>
            <a:ext cx="10515600" cy="4810067"/>
          </a:xfrm>
        </p:spPr>
        <p:txBody>
          <a:bodyPr>
            <a:normAutofit/>
          </a:bodyPr>
          <a:lstStyle/>
          <a:p>
            <a:pPr marL="0" indent="0">
              <a:buNone/>
            </a:pPr>
            <a:r>
              <a:rPr lang="en-US" dirty="0"/>
              <a:t>Let’s look at how we use our sensors in more detail.  Let’s just look at the IR sensors. (L = Left, C = Center, R = Right)</a:t>
            </a:r>
          </a:p>
          <a:p>
            <a:pPr marL="0" indent="0">
              <a:buNone/>
            </a:pPr>
            <a:endParaRPr lang="en-US" dirty="0"/>
          </a:p>
          <a:p>
            <a:pPr marL="0" indent="0">
              <a:buNone/>
            </a:pPr>
            <a:r>
              <a:rPr lang="en-US" dirty="0"/>
              <a:t>start loop</a:t>
            </a:r>
          </a:p>
          <a:p>
            <a:pPr marL="457200" lvl="1" indent="0">
              <a:buNone/>
            </a:pPr>
            <a:r>
              <a:rPr lang="en-US" dirty="0"/>
              <a:t>Check sensor L</a:t>
            </a:r>
          </a:p>
          <a:p>
            <a:pPr marL="457200" lvl="1" indent="0">
              <a:buNone/>
            </a:pPr>
            <a:r>
              <a:rPr lang="en-US" dirty="0"/>
              <a:t>Check sensor C</a:t>
            </a:r>
          </a:p>
          <a:p>
            <a:pPr marL="457200" lvl="1" indent="0">
              <a:buNone/>
            </a:pPr>
            <a:r>
              <a:rPr lang="en-US" dirty="0"/>
              <a:t>Check sensor R</a:t>
            </a:r>
          </a:p>
          <a:p>
            <a:pPr marL="457200" lvl="1" indent="0">
              <a:buNone/>
            </a:pPr>
            <a:r>
              <a:rPr lang="en-US" dirty="0"/>
              <a:t>Do some calculations</a:t>
            </a:r>
          </a:p>
          <a:p>
            <a:pPr marL="457200" lvl="1" indent="0">
              <a:buNone/>
            </a:pPr>
            <a:r>
              <a:rPr lang="en-US" dirty="0"/>
              <a:t>Control the motor</a:t>
            </a:r>
          </a:p>
          <a:p>
            <a:pPr marL="0" indent="0">
              <a:buNone/>
            </a:pPr>
            <a:r>
              <a:rPr lang="en-US" dirty="0"/>
              <a:t>repeat</a:t>
            </a:r>
            <a:endParaRPr lang="en-GB" dirty="0"/>
          </a:p>
        </p:txBody>
      </p:sp>
      <p:sp>
        <p:nvSpPr>
          <p:cNvPr id="4" name="TextBox 3">
            <a:extLst>
              <a:ext uri="{FF2B5EF4-FFF2-40B4-BE49-F238E27FC236}">
                <a16:creationId xmlns:a16="http://schemas.microsoft.com/office/drawing/2014/main" id="{D6BE7AC1-55D2-48E3-921C-47549372342D}"/>
              </a:ext>
            </a:extLst>
          </p:cNvPr>
          <p:cNvSpPr txBox="1"/>
          <p:nvPr/>
        </p:nvSpPr>
        <p:spPr>
          <a:xfrm>
            <a:off x="4927833" y="2895580"/>
            <a:ext cx="6425967" cy="3416320"/>
          </a:xfrm>
          <a:prstGeom prst="rect">
            <a:avLst/>
          </a:prstGeom>
          <a:noFill/>
          <a:ln w="76200">
            <a:solidFill>
              <a:schemeClr val="tx1"/>
            </a:solidFill>
          </a:ln>
        </p:spPr>
        <p:txBody>
          <a:bodyPr wrap="square" rtlCol="0">
            <a:spAutoFit/>
          </a:bodyPr>
          <a:lstStyle/>
          <a:p>
            <a:r>
              <a:rPr lang="en-US" sz="2400" dirty="0"/>
              <a:t>We can see from this simple example that most of the time we are not looking at the sensor values.  We only care about the sensor value at one stage in the program, the rest of the time it is just sitting there, useless.</a:t>
            </a:r>
          </a:p>
          <a:p>
            <a:endParaRPr lang="en-US" sz="2400" dirty="0"/>
          </a:p>
          <a:p>
            <a:r>
              <a:rPr lang="en-US" sz="2400" dirty="0"/>
              <a:t>If each of these sensors are connected to 1 input pin (like we are doing now), that means that most of the time those input pins are not being used.</a:t>
            </a:r>
            <a:endParaRPr lang="en-GB" sz="2400" dirty="0"/>
          </a:p>
        </p:txBody>
      </p:sp>
    </p:spTree>
    <p:extLst>
      <p:ext uri="{BB962C8B-B14F-4D97-AF65-F5344CB8AC3E}">
        <p14:creationId xmlns:p14="http://schemas.microsoft.com/office/powerpoint/2010/main" val="306995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995D99-10E2-42D4-8C66-0BB29FA2FFD7}"/>
              </a:ext>
            </a:extLst>
          </p:cNvPr>
          <p:cNvSpPr>
            <a:spLocks noGrp="1"/>
          </p:cNvSpPr>
          <p:nvPr>
            <p:ph idx="1"/>
          </p:nvPr>
        </p:nvSpPr>
        <p:spPr>
          <a:xfrm>
            <a:off x="838200" y="763398"/>
            <a:ext cx="10515600" cy="5413565"/>
          </a:xfrm>
        </p:spPr>
        <p:txBody>
          <a:bodyPr/>
          <a:lstStyle/>
          <a:p>
            <a:pPr marL="0" indent="0">
              <a:buNone/>
            </a:pPr>
            <a:r>
              <a:rPr lang="en-US" dirty="0"/>
              <a:t>Imagine the following situation: A person only has 1 pair of eyes and on the table in front of you are fifteen different types of sensors.  A person can only look at one sensor.</a:t>
            </a:r>
          </a:p>
          <a:p>
            <a:pPr marL="0" indent="0">
              <a:buNone/>
            </a:pPr>
            <a:r>
              <a:rPr lang="en-US" dirty="0"/>
              <a:t>Do you call 14 friends over so you can each watch one sensor?</a:t>
            </a:r>
          </a:p>
          <a:p>
            <a:pPr marL="0" indent="0">
              <a:buNone/>
            </a:pPr>
            <a:endParaRPr lang="en-US" dirty="0"/>
          </a:p>
          <a:p>
            <a:pPr marL="0" indent="0">
              <a:buNone/>
            </a:pPr>
            <a:r>
              <a:rPr lang="en-US" dirty="0"/>
              <a:t>Of course not.</a:t>
            </a:r>
          </a:p>
          <a:p>
            <a:pPr marL="0" indent="0">
              <a:buNone/>
            </a:pPr>
            <a:endParaRPr lang="en-US" dirty="0"/>
          </a:p>
          <a:p>
            <a:pPr marL="0" indent="0">
              <a:buNone/>
            </a:pPr>
            <a:r>
              <a:rPr lang="en-US" dirty="0"/>
              <a:t>You will use your one pair of eyes to look at each sensor one-by-one in a set pattern.</a:t>
            </a:r>
          </a:p>
          <a:p>
            <a:pPr marL="0" indent="0">
              <a:buNone/>
            </a:pPr>
            <a:r>
              <a:rPr lang="en-US" dirty="0"/>
              <a:t>This is a much more efficient system than having many people looking at them all the time.</a:t>
            </a:r>
            <a:endParaRPr lang="en-GB" dirty="0"/>
          </a:p>
        </p:txBody>
      </p:sp>
    </p:spTree>
    <p:extLst>
      <p:ext uri="{BB962C8B-B14F-4D97-AF65-F5344CB8AC3E}">
        <p14:creationId xmlns:p14="http://schemas.microsoft.com/office/powerpoint/2010/main" val="2448664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BF8CA7-5691-406E-B892-1E0736F99A89}"/>
              </a:ext>
            </a:extLst>
          </p:cNvPr>
          <p:cNvSpPr>
            <a:spLocks noGrp="1"/>
          </p:cNvSpPr>
          <p:nvPr>
            <p:ph idx="1"/>
          </p:nvPr>
        </p:nvSpPr>
        <p:spPr/>
        <p:txBody>
          <a:bodyPr/>
          <a:lstStyle/>
          <a:p>
            <a:pPr marL="0" indent="0">
              <a:buNone/>
            </a:pPr>
            <a:r>
              <a:rPr lang="en-US" dirty="0"/>
              <a:t>Can we do something similar with Arduino?  Is there a way we can connect many different sensors to an Arduino input pin, then just look at the sensor we need to.</a:t>
            </a:r>
          </a:p>
          <a:p>
            <a:pPr marL="0" indent="0">
              <a:buNone/>
            </a:pPr>
            <a:endParaRPr lang="en-US" dirty="0"/>
          </a:p>
          <a:p>
            <a:pPr marL="0" indent="0">
              <a:buNone/>
            </a:pPr>
            <a:r>
              <a:rPr lang="en-US" dirty="0"/>
              <a:t>Yes, there is.</a:t>
            </a:r>
          </a:p>
          <a:p>
            <a:pPr marL="0" indent="0">
              <a:buNone/>
            </a:pPr>
            <a:endParaRPr lang="en-US" dirty="0"/>
          </a:p>
          <a:p>
            <a:pPr marL="0" indent="0">
              <a:buNone/>
            </a:pPr>
            <a:r>
              <a:rPr lang="en-US" dirty="0"/>
              <a:t>We will use something called a data bus, which is a way to connect many different devices using the same pins.</a:t>
            </a:r>
            <a:endParaRPr lang="en-GB" dirty="0"/>
          </a:p>
        </p:txBody>
      </p:sp>
    </p:spTree>
    <p:extLst>
      <p:ext uri="{BB962C8B-B14F-4D97-AF65-F5344CB8AC3E}">
        <p14:creationId xmlns:p14="http://schemas.microsoft.com/office/powerpoint/2010/main" val="4143998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D07E-D4E5-4458-A871-B9DDF1A7126A}"/>
              </a:ext>
            </a:extLst>
          </p:cNvPr>
          <p:cNvSpPr>
            <a:spLocks noGrp="1"/>
          </p:cNvSpPr>
          <p:nvPr>
            <p:ph type="title"/>
          </p:nvPr>
        </p:nvSpPr>
        <p:spPr/>
        <p:txBody>
          <a:bodyPr/>
          <a:lstStyle/>
          <a:p>
            <a:r>
              <a:rPr lang="en-US" dirty="0"/>
              <a:t>data bus</a:t>
            </a:r>
            <a:endParaRPr lang="en-GB" dirty="0"/>
          </a:p>
        </p:txBody>
      </p:sp>
      <p:sp>
        <p:nvSpPr>
          <p:cNvPr id="3" name="Content Placeholder 2">
            <a:extLst>
              <a:ext uri="{FF2B5EF4-FFF2-40B4-BE49-F238E27FC236}">
                <a16:creationId xmlns:a16="http://schemas.microsoft.com/office/drawing/2014/main" id="{1AD8F532-DE11-4754-808D-AA4362E83CFD}"/>
              </a:ext>
            </a:extLst>
          </p:cNvPr>
          <p:cNvSpPr>
            <a:spLocks noGrp="1"/>
          </p:cNvSpPr>
          <p:nvPr>
            <p:ph idx="1"/>
          </p:nvPr>
        </p:nvSpPr>
        <p:spPr/>
        <p:txBody>
          <a:bodyPr/>
          <a:lstStyle/>
          <a:p>
            <a:pPr marL="0" indent="0">
              <a:buNone/>
            </a:pPr>
            <a:r>
              <a:rPr lang="en-US" dirty="0"/>
              <a:t>A data bus is a way of connecting lots of different devices together on the same line.  There are many different types of data bus, for many different situations.  Some work using a parallel connection – they send data over many connections at the same time.  A cheaper method is a serial connection, sending data bit by bit down a single line.</a:t>
            </a:r>
          </a:p>
          <a:p>
            <a:pPr marL="0" indent="0">
              <a:buNone/>
            </a:pPr>
            <a:r>
              <a:rPr lang="en-US" dirty="0"/>
              <a:t>For small scale operations like ours there are mainly 3 serial connection types that we could use: I2C, SPI and CAN.</a:t>
            </a:r>
          </a:p>
          <a:p>
            <a:pPr marL="0" indent="0">
              <a:buNone/>
            </a:pPr>
            <a:endParaRPr lang="en-US" dirty="0"/>
          </a:p>
          <a:p>
            <a:pPr marL="0" indent="0">
              <a:buNone/>
            </a:pPr>
            <a:r>
              <a:rPr lang="en-US" dirty="0"/>
              <a:t>We will use I2C for our robot.</a:t>
            </a:r>
            <a:endParaRPr lang="en-GB" dirty="0"/>
          </a:p>
        </p:txBody>
      </p:sp>
    </p:spTree>
    <p:extLst>
      <p:ext uri="{BB962C8B-B14F-4D97-AF65-F5344CB8AC3E}">
        <p14:creationId xmlns:p14="http://schemas.microsoft.com/office/powerpoint/2010/main" val="2185173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51BC2-E933-4C12-BFE7-E2FDA3659CC0}"/>
              </a:ext>
            </a:extLst>
          </p:cNvPr>
          <p:cNvSpPr>
            <a:spLocks noGrp="1"/>
          </p:cNvSpPr>
          <p:nvPr>
            <p:ph type="title"/>
          </p:nvPr>
        </p:nvSpPr>
        <p:spPr/>
        <p:txBody>
          <a:bodyPr/>
          <a:lstStyle/>
          <a:p>
            <a:r>
              <a:rPr lang="en-GB" b="0" i="0" dirty="0">
                <a:effectLst/>
                <a:latin typeface="Montserrat"/>
              </a:rPr>
              <a:t>Baud Rate</a:t>
            </a:r>
            <a:endParaRPr lang="en-GB" dirty="0"/>
          </a:p>
        </p:txBody>
      </p:sp>
      <p:sp>
        <p:nvSpPr>
          <p:cNvPr id="3" name="Content Placeholder 2">
            <a:extLst>
              <a:ext uri="{FF2B5EF4-FFF2-40B4-BE49-F238E27FC236}">
                <a16:creationId xmlns:a16="http://schemas.microsoft.com/office/drawing/2014/main" id="{3ED3BBBF-EA37-43C6-A99D-895CD03C7501}"/>
              </a:ext>
            </a:extLst>
          </p:cNvPr>
          <p:cNvSpPr>
            <a:spLocks noGrp="1"/>
          </p:cNvSpPr>
          <p:nvPr>
            <p:ph idx="1"/>
          </p:nvPr>
        </p:nvSpPr>
        <p:spPr>
          <a:xfrm>
            <a:off x="251670" y="1619075"/>
            <a:ext cx="11618752" cy="4557888"/>
          </a:xfrm>
        </p:spPr>
        <p:txBody>
          <a:bodyPr>
            <a:noAutofit/>
          </a:bodyPr>
          <a:lstStyle/>
          <a:p>
            <a:pPr algn="l"/>
            <a:r>
              <a:rPr lang="en-GB" sz="2400" b="0" i="0" dirty="0">
                <a:effectLst/>
              </a:rPr>
              <a:t>The baud rate specifies </a:t>
            </a:r>
            <a:r>
              <a:rPr lang="en-GB" sz="2400" b="1" i="0" dirty="0">
                <a:effectLst/>
              </a:rPr>
              <a:t>how fast</a:t>
            </a:r>
            <a:r>
              <a:rPr lang="en-GB" sz="2400" b="0" i="0" dirty="0">
                <a:effectLst/>
              </a:rPr>
              <a:t> data is sent over a serial line. It's usually expressed in units of bits-per-second (bps). If you invert the baud rate, you can find out just how long it takes to transmit a single bit. This value determines how long the transmitter holds a serial line high/low or at what period the receiving device samples its line.</a:t>
            </a:r>
          </a:p>
          <a:p>
            <a:pPr algn="l"/>
            <a:r>
              <a:rPr lang="en-GB" sz="2400" b="0" i="0" dirty="0">
                <a:effectLst/>
              </a:rPr>
              <a:t>Baud rates can be just about any value within reason. The only requirement is that both devices operate at the same rate. One of the more common baud rates, especially for simple stuff where speed isn't critical, is </a:t>
            </a:r>
            <a:r>
              <a:rPr lang="en-GB" sz="2400" b="1" i="0" dirty="0">
                <a:effectLst/>
              </a:rPr>
              <a:t>9600 bps</a:t>
            </a:r>
            <a:r>
              <a:rPr lang="en-GB" sz="2400" b="0" i="0" dirty="0">
                <a:effectLst/>
              </a:rPr>
              <a:t>. Other "standard" baud are 1200, 2400, 4800, 19200, 38400, 57600, and 115200.</a:t>
            </a:r>
          </a:p>
          <a:p>
            <a:pPr algn="l"/>
            <a:r>
              <a:rPr lang="en-GB" sz="2400" b="0" i="0" dirty="0">
                <a:effectLst/>
              </a:rPr>
              <a:t>The higher a baud rate goes, the faster data is sent/received, but there are limits to how fast data can be transferred. You usually won't see speeds exceeding 115200 - that's fast for most microcontrollers. Get too high, and you'll begin to see errors on the receiving end, as clocks and sampling periods just can't keep up.</a:t>
            </a:r>
          </a:p>
        </p:txBody>
      </p:sp>
    </p:spTree>
    <p:extLst>
      <p:ext uri="{BB962C8B-B14F-4D97-AF65-F5344CB8AC3E}">
        <p14:creationId xmlns:p14="http://schemas.microsoft.com/office/powerpoint/2010/main" val="875184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C82C-A4DC-41B0-A5CE-10DBCFDA06E8}"/>
              </a:ext>
            </a:extLst>
          </p:cNvPr>
          <p:cNvSpPr>
            <a:spLocks noGrp="1"/>
          </p:cNvSpPr>
          <p:nvPr>
            <p:ph type="title"/>
          </p:nvPr>
        </p:nvSpPr>
        <p:spPr/>
        <p:txBody>
          <a:bodyPr/>
          <a:lstStyle/>
          <a:p>
            <a:r>
              <a:rPr lang="en-US" dirty="0"/>
              <a:t>data speeds</a:t>
            </a:r>
            <a:endParaRPr lang="en-GB" dirty="0"/>
          </a:p>
        </p:txBody>
      </p:sp>
      <p:sp>
        <p:nvSpPr>
          <p:cNvPr id="3" name="Content Placeholder 2">
            <a:extLst>
              <a:ext uri="{FF2B5EF4-FFF2-40B4-BE49-F238E27FC236}">
                <a16:creationId xmlns:a16="http://schemas.microsoft.com/office/drawing/2014/main" id="{5437F9D4-5ED5-4E13-85E0-F0552D020636}"/>
              </a:ext>
            </a:extLst>
          </p:cNvPr>
          <p:cNvSpPr>
            <a:spLocks noGrp="1"/>
          </p:cNvSpPr>
          <p:nvPr>
            <p:ph idx="1"/>
          </p:nvPr>
        </p:nvSpPr>
        <p:spPr>
          <a:xfrm>
            <a:off x="532511" y="1842403"/>
            <a:ext cx="4438475" cy="4351338"/>
          </a:xfrm>
        </p:spPr>
        <p:txBody>
          <a:bodyPr>
            <a:normAutofit/>
          </a:bodyPr>
          <a:lstStyle/>
          <a:p>
            <a:pPr marL="0" indent="0">
              <a:buNone/>
            </a:pPr>
            <a:r>
              <a:rPr lang="en-US" dirty="0"/>
              <a:t>Every kind of communication between 2 or more devices is difficult because they don’t always work at the same speed.  You know yourself with the Serial Monitor on the Arduino IDE.  If the Arduino is sending data at 115200 baud and our Serial monitor is set to 9600 baud then you will get garbage.</a:t>
            </a:r>
            <a:endParaRPr lang="en-GB" dirty="0"/>
          </a:p>
        </p:txBody>
      </p:sp>
      <p:pic>
        <p:nvPicPr>
          <p:cNvPr id="7" name="Picture 6">
            <a:extLst>
              <a:ext uri="{FF2B5EF4-FFF2-40B4-BE49-F238E27FC236}">
                <a16:creationId xmlns:a16="http://schemas.microsoft.com/office/drawing/2014/main" id="{39FF4473-B3E2-4FCD-8638-529757A5C3DC}"/>
              </a:ext>
            </a:extLst>
          </p:cNvPr>
          <p:cNvPicPr>
            <a:picLocks noChangeAspect="1"/>
          </p:cNvPicPr>
          <p:nvPr/>
        </p:nvPicPr>
        <p:blipFill>
          <a:blip r:embed="rId2"/>
          <a:stretch>
            <a:fillRect/>
          </a:stretch>
        </p:blipFill>
        <p:spPr>
          <a:xfrm>
            <a:off x="5800796" y="146375"/>
            <a:ext cx="5858693" cy="3696216"/>
          </a:xfrm>
          <a:prstGeom prst="rect">
            <a:avLst/>
          </a:prstGeom>
        </p:spPr>
      </p:pic>
      <p:pic>
        <p:nvPicPr>
          <p:cNvPr id="9" name="Picture 8">
            <a:extLst>
              <a:ext uri="{FF2B5EF4-FFF2-40B4-BE49-F238E27FC236}">
                <a16:creationId xmlns:a16="http://schemas.microsoft.com/office/drawing/2014/main" id="{F0771336-8A30-4520-B6C4-81AD7154BEAA}"/>
              </a:ext>
            </a:extLst>
          </p:cNvPr>
          <p:cNvPicPr>
            <a:picLocks noChangeAspect="1"/>
          </p:cNvPicPr>
          <p:nvPr/>
        </p:nvPicPr>
        <p:blipFill rotWithShape="1">
          <a:blip r:embed="rId3"/>
          <a:srcRect t="57382"/>
          <a:stretch/>
        </p:blipFill>
        <p:spPr>
          <a:xfrm>
            <a:off x="5800390" y="4932728"/>
            <a:ext cx="5959767" cy="1560148"/>
          </a:xfrm>
          <a:prstGeom prst="rect">
            <a:avLst/>
          </a:prstGeom>
        </p:spPr>
      </p:pic>
    </p:spTree>
    <p:extLst>
      <p:ext uri="{BB962C8B-B14F-4D97-AF65-F5344CB8AC3E}">
        <p14:creationId xmlns:p14="http://schemas.microsoft.com/office/powerpoint/2010/main" val="2405011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DD2BF8-2B89-4974-B70E-7632DEDC51BE}"/>
              </a:ext>
            </a:extLst>
          </p:cNvPr>
          <p:cNvSpPr>
            <a:spLocks noGrp="1"/>
          </p:cNvSpPr>
          <p:nvPr>
            <p:ph idx="1"/>
          </p:nvPr>
        </p:nvSpPr>
        <p:spPr/>
        <p:txBody>
          <a:bodyPr/>
          <a:lstStyle/>
          <a:p>
            <a:pPr marL="0" indent="0">
              <a:buNone/>
            </a:pPr>
            <a:r>
              <a:rPr lang="en-US" dirty="0"/>
              <a:t>If we don’t use a clock (called </a:t>
            </a:r>
            <a:r>
              <a:rPr lang="en-US" b="1" dirty="0"/>
              <a:t>asynchronous</a:t>
            </a:r>
            <a:r>
              <a:rPr lang="en-US" dirty="0"/>
              <a:t> serial) our speed is limited and our devices all need to be set to use the same baud rate.  But, baud rates are fairly low.</a:t>
            </a:r>
          </a:p>
          <a:p>
            <a:pPr marL="0" indent="0">
              <a:buNone/>
            </a:pPr>
            <a:r>
              <a:rPr lang="en-US" dirty="0"/>
              <a:t>If we use a clock pin, we can have all of our devices connected to that single clock.  This tells them when to listen to the data bus, or when to transmit.  It lets them use higher data rates, and we can easily change the data rate using software.</a:t>
            </a:r>
          </a:p>
          <a:p>
            <a:pPr marL="0" indent="0">
              <a:buNone/>
            </a:pPr>
            <a:r>
              <a:rPr lang="en-US" dirty="0"/>
              <a:t>Using a common clock is called </a:t>
            </a:r>
            <a:r>
              <a:rPr lang="en-US" b="1" dirty="0"/>
              <a:t>synchronous</a:t>
            </a:r>
            <a:r>
              <a:rPr lang="en-US" dirty="0"/>
              <a:t> serial.</a:t>
            </a:r>
            <a:endParaRPr lang="en-GB" dirty="0"/>
          </a:p>
        </p:txBody>
      </p:sp>
    </p:spTree>
    <p:extLst>
      <p:ext uri="{BB962C8B-B14F-4D97-AF65-F5344CB8AC3E}">
        <p14:creationId xmlns:p14="http://schemas.microsoft.com/office/powerpoint/2010/main" val="3424957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EA013-57E9-401E-9B68-E64B0AB24F59}"/>
              </a:ext>
            </a:extLst>
          </p:cNvPr>
          <p:cNvSpPr>
            <a:spLocks noGrp="1"/>
          </p:cNvSpPr>
          <p:nvPr>
            <p:ph type="title"/>
          </p:nvPr>
        </p:nvSpPr>
        <p:spPr>
          <a:xfrm>
            <a:off x="838200" y="365125"/>
            <a:ext cx="10515600" cy="884835"/>
          </a:xfrm>
        </p:spPr>
        <p:txBody>
          <a:bodyPr/>
          <a:lstStyle/>
          <a:p>
            <a:r>
              <a:rPr lang="en-US" dirty="0"/>
              <a:t>example of synchronous vs asynchronous</a:t>
            </a:r>
            <a:endParaRPr lang="en-GB" dirty="0"/>
          </a:p>
        </p:txBody>
      </p:sp>
      <p:sp>
        <p:nvSpPr>
          <p:cNvPr id="3" name="Content Placeholder 2">
            <a:extLst>
              <a:ext uri="{FF2B5EF4-FFF2-40B4-BE49-F238E27FC236}">
                <a16:creationId xmlns:a16="http://schemas.microsoft.com/office/drawing/2014/main" id="{21A2C330-B4EC-4522-B596-7EA9FE158A04}"/>
              </a:ext>
            </a:extLst>
          </p:cNvPr>
          <p:cNvSpPr>
            <a:spLocks noGrp="1"/>
          </p:cNvSpPr>
          <p:nvPr>
            <p:ph idx="1"/>
          </p:nvPr>
        </p:nvSpPr>
        <p:spPr>
          <a:xfrm>
            <a:off x="838200" y="1632984"/>
            <a:ext cx="10515600" cy="4859891"/>
          </a:xfrm>
        </p:spPr>
        <p:txBody>
          <a:bodyPr/>
          <a:lstStyle/>
          <a:p>
            <a:pPr marL="0" indent="0">
              <a:buNone/>
            </a:pPr>
            <a:r>
              <a:rPr lang="en-US" dirty="0"/>
              <a:t>What if we have a few devices on our data bus that all read data at 115200 baud using an asynchronous system.</a:t>
            </a:r>
          </a:p>
          <a:p>
            <a:pPr marL="0" indent="0">
              <a:buNone/>
            </a:pPr>
            <a:r>
              <a:rPr lang="en-US" dirty="0"/>
              <a:t>We set all of our software up to use that speed, and everything works.</a:t>
            </a:r>
          </a:p>
          <a:p>
            <a:pPr marL="0" indent="0">
              <a:buNone/>
            </a:pPr>
            <a:r>
              <a:rPr lang="en-US" dirty="0"/>
              <a:t>But then we add a new device which can only work at 74880 baud.</a:t>
            </a:r>
          </a:p>
          <a:p>
            <a:pPr marL="0" indent="0">
              <a:buNone/>
            </a:pPr>
            <a:endParaRPr lang="en-US" dirty="0"/>
          </a:p>
          <a:p>
            <a:pPr marL="0" indent="0">
              <a:buNone/>
            </a:pPr>
            <a:r>
              <a:rPr lang="en-US" dirty="0"/>
              <a:t>We can change our software easily, but the other devices might not be able to work at lower speeds.  Or we may need to make changes to the actual device to tell it to use the new speed.</a:t>
            </a:r>
          </a:p>
          <a:p>
            <a:pPr marL="0" indent="0">
              <a:buNone/>
            </a:pPr>
            <a:endParaRPr lang="en-US" dirty="0"/>
          </a:p>
          <a:p>
            <a:pPr marL="0" indent="0">
              <a:buNone/>
            </a:pPr>
            <a:r>
              <a:rPr lang="en-GB" dirty="0"/>
              <a:t>With a synchronous system, we just change the software.  That’s it.</a:t>
            </a:r>
          </a:p>
        </p:txBody>
      </p:sp>
    </p:spTree>
    <p:extLst>
      <p:ext uri="{BB962C8B-B14F-4D97-AF65-F5344CB8AC3E}">
        <p14:creationId xmlns:p14="http://schemas.microsoft.com/office/powerpoint/2010/main" val="3506270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4DF0-5AB3-48AD-9D64-FA73995B919D}"/>
              </a:ext>
            </a:extLst>
          </p:cNvPr>
          <p:cNvSpPr>
            <a:spLocks noGrp="1"/>
          </p:cNvSpPr>
          <p:nvPr>
            <p:ph type="title"/>
          </p:nvPr>
        </p:nvSpPr>
        <p:spPr/>
        <p:txBody>
          <a:bodyPr/>
          <a:lstStyle/>
          <a:p>
            <a:r>
              <a:rPr lang="en-US" dirty="0"/>
              <a:t>I2C</a:t>
            </a:r>
            <a:endParaRPr lang="en-GB" dirty="0"/>
          </a:p>
        </p:txBody>
      </p:sp>
      <p:sp>
        <p:nvSpPr>
          <p:cNvPr id="3" name="Content Placeholder 2">
            <a:extLst>
              <a:ext uri="{FF2B5EF4-FFF2-40B4-BE49-F238E27FC236}">
                <a16:creationId xmlns:a16="http://schemas.microsoft.com/office/drawing/2014/main" id="{DE591687-0C2B-4FD1-811C-3278BD97D898}"/>
              </a:ext>
            </a:extLst>
          </p:cNvPr>
          <p:cNvSpPr>
            <a:spLocks noGrp="1"/>
          </p:cNvSpPr>
          <p:nvPr>
            <p:ph idx="1"/>
          </p:nvPr>
        </p:nvSpPr>
        <p:spPr/>
        <p:txBody>
          <a:bodyPr/>
          <a:lstStyle/>
          <a:p>
            <a:pPr marL="0" indent="0">
              <a:buNone/>
            </a:pPr>
            <a:r>
              <a:rPr lang="en-US" dirty="0"/>
              <a:t>I2C or I</a:t>
            </a:r>
            <a:r>
              <a:rPr lang="en-US" baseline="30000" dirty="0"/>
              <a:t>2</a:t>
            </a:r>
            <a:r>
              <a:rPr lang="en-US" dirty="0"/>
              <a:t>C stands for Inter-Integrated Circuit and is a simple way to allow over a thousand different devices to talk to the same controller.  It is only designed for short-range communication, which is perfect for us.</a:t>
            </a:r>
          </a:p>
          <a:p>
            <a:pPr marL="0" indent="0">
              <a:buNone/>
            </a:pPr>
            <a:endParaRPr lang="en-US" dirty="0"/>
          </a:p>
          <a:p>
            <a:pPr marL="0" indent="0">
              <a:buNone/>
            </a:pPr>
            <a:r>
              <a:rPr lang="en-US" dirty="0"/>
              <a:t>Even better, it only uses 2 signal wires.</a:t>
            </a:r>
          </a:p>
          <a:p>
            <a:pPr marL="0" indent="0">
              <a:buNone/>
            </a:pPr>
            <a:endParaRPr lang="en-US" dirty="0"/>
          </a:p>
          <a:p>
            <a:pPr marL="0" indent="0">
              <a:buNone/>
            </a:pPr>
            <a:r>
              <a:rPr lang="en-US" dirty="0"/>
              <a:t>TWO WIRES on our Arduino can control thousands of sensors.  WOW.</a:t>
            </a:r>
            <a:endParaRPr lang="en-GB" dirty="0"/>
          </a:p>
        </p:txBody>
      </p:sp>
    </p:spTree>
    <p:extLst>
      <p:ext uri="{BB962C8B-B14F-4D97-AF65-F5344CB8AC3E}">
        <p14:creationId xmlns:p14="http://schemas.microsoft.com/office/powerpoint/2010/main" val="974915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DFF9FB8-38B5-4504-A1D3-3043A1311B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0321" y="0"/>
            <a:ext cx="10131358" cy="6826795"/>
          </a:xfrm>
        </p:spPr>
      </p:pic>
      <p:sp>
        <p:nvSpPr>
          <p:cNvPr id="8" name="Rectangle 7">
            <a:extLst>
              <a:ext uri="{FF2B5EF4-FFF2-40B4-BE49-F238E27FC236}">
                <a16:creationId xmlns:a16="http://schemas.microsoft.com/office/drawing/2014/main" id="{16CB1D92-9C50-44D2-A3C4-311B146396C7}"/>
              </a:ext>
            </a:extLst>
          </p:cNvPr>
          <p:cNvSpPr/>
          <p:nvPr/>
        </p:nvSpPr>
        <p:spPr>
          <a:xfrm>
            <a:off x="6535024" y="1879134"/>
            <a:ext cx="1090569" cy="595618"/>
          </a:xfrm>
          <a:prstGeom prst="rect">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203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6" presetClass="emph" presetSubtype="0" repeatCount="indefinite" autoRev="1" fill="hold" grpId="1" nodeType="afterEffect">
                                  <p:stCondLst>
                                    <p:cond delay="0"/>
                                  </p:stCondLst>
                                  <p:childTnLst>
                                    <p:animScale>
                                      <p:cBhvr>
                                        <p:cTn id="9" dur="1000" fill="hold"/>
                                        <p:tgtEl>
                                          <p:spTgt spid="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DFF9FB8-38B5-4504-A1D3-3043A1311B2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9370" r="19370"/>
          <a:stretch/>
        </p:blipFill>
        <p:spPr>
          <a:xfrm>
            <a:off x="-1" y="0"/>
            <a:ext cx="4822257" cy="6874880"/>
          </a:xfrm>
        </p:spPr>
      </p:pic>
      <p:sp>
        <p:nvSpPr>
          <p:cNvPr id="3" name="TextBox 2">
            <a:extLst>
              <a:ext uri="{FF2B5EF4-FFF2-40B4-BE49-F238E27FC236}">
                <a16:creationId xmlns:a16="http://schemas.microsoft.com/office/drawing/2014/main" id="{DB886A5F-F151-476D-A744-0D35A3792DEA}"/>
              </a:ext>
            </a:extLst>
          </p:cNvPr>
          <p:cNvSpPr txBox="1"/>
          <p:nvPr/>
        </p:nvSpPr>
        <p:spPr>
          <a:xfrm>
            <a:off x="6737684" y="477555"/>
            <a:ext cx="5454316" cy="3539430"/>
          </a:xfrm>
          <a:prstGeom prst="rect">
            <a:avLst/>
          </a:prstGeom>
          <a:noFill/>
        </p:spPr>
        <p:txBody>
          <a:bodyPr wrap="square" rtlCol="0">
            <a:spAutoFit/>
          </a:bodyPr>
          <a:lstStyle/>
          <a:p>
            <a:r>
              <a:rPr lang="en-US" sz="2800" dirty="0"/>
              <a:t>Here they are in more detail.  The two pins we need for I2C are SCL and SDA.  SCL is for the clock, and SDA is for the data.</a:t>
            </a:r>
          </a:p>
          <a:p>
            <a:endParaRPr lang="en-US" sz="2800" dirty="0"/>
          </a:p>
          <a:p>
            <a:r>
              <a:rPr lang="en-US" sz="2800" dirty="0"/>
              <a:t>Sometimes they are not labelled, so remember that SCL is the top one and SDA is below it.</a:t>
            </a:r>
            <a:endParaRPr lang="en-GB" sz="2800" dirty="0"/>
          </a:p>
        </p:txBody>
      </p:sp>
    </p:spTree>
    <p:extLst>
      <p:ext uri="{BB962C8B-B14F-4D97-AF65-F5344CB8AC3E}">
        <p14:creationId xmlns:p14="http://schemas.microsoft.com/office/powerpoint/2010/main" val="923238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C3E12-FC17-4485-BA80-527449BB700D}"/>
              </a:ext>
            </a:extLst>
          </p:cNvPr>
          <p:cNvSpPr>
            <a:spLocks noGrp="1"/>
          </p:cNvSpPr>
          <p:nvPr>
            <p:ph type="title"/>
          </p:nvPr>
        </p:nvSpPr>
        <p:spPr>
          <a:xfrm>
            <a:off x="838200" y="365125"/>
            <a:ext cx="10515600" cy="1010669"/>
          </a:xfrm>
        </p:spPr>
        <p:txBody>
          <a:bodyPr/>
          <a:lstStyle/>
          <a:p>
            <a:r>
              <a:rPr lang="en-US" dirty="0"/>
              <a:t>I2C</a:t>
            </a:r>
            <a:endParaRPr lang="en-GB" dirty="0"/>
          </a:p>
        </p:txBody>
      </p:sp>
      <p:sp>
        <p:nvSpPr>
          <p:cNvPr id="3" name="Content Placeholder 2">
            <a:extLst>
              <a:ext uri="{FF2B5EF4-FFF2-40B4-BE49-F238E27FC236}">
                <a16:creationId xmlns:a16="http://schemas.microsoft.com/office/drawing/2014/main" id="{B01A318D-D917-42EE-8577-1D37CF0332DB}"/>
              </a:ext>
            </a:extLst>
          </p:cNvPr>
          <p:cNvSpPr>
            <a:spLocks noGrp="1"/>
          </p:cNvSpPr>
          <p:nvPr>
            <p:ph idx="1"/>
          </p:nvPr>
        </p:nvSpPr>
        <p:spPr>
          <a:xfrm>
            <a:off x="771787" y="1451294"/>
            <a:ext cx="11023134" cy="5285065"/>
          </a:xfrm>
        </p:spPr>
        <p:txBody>
          <a:bodyPr>
            <a:normAutofit lnSpcReduction="10000"/>
          </a:bodyPr>
          <a:lstStyle/>
          <a:p>
            <a:pPr marL="0" indent="0">
              <a:buNone/>
            </a:pPr>
            <a:r>
              <a:rPr lang="en-US" dirty="0"/>
              <a:t>The basics of I2C are very simple.  </a:t>
            </a:r>
          </a:p>
          <a:p>
            <a:pPr marL="0" indent="0">
              <a:buNone/>
            </a:pPr>
            <a:r>
              <a:rPr lang="en-US" dirty="0"/>
              <a:t>You connect the SDA of every device to the SDA pin of the Arduino.</a:t>
            </a:r>
          </a:p>
          <a:p>
            <a:pPr marL="0" indent="0">
              <a:buNone/>
            </a:pPr>
            <a:r>
              <a:rPr lang="en-US" dirty="0"/>
              <a:t>You connect the SCL pin of every device to the SCL pin of the Arduino.</a:t>
            </a:r>
          </a:p>
          <a:p>
            <a:pPr marL="0" indent="0">
              <a:buNone/>
            </a:pPr>
            <a:endParaRPr lang="en-US" dirty="0"/>
          </a:p>
          <a:p>
            <a:pPr marL="0" indent="0">
              <a:buNone/>
            </a:pPr>
            <a:r>
              <a:rPr lang="en-US" dirty="0"/>
              <a:t>Devices do not send data unless they are requested to.</a:t>
            </a:r>
            <a:endParaRPr lang="en-GB" dirty="0"/>
          </a:p>
          <a:p>
            <a:pPr marL="0" indent="0">
              <a:buNone/>
            </a:pPr>
            <a:endParaRPr lang="en-US" dirty="0"/>
          </a:p>
          <a:p>
            <a:pPr marL="0" indent="0">
              <a:buNone/>
            </a:pPr>
            <a:r>
              <a:rPr lang="en-US" dirty="0"/>
              <a:t>Each device has an individual address using hexadecimal, such as 0x68.</a:t>
            </a:r>
          </a:p>
          <a:p>
            <a:pPr marL="0" indent="0">
              <a:buNone/>
            </a:pPr>
            <a:r>
              <a:rPr lang="en-US" dirty="0"/>
              <a:t>You send data to that address and get a response back.</a:t>
            </a:r>
          </a:p>
          <a:p>
            <a:pPr marL="0" indent="0">
              <a:buNone/>
            </a:pPr>
            <a:endParaRPr lang="en-US" dirty="0"/>
          </a:p>
          <a:p>
            <a:pPr marL="0" indent="0">
              <a:buNone/>
            </a:pPr>
            <a:r>
              <a:rPr lang="en-US" dirty="0"/>
              <a:t>Some devices call the clock </a:t>
            </a:r>
            <a:r>
              <a:rPr lang="en-US" b="1" dirty="0"/>
              <a:t>SCK</a:t>
            </a:r>
            <a:r>
              <a:rPr lang="en-US" dirty="0"/>
              <a:t> instead of </a:t>
            </a:r>
            <a:r>
              <a:rPr lang="en-US" b="1" dirty="0"/>
              <a:t>SCL</a:t>
            </a:r>
            <a:r>
              <a:rPr lang="en-US" dirty="0"/>
              <a:t>, and the data </a:t>
            </a:r>
            <a:r>
              <a:rPr lang="en-US" b="1" dirty="0"/>
              <a:t>SDI</a:t>
            </a:r>
            <a:r>
              <a:rPr lang="en-US" dirty="0"/>
              <a:t> instead of </a:t>
            </a:r>
            <a:r>
              <a:rPr lang="en-US" b="1" dirty="0"/>
              <a:t>SDA</a:t>
            </a:r>
            <a:r>
              <a:rPr lang="en-US" dirty="0"/>
              <a:t>, but they are the same thing.</a:t>
            </a:r>
          </a:p>
        </p:txBody>
      </p:sp>
    </p:spTree>
    <p:extLst>
      <p:ext uri="{BB962C8B-B14F-4D97-AF65-F5344CB8AC3E}">
        <p14:creationId xmlns:p14="http://schemas.microsoft.com/office/powerpoint/2010/main" val="4089477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8776-46F8-488D-97E9-50F2BF582FB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7BBEF2F-71A5-4723-B2FB-113B502B8C0D}"/>
              </a:ext>
            </a:extLst>
          </p:cNvPr>
          <p:cNvSpPr>
            <a:spLocks noGrp="1"/>
          </p:cNvSpPr>
          <p:nvPr>
            <p:ph idx="1"/>
          </p:nvPr>
        </p:nvSpPr>
        <p:spPr/>
        <p:txBody>
          <a:bodyPr/>
          <a:lstStyle/>
          <a:p>
            <a:endParaRPr lang="en-GB"/>
          </a:p>
        </p:txBody>
      </p:sp>
      <p:pic>
        <p:nvPicPr>
          <p:cNvPr id="4" name="Content Placeholder 6">
            <a:extLst>
              <a:ext uri="{FF2B5EF4-FFF2-40B4-BE49-F238E27FC236}">
                <a16:creationId xmlns:a16="http://schemas.microsoft.com/office/drawing/2014/main" id="{321D56D2-D10C-4088-81D5-9CB4924294E7}"/>
              </a:ext>
            </a:extLst>
          </p:cNvPr>
          <p:cNvPicPr>
            <a:picLocks noChangeAspect="1"/>
          </p:cNvPicPr>
          <p:nvPr/>
        </p:nvPicPr>
        <p:blipFill>
          <a:blip r:embed="rId2"/>
          <a:stretch>
            <a:fillRect/>
          </a:stretch>
        </p:blipFill>
        <p:spPr>
          <a:xfrm>
            <a:off x="63253" y="76202"/>
            <a:ext cx="11969299" cy="6593046"/>
          </a:xfrm>
          <a:prstGeom prst="rect">
            <a:avLst/>
          </a:prstGeom>
        </p:spPr>
      </p:pic>
    </p:spTree>
    <p:extLst>
      <p:ext uri="{BB962C8B-B14F-4D97-AF65-F5344CB8AC3E}">
        <p14:creationId xmlns:p14="http://schemas.microsoft.com/office/powerpoint/2010/main" val="3179728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6FDEC3-D580-41C6-8E94-33A9ECD8F9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4093"/>
            <a:ext cx="12204157" cy="6882277"/>
          </a:xfrm>
        </p:spPr>
      </p:pic>
    </p:spTree>
    <p:extLst>
      <p:ext uri="{BB962C8B-B14F-4D97-AF65-F5344CB8AC3E}">
        <p14:creationId xmlns:p14="http://schemas.microsoft.com/office/powerpoint/2010/main" val="2851126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a:extLst>
              <a:ext uri="{FF2B5EF4-FFF2-40B4-BE49-F238E27FC236}">
                <a16:creationId xmlns:a16="http://schemas.microsoft.com/office/drawing/2014/main" id="{FF845C34-0333-4557-A2A5-F1F0D48CD84F}"/>
              </a:ext>
            </a:extLst>
          </p:cNvPr>
          <p:cNvPicPr>
            <a:picLocks noChangeAspect="1"/>
          </p:cNvPicPr>
          <p:nvPr/>
        </p:nvPicPr>
        <p:blipFill>
          <a:blip r:embed="rId2"/>
          <a:stretch>
            <a:fillRect/>
          </a:stretch>
        </p:blipFill>
        <p:spPr>
          <a:xfrm>
            <a:off x="255181" y="2408938"/>
            <a:ext cx="11936819" cy="4065437"/>
          </a:xfrm>
          <a:prstGeom prst="rect">
            <a:avLst/>
          </a:prstGeom>
        </p:spPr>
      </p:pic>
    </p:spTree>
    <p:extLst>
      <p:ext uri="{BB962C8B-B14F-4D97-AF65-F5344CB8AC3E}">
        <p14:creationId xmlns:p14="http://schemas.microsoft.com/office/powerpoint/2010/main" val="448069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Detail of I2C workings</a:t>
            </a:r>
          </a:p>
        </p:txBody>
      </p:sp>
      <p:sp>
        <p:nvSpPr>
          <p:cNvPr id="3" name="Content Placeholder 2"/>
          <p:cNvSpPr>
            <a:spLocks noGrp="1"/>
          </p:cNvSpPr>
          <p:nvPr>
            <p:ph idx="1"/>
          </p:nvPr>
        </p:nvSpPr>
        <p:spPr/>
        <p:txBody>
          <a:bodyPr/>
          <a:lstStyle/>
          <a:p>
            <a:r>
              <a:rPr lang="en-GB" dirty="0"/>
              <a:t>We will not investigate the detail of the workings of I2C at this stage in the course. If you are interested </a:t>
            </a:r>
            <a:r>
              <a:rPr lang="en-GB" dirty="0">
                <a:hlinkClick r:id="rId2"/>
              </a:rPr>
              <a:t>https://learn.sparkfun.com/tutorials/i2c/all</a:t>
            </a:r>
            <a:r>
              <a:rPr lang="en-GB" dirty="0"/>
              <a:t> is a good place to find out about I2C as is Wikipedia</a:t>
            </a:r>
          </a:p>
          <a:p>
            <a:r>
              <a:rPr lang="en-GB" dirty="0"/>
              <a:t>Most devices that you connect to I2C have libraries written that means you simply have to connect the data and clock lines for each device (as well as power and ground)</a:t>
            </a:r>
          </a:p>
          <a:p>
            <a:r>
              <a:rPr lang="en-GB" dirty="0"/>
              <a:t>When using Arduinos you need to add these libraries look at the Arduino help for how to do this if you forget</a:t>
            </a:r>
          </a:p>
          <a:p>
            <a:endParaRPr lang="en-GB" dirty="0"/>
          </a:p>
        </p:txBody>
      </p:sp>
    </p:spTree>
    <p:extLst>
      <p:ext uri="{BB962C8B-B14F-4D97-AF65-F5344CB8AC3E}">
        <p14:creationId xmlns:p14="http://schemas.microsoft.com/office/powerpoint/2010/main" val="7410554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B5364-A3A7-4A65-B642-F8B3EB7D69B9}"/>
              </a:ext>
            </a:extLst>
          </p:cNvPr>
          <p:cNvSpPr>
            <a:spLocks noGrp="1"/>
          </p:cNvSpPr>
          <p:nvPr>
            <p:ph type="title"/>
          </p:nvPr>
        </p:nvSpPr>
        <p:spPr/>
        <p:txBody>
          <a:bodyPr/>
          <a:lstStyle/>
          <a:p>
            <a:r>
              <a:rPr lang="en-US" dirty="0"/>
              <a:t>Connecting our new sensors using I2C</a:t>
            </a:r>
            <a:endParaRPr lang="en-GB" dirty="0"/>
          </a:p>
        </p:txBody>
      </p:sp>
      <p:pic>
        <p:nvPicPr>
          <p:cNvPr id="6" name="Content Placeholder 4">
            <a:extLst>
              <a:ext uri="{FF2B5EF4-FFF2-40B4-BE49-F238E27FC236}">
                <a16:creationId xmlns:a16="http://schemas.microsoft.com/office/drawing/2014/main" id="{D8889E33-C9EA-423B-9BDE-48E080B3B00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5645791" y="1341047"/>
            <a:ext cx="6316911" cy="5516952"/>
          </a:xfrm>
        </p:spPr>
      </p:pic>
      <p:sp>
        <p:nvSpPr>
          <p:cNvPr id="7" name="TextBox 6">
            <a:extLst>
              <a:ext uri="{FF2B5EF4-FFF2-40B4-BE49-F238E27FC236}">
                <a16:creationId xmlns:a16="http://schemas.microsoft.com/office/drawing/2014/main" id="{DC09FA07-1E17-4D6A-89DD-7D1E0F09E74D}"/>
              </a:ext>
            </a:extLst>
          </p:cNvPr>
          <p:cNvSpPr txBox="1"/>
          <p:nvPr/>
        </p:nvSpPr>
        <p:spPr>
          <a:xfrm>
            <a:off x="229298" y="1954635"/>
            <a:ext cx="5916572" cy="3970318"/>
          </a:xfrm>
          <a:prstGeom prst="rect">
            <a:avLst/>
          </a:prstGeom>
          <a:noFill/>
        </p:spPr>
        <p:txBody>
          <a:bodyPr wrap="square" rtlCol="0">
            <a:spAutoFit/>
          </a:bodyPr>
          <a:lstStyle/>
          <a:p>
            <a:r>
              <a:rPr lang="en-US" sz="2800" dirty="0"/>
              <a:t>The BME280 used here looks a little different because it has more pins on it.  That isn’t a problem for us because the basic functions are the same.</a:t>
            </a:r>
          </a:p>
          <a:p>
            <a:endParaRPr lang="en-US" sz="2800" dirty="0"/>
          </a:p>
          <a:p>
            <a:r>
              <a:rPr lang="en-US" sz="2800" dirty="0"/>
              <a:t>All of the SCL pins are connected together.</a:t>
            </a:r>
          </a:p>
          <a:p>
            <a:r>
              <a:rPr lang="en-US" sz="2800" dirty="0"/>
              <a:t>All of the SDA pins are connected together.</a:t>
            </a:r>
          </a:p>
        </p:txBody>
      </p:sp>
    </p:spTree>
    <p:extLst>
      <p:ext uri="{BB962C8B-B14F-4D97-AF65-F5344CB8AC3E}">
        <p14:creationId xmlns:p14="http://schemas.microsoft.com/office/powerpoint/2010/main" val="8143742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CB4240-2DC9-48CC-82D6-64C203705E9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7047" t="2102" r="21821" b="51514"/>
          <a:stretch/>
        </p:blipFill>
        <p:spPr>
          <a:xfrm>
            <a:off x="0" y="4666"/>
            <a:ext cx="10342024" cy="6853334"/>
          </a:xfrm>
        </p:spPr>
      </p:pic>
      <p:sp>
        <p:nvSpPr>
          <p:cNvPr id="8" name="TextBox 7">
            <a:extLst>
              <a:ext uri="{FF2B5EF4-FFF2-40B4-BE49-F238E27FC236}">
                <a16:creationId xmlns:a16="http://schemas.microsoft.com/office/drawing/2014/main" id="{BA3C6FB4-76F4-4453-8DF9-88D6006A95C6}"/>
              </a:ext>
            </a:extLst>
          </p:cNvPr>
          <p:cNvSpPr txBox="1"/>
          <p:nvPr/>
        </p:nvSpPr>
        <p:spPr>
          <a:xfrm>
            <a:off x="10718869" y="3265526"/>
            <a:ext cx="1473131" cy="830997"/>
          </a:xfrm>
          <a:prstGeom prst="rect">
            <a:avLst/>
          </a:prstGeom>
          <a:noFill/>
        </p:spPr>
        <p:txBody>
          <a:bodyPr wrap="square" rtlCol="0">
            <a:spAutoFit/>
          </a:bodyPr>
          <a:lstStyle/>
          <a:p>
            <a:r>
              <a:rPr lang="en-US" sz="4800" b="1" dirty="0">
                <a:solidFill>
                  <a:schemeClr val="accent6">
                    <a:lumMod val="75000"/>
                  </a:schemeClr>
                </a:solidFill>
              </a:rPr>
              <a:t>SDA</a:t>
            </a:r>
            <a:endParaRPr lang="en-GB" sz="4800" b="1" dirty="0">
              <a:solidFill>
                <a:schemeClr val="accent6">
                  <a:lumMod val="75000"/>
                </a:schemeClr>
              </a:solidFill>
            </a:endParaRPr>
          </a:p>
        </p:txBody>
      </p:sp>
      <p:sp>
        <p:nvSpPr>
          <p:cNvPr id="9" name="TextBox 8">
            <a:extLst>
              <a:ext uri="{FF2B5EF4-FFF2-40B4-BE49-F238E27FC236}">
                <a16:creationId xmlns:a16="http://schemas.microsoft.com/office/drawing/2014/main" id="{D7D92557-235F-41C4-A3CF-5E355C986C25}"/>
              </a:ext>
            </a:extLst>
          </p:cNvPr>
          <p:cNvSpPr txBox="1"/>
          <p:nvPr/>
        </p:nvSpPr>
        <p:spPr>
          <a:xfrm>
            <a:off x="10800315" y="4259032"/>
            <a:ext cx="1473131" cy="830997"/>
          </a:xfrm>
          <a:prstGeom prst="rect">
            <a:avLst/>
          </a:prstGeom>
          <a:noFill/>
        </p:spPr>
        <p:txBody>
          <a:bodyPr wrap="square" rtlCol="0">
            <a:spAutoFit/>
          </a:bodyPr>
          <a:lstStyle/>
          <a:p>
            <a:r>
              <a:rPr lang="en-US" sz="4800" b="1" dirty="0">
                <a:solidFill>
                  <a:schemeClr val="accent1">
                    <a:lumMod val="75000"/>
                  </a:schemeClr>
                </a:solidFill>
              </a:rPr>
              <a:t>SCL</a:t>
            </a:r>
            <a:endParaRPr lang="en-GB" sz="4800" b="1" dirty="0">
              <a:solidFill>
                <a:schemeClr val="accent1">
                  <a:lumMod val="75000"/>
                </a:schemeClr>
              </a:solidFill>
            </a:endParaRPr>
          </a:p>
        </p:txBody>
      </p:sp>
    </p:spTree>
    <p:extLst>
      <p:ext uri="{BB962C8B-B14F-4D97-AF65-F5344CB8AC3E}">
        <p14:creationId xmlns:p14="http://schemas.microsoft.com/office/powerpoint/2010/main" val="864725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A52F2-8332-472F-BA94-04E2CC023444}"/>
              </a:ext>
            </a:extLst>
          </p:cNvPr>
          <p:cNvSpPr>
            <a:spLocks noGrp="1"/>
          </p:cNvSpPr>
          <p:nvPr>
            <p:ph type="title"/>
          </p:nvPr>
        </p:nvSpPr>
        <p:spPr/>
        <p:txBody>
          <a:bodyPr/>
          <a:lstStyle/>
          <a:p>
            <a:r>
              <a:rPr lang="en-US" dirty="0"/>
              <a:t>Using the BME 280 board with Arduino</a:t>
            </a:r>
            <a:endParaRPr lang="en-GB" dirty="0"/>
          </a:p>
        </p:txBody>
      </p:sp>
      <p:sp>
        <p:nvSpPr>
          <p:cNvPr id="3" name="Content Placeholder 2">
            <a:extLst>
              <a:ext uri="{FF2B5EF4-FFF2-40B4-BE49-F238E27FC236}">
                <a16:creationId xmlns:a16="http://schemas.microsoft.com/office/drawing/2014/main" id="{1CDD5C0D-6839-48FB-BAC8-BD6EA1E5EE60}"/>
              </a:ext>
            </a:extLst>
          </p:cNvPr>
          <p:cNvSpPr>
            <a:spLocks noGrp="1"/>
          </p:cNvSpPr>
          <p:nvPr>
            <p:ph idx="1"/>
          </p:nvPr>
        </p:nvSpPr>
        <p:spPr/>
        <p:txBody>
          <a:bodyPr/>
          <a:lstStyle/>
          <a:p>
            <a:pPr marL="0" indent="0">
              <a:buNone/>
            </a:pPr>
            <a:r>
              <a:rPr lang="en-US" dirty="0"/>
              <a:t>When we have connected the sensor module to our Arduino we need our software to talk to it.  We need to use the library created by the manufacturer.</a:t>
            </a:r>
          </a:p>
          <a:p>
            <a:pPr marL="0" indent="0">
              <a:buNone/>
            </a:pPr>
            <a:endParaRPr lang="en-US" dirty="0"/>
          </a:p>
          <a:p>
            <a:pPr marL="0" indent="0">
              <a:buNone/>
            </a:pPr>
            <a:r>
              <a:rPr lang="en-US" dirty="0"/>
              <a:t>Let’s look at how to add that to our Arduino…</a:t>
            </a:r>
            <a:endParaRPr lang="en-GB" dirty="0"/>
          </a:p>
        </p:txBody>
      </p:sp>
    </p:spTree>
    <p:extLst>
      <p:ext uri="{BB962C8B-B14F-4D97-AF65-F5344CB8AC3E}">
        <p14:creationId xmlns:p14="http://schemas.microsoft.com/office/powerpoint/2010/main" val="14401979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55ECCE-A654-47EB-A8CB-238945A95A8A}"/>
              </a:ext>
            </a:extLst>
          </p:cNvPr>
          <p:cNvPicPr>
            <a:picLocks noChangeAspect="1"/>
          </p:cNvPicPr>
          <p:nvPr/>
        </p:nvPicPr>
        <p:blipFill rotWithShape="1">
          <a:blip r:embed="rId2"/>
          <a:srcRect t="23620" r="12422"/>
          <a:stretch/>
        </p:blipFill>
        <p:spPr>
          <a:xfrm>
            <a:off x="14926" y="10083"/>
            <a:ext cx="11645771" cy="6847916"/>
          </a:xfrm>
          <a:prstGeom prst="rect">
            <a:avLst/>
          </a:prstGeom>
        </p:spPr>
      </p:pic>
    </p:spTree>
    <p:extLst>
      <p:ext uri="{BB962C8B-B14F-4D97-AF65-F5344CB8AC3E}">
        <p14:creationId xmlns:p14="http://schemas.microsoft.com/office/powerpoint/2010/main" val="2414852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381F0-9222-40E5-91FA-15F8551AC830}"/>
              </a:ext>
            </a:extLst>
          </p:cNvPr>
          <p:cNvSpPr>
            <a:spLocks noGrp="1"/>
          </p:cNvSpPr>
          <p:nvPr>
            <p:ph idx="1"/>
          </p:nvPr>
        </p:nvSpPr>
        <p:spPr>
          <a:xfrm>
            <a:off x="838200" y="956619"/>
            <a:ext cx="10515600" cy="4351338"/>
          </a:xfrm>
        </p:spPr>
        <p:txBody>
          <a:bodyPr/>
          <a:lstStyle/>
          <a:p>
            <a:pPr marL="0" indent="0">
              <a:buNone/>
            </a:pPr>
            <a:r>
              <a:rPr lang="en-US" dirty="0"/>
              <a:t>Then we can load a demo sketch to test our sensors are working.</a:t>
            </a:r>
          </a:p>
          <a:p>
            <a:pPr marL="0" indent="0">
              <a:buNone/>
            </a:pPr>
            <a:endParaRPr lang="en-US" dirty="0"/>
          </a:p>
          <a:p>
            <a:pPr marL="0" indent="0">
              <a:buNone/>
            </a:pPr>
            <a:endParaRPr lang="en-GB" dirty="0"/>
          </a:p>
        </p:txBody>
      </p:sp>
      <p:pic>
        <p:nvPicPr>
          <p:cNvPr id="5" name="Picture 4">
            <a:extLst>
              <a:ext uri="{FF2B5EF4-FFF2-40B4-BE49-F238E27FC236}">
                <a16:creationId xmlns:a16="http://schemas.microsoft.com/office/drawing/2014/main" id="{E048DA62-61A9-48FD-A9BB-6A38856A9432}"/>
              </a:ext>
            </a:extLst>
          </p:cNvPr>
          <p:cNvPicPr>
            <a:picLocks noChangeAspect="1"/>
          </p:cNvPicPr>
          <p:nvPr/>
        </p:nvPicPr>
        <p:blipFill rotWithShape="1">
          <a:blip r:embed="rId2"/>
          <a:srcRect b="32233"/>
          <a:stretch/>
        </p:blipFill>
        <p:spPr>
          <a:xfrm>
            <a:off x="0" y="2105637"/>
            <a:ext cx="11811000" cy="4647501"/>
          </a:xfrm>
          <a:prstGeom prst="rect">
            <a:avLst/>
          </a:prstGeom>
        </p:spPr>
      </p:pic>
    </p:spTree>
    <p:extLst>
      <p:ext uri="{BB962C8B-B14F-4D97-AF65-F5344CB8AC3E}">
        <p14:creationId xmlns:p14="http://schemas.microsoft.com/office/powerpoint/2010/main" val="12020395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A52F2-8332-472F-BA94-04E2CC023444}"/>
              </a:ext>
            </a:extLst>
          </p:cNvPr>
          <p:cNvSpPr>
            <a:spLocks noGrp="1"/>
          </p:cNvSpPr>
          <p:nvPr>
            <p:ph type="title"/>
          </p:nvPr>
        </p:nvSpPr>
        <p:spPr/>
        <p:txBody>
          <a:bodyPr/>
          <a:lstStyle/>
          <a:p>
            <a:r>
              <a:rPr lang="en-US" dirty="0"/>
              <a:t>Using the MPU 9250 board with Arduino</a:t>
            </a:r>
            <a:endParaRPr lang="en-GB" dirty="0"/>
          </a:p>
        </p:txBody>
      </p:sp>
      <p:sp>
        <p:nvSpPr>
          <p:cNvPr id="3" name="Content Placeholder 2">
            <a:extLst>
              <a:ext uri="{FF2B5EF4-FFF2-40B4-BE49-F238E27FC236}">
                <a16:creationId xmlns:a16="http://schemas.microsoft.com/office/drawing/2014/main" id="{1CDD5C0D-6839-48FB-BAC8-BD6EA1E5EE60}"/>
              </a:ext>
            </a:extLst>
          </p:cNvPr>
          <p:cNvSpPr>
            <a:spLocks noGrp="1"/>
          </p:cNvSpPr>
          <p:nvPr>
            <p:ph idx="1"/>
          </p:nvPr>
        </p:nvSpPr>
        <p:spPr/>
        <p:txBody>
          <a:bodyPr/>
          <a:lstStyle/>
          <a:p>
            <a:pPr marL="0" indent="0">
              <a:buNone/>
            </a:pPr>
            <a:r>
              <a:rPr lang="en-US" dirty="0"/>
              <a:t>When we have connected the sensor module to our Arduino we need our software to talk to it.  We need to use the library created by the manufacturer.</a:t>
            </a:r>
          </a:p>
          <a:p>
            <a:pPr marL="0" indent="0">
              <a:buNone/>
            </a:pPr>
            <a:endParaRPr lang="en-US" dirty="0"/>
          </a:p>
          <a:p>
            <a:pPr marL="0" indent="0">
              <a:buNone/>
            </a:pPr>
            <a:r>
              <a:rPr lang="en-US" dirty="0"/>
              <a:t>Let’s look at how to add that to our Arduino…</a:t>
            </a:r>
            <a:endParaRPr lang="en-GB" dirty="0"/>
          </a:p>
        </p:txBody>
      </p:sp>
    </p:spTree>
    <p:extLst>
      <p:ext uri="{BB962C8B-B14F-4D97-AF65-F5344CB8AC3E}">
        <p14:creationId xmlns:p14="http://schemas.microsoft.com/office/powerpoint/2010/main" val="12503644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66F4DC-9E76-4703-B78A-1AE4F2DD5633}"/>
              </a:ext>
            </a:extLst>
          </p:cNvPr>
          <p:cNvPicPr>
            <a:picLocks noChangeAspect="1"/>
          </p:cNvPicPr>
          <p:nvPr/>
        </p:nvPicPr>
        <p:blipFill>
          <a:blip r:embed="rId2"/>
          <a:stretch>
            <a:fillRect/>
          </a:stretch>
        </p:blipFill>
        <p:spPr>
          <a:xfrm>
            <a:off x="100668" y="2010"/>
            <a:ext cx="11971090" cy="6842791"/>
          </a:xfrm>
          <a:prstGeom prst="rect">
            <a:avLst/>
          </a:prstGeom>
        </p:spPr>
      </p:pic>
    </p:spTree>
    <p:extLst>
      <p:ext uri="{BB962C8B-B14F-4D97-AF65-F5344CB8AC3E}">
        <p14:creationId xmlns:p14="http://schemas.microsoft.com/office/powerpoint/2010/main" val="1882590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D3426-110C-423E-8DC8-F2DDC196589D}"/>
              </a:ext>
            </a:extLst>
          </p:cNvPr>
          <p:cNvSpPr>
            <a:spLocks noGrp="1"/>
          </p:cNvSpPr>
          <p:nvPr>
            <p:ph type="title"/>
          </p:nvPr>
        </p:nvSpPr>
        <p:spPr>
          <a:xfrm>
            <a:off x="4351338" y="365125"/>
            <a:ext cx="7002462" cy="1325563"/>
          </a:xfrm>
        </p:spPr>
        <p:txBody>
          <a:bodyPr/>
          <a:lstStyle/>
          <a:p>
            <a:r>
              <a:rPr lang="en-US" dirty="0"/>
              <a:t>IR Sensor</a:t>
            </a:r>
            <a:endParaRPr lang="en-GB" dirty="0"/>
          </a:p>
        </p:txBody>
      </p:sp>
      <p:pic>
        <p:nvPicPr>
          <p:cNvPr id="5" name="Content Placeholder 4">
            <a:extLst>
              <a:ext uri="{FF2B5EF4-FFF2-40B4-BE49-F238E27FC236}">
                <a16:creationId xmlns:a16="http://schemas.microsoft.com/office/drawing/2014/main" id="{ACAA7618-CB67-4644-BFA7-EC21DCC758C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4968" t="12830" r="18597" b="9528"/>
          <a:stretch/>
        </p:blipFill>
        <p:spPr>
          <a:xfrm>
            <a:off x="0" y="664142"/>
            <a:ext cx="4192053" cy="4899260"/>
          </a:xfrm>
        </p:spPr>
      </p:pic>
      <p:sp>
        <p:nvSpPr>
          <p:cNvPr id="7" name="TextBox 6">
            <a:extLst>
              <a:ext uri="{FF2B5EF4-FFF2-40B4-BE49-F238E27FC236}">
                <a16:creationId xmlns:a16="http://schemas.microsoft.com/office/drawing/2014/main" id="{332BD398-4914-4FC6-AF76-8580A02FCB6B}"/>
              </a:ext>
            </a:extLst>
          </p:cNvPr>
          <p:cNvSpPr txBox="1"/>
          <p:nvPr/>
        </p:nvSpPr>
        <p:spPr>
          <a:xfrm>
            <a:off x="4475747" y="1690688"/>
            <a:ext cx="7498080" cy="4401205"/>
          </a:xfrm>
          <a:prstGeom prst="rect">
            <a:avLst/>
          </a:prstGeom>
          <a:noFill/>
        </p:spPr>
        <p:txBody>
          <a:bodyPr wrap="square" rtlCol="0">
            <a:spAutoFit/>
          </a:bodyPr>
          <a:lstStyle/>
          <a:p>
            <a:r>
              <a:rPr lang="en-US" sz="2800" dirty="0"/>
              <a:t>Can we use I2C with our 3 IR Sensors?  How about with our 2 LDR sensors?</a:t>
            </a:r>
          </a:p>
          <a:p>
            <a:endParaRPr lang="en-US" sz="2800" dirty="0"/>
          </a:p>
          <a:p>
            <a:r>
              <a:rPr lang="en-US" sz="2800" dirty="0"/>
              <a:t>Let’s take a look at our IR Sensor module.  It has an Analog OUT (A0) and a Digital OUT (D0).  Our sensor module is designed to be connected directly to an Arduino and read in real-time.  It sends constant signals to the pin, even if we only sample them every loop of the code.</a:t>
            </a:r>
          </a:p>
          <a:p>
            <a:r>
              <a:rPr lang="en-US" sz="2800" dirty="0"/>
              <a:t>The Analog signal has to go through an ADC.</a:t>
            </a:r>
            <a:endParaRPr lang="en-GB" sz="2800" dirty="0"/>
          </a:p>
        </p:txBody>
      </p:sp>
    </p:spTree>
    <p:extLst>
      <p:ext uri="{BB962C8B-B14F-4D97-AF65-F5344CB8AC3E}">
        <p14:creationId xmlns:p14="http://schemas.microsoft.com/office/powerpoint/2010/main" val="21593048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037D0-8AE5-4DF8-87CD-E540077989B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7C95BC9-ED96-451B-A8CD-F271A2D288CC}"/>
              </a:ext>
            </a:extLst>
          </p:cNvPr>
          <p:cNvSpPr>
            <a:spLocks noGrp="1"/>
          </p:cNvSpPr>
          <p:nvPr>
            <p:ph idx="1"/>
          </p:nvPr>
        </p:nvSpPr>
        <p:spPr/>
        <p:txBody>
          <a:bodyPr/>
          <a:lstStyle/>
          <a:p>
            <a:pPr marL="0" indent="0">
              <a:buNone/>
            </a:pPr>
            <a:r>
              <a:rPr lang="en-US" dirty="0"/>
              <a:t>So, at first glance, it seems impossible to connect our IR module using I2C.  Especially when you consider that I2C devices need to have a set address.</a:t>
            </a:r>
          </a:p>
          <a:p>
            <a:pPr marL="0" indent="0">
              <a:buNone/>
            </a:pPr>
            <a:endParaRPr lang="en-US" dirty="0"/>
          </a:p>
          <a:p>
            <a:pPr marL="0" indent="0">
              <a:buNone/>
            </a:pPr>
            <a:r>
              <a:rPr lang="en-US" dirty="0"/>
              <a:t>However, there is another option.</a:t>
            </a:r>
          </a:p>
          <a:p>
            <a:pPr marL="0" indent="0">
              <a:buNone/>
            </a:pPr>
            <a:endParaRPr lang="en-US" dirty="0"/>
          </a:p>
          <a:p>
            <a:pPr marL="0" indent="0">
              <a:buNone/>
            </a:pPr>
            <a:r>
              <a:rPr lang="en-US" dirty="0"/>
              <a:t>What if we used an external ADC, that could use I2C?</a:t>
            </a:r>
            <a:endParaRPr lang="en-GB" dirty="0"/>
          </a:p>
        </p:txBody>
      </p:sp>
    </p:spTree>
    <p:extLst>
      <p:ext uri="{BB962C8B-B14F-4D97-AF65-F5344CB8AC3E}">
        <p14:creationId xmlns:p14="http://schemas.microsoft.com/office/powerpoint/2010/main" val="41416656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32973-AFA0-4A37-8D01-E64DBE034D64}"/>
              </a:ext>
            </a:extLst>
          </p:cNvPr>
          <p:cNvSpPr>
            <a:spLocks noGrp="1"/>
          </p:cNvSpPr>
          <p:nvPr>
            <p:ph type="title"/>
          </p:nvPr>
        </p:nvSpPr>
        <p:spPr>
          <a:xfrm>
            <a:off x="6208294" y="365125"/>
            <a:ext cx="5145505" cy="1325563"/>
          </a:xfrm>
        </p:spPr>
        <p:txBody>
          <a:bodyPr/>
          <a:lstStyle/>
          <a:p>
            <a:r>
              <a:rPr lang="en-US" dirty="0"/>
              <a:t>ADS1115</a:t>
            </a:r>
            <a:endParaRPr lang="en-GB" dirty="0"/>
          </a:p>
        </p:txBody>
      </p:sp>
      <p:pic>
        <p:nvPicPr>
          <p:cNvPr id="5" name="Content Placeholder 4">
            <a:extLst>
              <a:ext uri="{FF2B5EF4-FFF2-40B4-BE49-F238E27FC236}">
                <a16:creationId xmlns:a16="http://schemas.microsoft.com/office/drawing/2014/main" id="{B2F80CF4-7A57-4D56-BE4F-35817B7C81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651088" cy="4351338"/>
          </a:xfrm>
        </p:spPr>
      </p:pic>
      <p:sp>
        <p:nvSpPr>
          <p:cNvPr id="6" name="TextBox 5">
            <a:extLst>
              <a:ext uri="{FF2B5EF4-FFF2-40B4-BE49-F238E27FC236}">
                <a16:creationId xmlns:a16="http://schemas.microsoft.com/office/drawing/2014/main" id="{691B166F-A63D-4DF9-912F-737085DBFB79}"/>
              </a:ext>
            </a:extLst>
          </p:cNvPr>
          <p:cNvSpPr txBox="1"/>
          <p:nvPr/>
        </p:nvSpPr>
        <p:spPr>
          <a:xfrm>
            <a:off x="4851133" y="1690688"/>
            <a:ext cx="7340867" cy="3108543"/>
          </a:xfrm>
          <a:prstGeom prst="rect">
            <a:avLst/>
          </a:prstGeom>
          <a:noFill/>
        </p:spPr>
        <p:txBody>
          <a:bodyPr wrap="square" rtlCol="0">
            <a:spAutoFit/>
          </a:bodyPr>
          <a:lstStyle/>
          <a:p>
            <a:r>
              <a:rPr lang="en-US" sz="2800" dirty="0"/>
              <a:t>This is a 16bit ADC with 4 channels, that works with I2C.</a:t>
            </a:r>
          </a:p>
          <a:p>
            <a:r>
              <a:rPr lang="en-US" sz="2800" dirty="0"/>
              <a:t>We can connect different analog devices to the pins A0 to A3, then we can read them using I2C.</a:t>
            </a:r>
          </a:p>
          <a:p>
            <a:endParaRPr lang="en-US" sz="2800" dirty="0"/>
          </a:p>
          <a:p>
            <a:r>
              <a:rPr lang="en-US" sz="2800" dirty="0"/>
              <a:t>This board costs around 25 yuan from </a:t>
            </a:r>
            <a:r>
              <a:rPr lang="en-US" sz="2800" dirty="0" err="1"/>
              <a:t>TaoBao</a:t>
            </a:r>
            <a:r>
              <a:rPr lang="en-US" sz="2800" dirty="0"/>
              <a:t>.  If you are interested in using them let us know.</a:t>
            </a:r>
            <a:endParaRPr lang="en-GB" sz="2800" dirty="0"/>
          </a:p>
        </p:txBody>
      </p:sp>
    </p:spTree>
    <p:extLst>
      <p:ext uri="{BB962C8B-B14F-4D97-AF65-F5344CB8AC3E}">
        <p14:creationId xmlns:p14="http://schemas.microsoft.com/office/powerpoint/2010/main" val="2418509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94BF0-4534-437C-8EB5-60D0404F511D}"/>
              </a:ext>
            </a:extLst>
          </p:cNvPr>
          <p:cNvSpPr>
            <a:spLocks noGrp="1"/>
          </p:cNvSpPr>
          <p:nvPr>
            <p:ph type="title"/>
          </p:nvPr>
        </p:nvSpPr>
        <p:spPr/>
        <p:txBody>
          <a:bodyPr/>
          <a:lstStyle/>
          <a:p>
            <a:endParaRPr lang="en-GB"/>
          </a:p>
        </p:txBody>
      </p:sp>
      <p:pic>
        <p:nvPicPr>
          <p:cNvPr id="9" name="Content Placeholder 8">
            <a:extLst>
              <a:ext uri="{FF2B5EF4-FFF2-40B4-BE49-F238E27FC236}">
                <a16:creationId xmlns:a16="http://schemas.microsoft.com/office/drawing/2014/main" id="{8FFCA8D6-E846-4A92-8BB6-31319D2946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729457"/>
          </a:xfrm>
        </p:spPr>
      </p:pic>
    </p:spTree>
    <p:extLst>
      <p:ext uri="{BB962C8B-B14F-4D97-AF65-F5344CB8AC3E}">
        <p14:creationId xmlns:p14="http://schemas.microsoft.com/office/powerpoint/2010/main" val="9056016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94BF0-4534-437C-8EB5-60D0404F511D}"/>
              </a:ext>
            </a:extLst>
          </p:cNvPr>
          <p:cNvSpPr>
            <a:spLocks noGrp="1"/>
          </p:cNvSpPr>
          <p:nvPr>
            <p:ph type="title"/>
          </p:nvPr>
        </p:nvSpPr>
        <p:spPr/>
        <p:txBody>
          <a:bodyPr/>
          <a:lstStyle/>
          <a:p>
            <a:endParaRPr lang="en-GB"/>
          </a:p>
        </p:txBody>
      </p:sp>
      <p:pic>
        <p:nvPicPr>
          <p:cNvPr id="9" name="Content Placeholder 8">
            <a:extLst>
              <a:ext uri="{FF2B5EF4-FFF2-40B4-BE49-F238E27FC236}">
                <a16:creationId xmlns:a16="http://schemas.microsoft.com/office/drawing/2014/main" id="{8FFCA8D6-E846-4A92-8BB6-31319D29461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342" r="22474" b="51226"/>
          <a:stretch/>
        </p:blipFill>
        <p:spPr>
          <a:xfrm>
            <a:off x="-1" y="0"/>
            <a:ext cx="12202573" cy="4889634"/>
          </a:xfrm>
        </p:spPr>
      </p:pic>
    </p:spTree>
    <p:extLst>
      <p:ext uri="{BB962C8B-B14F-4D97-AF65-F5344CB8AC3E}">
        <p14:creationId xmlns:p14="http://schemas.microsoft.com/office/powerpoint/2010/main" val="20196002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EDA43-172F-43A6-85A3-B7AA5C786E3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A34DE51-233E-4CA4-B2F0-2ACCDEF2E923}"/>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C2262AF7-0C3C-4D77-826F-D47C08496C04}"/>
              </a:ext>
            </a:extLst>
          </p:cNvPr>
          <p:cNvPicPr>
            <a:picLocks noChangeAspect="1"/>
          </p:cNvPicPr>
          <p:nvPr/>
        </p:nvPicPr>
        <p:blipFill>
          <a:blip r:embed="rId2"/>
          <a:stretch>
            <a:fillRect/>
          </a:stretch>
        </p:blipFill>
        <p:spPr>
          <a:xfrm>
            <a:off x="0" y="0"/>
            <a:ext cx="12113230" cy="6858000"/>
          </a:xfrm>
          <a:prstGeom prst="rect">
            <a:avLst/>
          </a:prstGeom>
        </p:spPr>
      </p:pic>
    </p:spTree>
    <p:extLst>
      <p:ext uri="{BB962C8B-B14F-4D97-AF65-F5344CB8AC3E}">
        <p14:creationId xmlns:p14="http://schemas.microsoft.com/office/powerpoint/2010/main" val="41509512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C722-EE6A-4313-88DB-DDBEF3BC8F89}"/>
              </a:ext>
            </a:extLst>
          </p:cNvPr>
          <p:cNvSpPr>
            <a:spLocks noGrp="1"/>
          </p:cNvSpPr>
          <p:nvPr>
            <p:ph type="title"/>
          </p:nvPr>
        </p:nvSpPr>
        <p:spPr/>
        <p:txBody>
          <a:bodyPr/>
          <a:lstStyle/>
          <a:p>
            <a:r>
              <a:rPr lang="en-US" dirty="0"/>
              <a:t>load an example</a:t>
            </a:r>
            <a:endParaRPr lang="en-GB" dirty="0"/>
          </a:p>
        </p:txBody>
      </p:sp>
      <p:pic>
        <p:nvPicPr>
          <p:cNvPr id="5" name="Picture 4">
            <a:extLst>
              <a:ext uri="{FF2B5EF4-FFF2-40B4-BE49-F238E27FC236}">
                <a16:creationId xmlns:a16="http://schemas.microsoft.com/office/drawing/2014/main" id="{BCAC7FD8-1414-4EEF-9154-C4BAA839268C}"/>
              </a:ext>
            </a:extLst>
          </p:cNvPr>
          <p:cNvPicPr>
            <a:picLocks noChangeAspect="1"/>
          </p:cNvPicPr>
          <p:nvPr/>
        </p:nvPicPr>
        <p:blipFill>
          <a:blip r:embed="rId2"/>
          <a:stretch>
            <a:fillRect/>
          </a:stretch>
        </p:blipFill>
        <p:spPr>
          <a:xfrm>
            <a:off x="838200" y="2793262"/>
            <a:ext cx="7052509" cy="3518638"/>
          </a:xfrm>
          <a:prstGeom prst="rect">
            <a:avLst/>
          </a:prstGeom>
        </p:spPr>
      </p:pic>
    </p:spTree>
    <p:extLst>
      <p:ext uri="{BB962C8B-B14F-4D97-AF65-F5344CB8AC3E}">
        <p14:creationId xmlns:p14="http://schemas.microsoft.com/office/powerpoint/2010/main" val="11188455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TASKS TO BE COMPLETED</a:t>
            </a:r>
            <a:endParaRPr lang="en-GB" b="1" i="1" dirty="0"/>
          </a:p>
        </p:txBody>
      </p:sp>
      <p:sp>
        <p:nvSpPr>
          <p:cNvPr id="3" name="Content Placeholder 2"/>
          <p:cNvSpPr>
            <a:spLocks noGrp="1"/>
          </p:cNvSpPr>
          <p:nvPr>
            <p:ph idx="1"/>
          </p:nvPr>
        </p:nvSpPr>
        <p:spPr/>
        <p:txBody>
          <a:bodyPr>
            <a:normAutofit/>
          </a:bodyPr>
          <a:lstStyle/>
          <a:p>
            <a:pPr lvl="1"/>
            <a:r>
              <a:rPr lang="en-GB" dirty="0"/>
              <a:t>Download libraries for I2C sensors that you have</a:t>
            </a:r>
          </a:p>
          <a:p>
            <a:pPr lvl="1"/>
            <a:r>
              <a:rPr lang="en-GB" dirty="0"/>
              <a:t>Connect up sensors and use test programmes to check they are working</a:t>
            </a:r>
          </a:p>
          <a:p>
            <a:pPr lvl="1"/>
            <a:r>
              <a:rPr lang="en-GB" dirty="0"/>
              <a:t>Think about how you can make use of these I2C sensors for controlling your robot</a:t>
            </a:r>
          </a:p>
          <a:p>
            <a:pPr lvl="1"/>
            <a:r>
              <a:rPr lang="en-GB" dirty="0"/>
              <a:t>Try including them in a demonstration of the robot doing something</a:t>
            </a:r>
          </a:p>
          <a:p>
            <a:endParaRPr lang="en-GB" sz="2000" dirty="0"/>
          </a:p>
          <a:p>
            <a:pPr lvl="1"/>
            <a:endParaRPr lang="en-GB" sz="2800" dirty="0"/>
          </a:p>
        </p:txBody>
      </p:sp>
    </p:spTree>
    <p:extLst>
      <p:ext uri="{BB962C8B-B14F-4D97-AF65-F5344CB8AC3E}">
        <p14:creationId xmlns:p14="http://schemas.microsoft.com/office/powerpoint/2010/main" val="2207117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787</TotalTime>
  <Words>2860</Words>
  <Application>Microsoft Office PowerPoint</Application>
  <PresentationFormat>Widescreen</PresentationFormat>
  <Paragraphs>199</Paragraphs>
  <Slides>55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NexusSans</vt:lpstr>
      <vt:lpstr>Arial</vt:lpstr>
      <vt:lpstr>Calibri</vt:lpstr>
      <vt:lpstr>Calibri Light</vt:lpstr>
      <vt:lpstr>Montserrat</vt:lpstr>
      <vt:lpstr>Office Theme</vt:lpstr>
      <vt:lpstr>Week 08</vt:lpstr>
      <vt:lpstr>L298 Motor Driver</vt:lpstr>
      <vt:lpstr>PowerPoint Presentation</vt:lpstr>
      <vt:lpstr>PowerPoint Presentation</vt:lpstr>
      <vt:lpstr>PowerPoint Presentation</vt:lpstr>
      <vt:lpstr>Sensors</vt:lpstr>
      <vt:lpstr>Sensors</vt:lpstr>
      <vt:lpstr>PowerPoint Presentation</vt:lpstr>
      <vt:lpstr>PowerPoint Presentation</vt:lpstr>
      <vt:lpstr>PowerPoint Presentation</vt:lpstr>
      <vt:lpstr>PowerPoint Presentation</vt:lpstr>
      <vt:lpstr>PowerPoint Presentation</vt:lpstr>
      <vt:lpstr>Accelerometer</vt:lpstr>
      <vt:lpstr>PowerPoint Presentation</vt:lpstr>
      <vt:lpstr>PowerPoint Presentation</vt:lpstr>
      <vt:lpstr>Gyroscope</vt:lpstr>
      <vt:lpstr>PowerPoint Presentation</vt:lpstr>
      <vt:lpstr>PowerPoint Presentation</vt:lpstr>
      <vt:lpstr>PowerPoint Presentation</vt:lpstr>
      <vt:lpstr>PowerPoint Presentation</vt:lpstr>
      <vt:lpstr>Magnetometer</vt:lpstr>
      <vt:lpstr>PowerPoint Presentation</vt:lpstr>
      <vt:lpstr>MPU-9250</vt:lpstr>
      <vt:lpstr>How many sensors?</vt:lpstr>
      <vt:lpstr>PowerPoint Presentation</vt:lpstr>
      <vt:lpstr>PowerPoint Presentation</vt:lpstr>
      <vt:lpstr>PowerPoint Presentation</vt:lpstr>
      <vt:lpstr>data bus</vt:lpstr>
      <vt:lpstr>Baud Rate</vt:lpstr>
      <vt:lpstr>data speeds</vt:lpstr>
      <vt:lpstr>PowerPoint Presentation</vt:lpstr>
      <vt:lpstr>example of synchronous vs asynchronous</vt:lpstr>
      <vt:lpstr>I2C</vt:lpstr>
      <vt:lpstr>PowerPoint Presentation</vt:lpstr>
      <vt:lpstr>PowerPoint Presentation</vt:lpstr>
      <vt:lpstr>I2C</vt:lpstr>
      <vt:lpstr>PowerPoint Presentation</vt:lpstr>
      <vt:lpstr>PowerPoint Presentation</vt:lpstr>
      <vt:lpstr>PowerPoint Presentation</vt:lpstr>
      <vt:lpstr>Detail of I2C workings</vt:lpstr>
      <vt:lpstr>Connecting our new sensors using I2C</vt:lpstr>
      <vt:lpstr>PowerPoint Presentation</vt:lpstr>
      <vt:lpstr>Using the BME 280 board with Arduino</vt:lpstr>
      <vt:lpstr>PowerPoint Presentation</vt:lpstr>
      <vt:lpstr>PowerPoint Presentation</vt:lpstr>
      <vt:lpstr>Using the MPU 9250 board with Arduino</vt:lpstr>
      <vt:lpstr>PowerPoint Presentation</vt:lpstr>
      <vt:lpstr>IR Sensor</vt:lpstr>
      <vt:lpstr>PowerPoint Presentation</vt:lpstr>
      <vt:lpstr>ADS1115</vt:lpstr>
      <vt:lpstr>PowerPoint Presentation</vt:lpstr>
      <vt:lpstr>PowerPoint Presentation</vt:lpstr>
      <vt:lpstr>PowerPoint Presentation</vt:lpstr>
      <vt:lpstr>load an example</vt:lpstr>
      <vt:lpstr>TASKS TO BE COMPLETED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 Bullock</dc:creator>
  <cp:lastModifiedBy>Leon Bullock</cp:lastModifiedBy>
  <cp:revision>33</cp:revision>
  <dcterms:created xsi:type="dcterms:W3CDTF">2021-05-27T03:33:34Z</dcterms:created>
  <dcterms:modified xsi:type="dcterms:W3CDTF">2023-05-17T10:43:15Z</dcterms:modified>
</cp:coreProperties>
</file>