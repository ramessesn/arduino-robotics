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2" r:id="rId2"/>
    <p:sldId id="313" r:id="rId3"/>
    <p:sldId id="262" r:id="rId4"/>
    <p:sldId id="263" r:id="rId5"/>
    <p:sldId id="311" r:id="rId6"/>
    <p:sldId id="314" r:id="rId7"/>
    <p:sldId id="264" r:id="rId8"/>
    <p:sldId id="315" r:id="rId9"/>
    <p:sldId id="319" r:id="rId10"/>
    <p:sldId id="317" r:id="rId11"/>
    <p:sldId id="318" r:id="rId12"/>
    <p:sldId id="320" r:id="rId13"/>
    <p:sldId id="298" r:id="rId14"/>
    <p:sldId id="303" r:id="rId15"/>
    <p:sldId id="304" r:id="rId16"/>
    <p:sldId id="299" r:id="rId17"/>
    <p:sldId id="305" r:id="rId18"/>
    <p:sldId id="279" r:id="rId19"/>
    <p:sldId id="293" r:id="rId20"/>
    <p:sldId id="294" r:id="rId21"/>
    <p:sldId id="297" r:id="rId22"/>
    <p:sldId id="295" r:id="rId23"/>
    <p:sldId id="306" r:id="rId24"/>
    <p:sldId id="307" r:id="rId25"/>
    <p:sldId id="308" r:id="rId26"/>
    <p:sldId id="309" r:id="rId27"/>
    <p:sldId id="310" r:id="rId28"/>
    <p:sldId id="296"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5" autoAdjust="0"/>
    <p:restoredTop sz="94660"/>
  </p:normalViewPr>
  <p:slideViewPr>
    <p:cSldViewPr snapToGrid="0">
      <p:cViewPr varScale="1">
        <p:scale>
          <a:sx n="97" d="100"/>
          <a:sy n="97" d="100"/>
        </p:scale>
        <p:origin x="96" y="4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9985B-181A-47E1-81A4-FBCAF350C74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265163D-9CAB-4588-AEA2-84ADD51D1E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7CFBA2C-4FF0-409A-B3F9-245B71F36360}"/>
              </a:ext>
            </a:extLst>
          </p:cNvPr>
          <p:cNvSpPr>
            <a:spLocks noGrp="1"/>
          </p:cNvSpPr>
          <p:nvPr>
            <p:ph type="dt" sz="half" idx="10"/>
          </p:nvPr>
        </p:nvSpPr>
        <p:spPr/>
        <p:txBody>
          <a:bodyPr/>
          <a:lstStyle/>
          <a:p>
            <a:fld id="{0AF6BFF9-3374-4559-84D1-1B45F051314A}" type="datetimeFigureOut">
              <a:rPr lang="en-GB" smtClean="0"/>
              <a:t>15/04/2021</a:t>
            </a:fld>
            <a:endParaRPr lang="en-GB"/>
          </a:p>
        </p:txBody>
      </p:sp>
      <p:sp>
        <p:nvSpPr>
          <p:cNvPr id="5" name="Footer Placeholder 4">
            <a:extLst>
              <a:ext uri="{FF2B5EF4-FFF2-40B4-BE49-F238E27FC236}">
                <a16:creationId xmlns:a16="http://schemas.microsoft.com/office/drawing/2014/main" id="{ED406BFA-B10E-41D3-A76A-A6276FB558C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22683C1-FD4A-4B83-9E04-B1707FA7E4E9}"/>
              </a:ext>
            </a:extLst>
          </p:cNvPr>
          <p:cNvSpPr>
            <a:spLocks noGrp="1"/>
          </p:cNvSpPr>
          <p:nvPr>
            <p:ph type="sldNum" sz="quarter" idx="12"/>
          </p:nvPr>
        </p:nvSpPr>
        <p:spPr/>
        <p:txBody>
          <a:bodyPr/>
          <a:lstStyle/>
          <a:p>
            <a:fld id="{9E029462-6BFB-4114-AFAB-0613D2897830}" type="slidenum">
              <a:rPr lang="en-GB" smtClean="0"/>
              <a:t>‹#›</a:t>
            </a:fld>
            <a:endParaRPr lang="en-GB"/>
          </a:p>
        </p:txBody>
      </p:sp>
    </p:spTree>
    <p:extLst>
      <p:ext uri="{BB962C8B-B14F-4D97-AF65-F5344CB8AC3E}">
        <p14:creationId xmlns:p14="http://schemas.microsoft.com/office/powerpoint/2010/main" val="118965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A9DB6-B18C-4663-8788-2F704246993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E705607-B31E-42D6-B440-8F866ED644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A75B248-4D30-482E-B90C-8080129E326E}"/>
              </a:ext>
            </a:extLst>
          </p:cNvPr>
          <p:cNvSpPr>
            <a:spLocks noGrp="1"/>
          </p:cNvSpPr>
          <p:nvPr>
            <p:ph type="dt" sz="half" idx="10"/>
          </p:nvPr>
        </p:nvSpPr>
        <p:spPr/>
        <p:txBody>
          <a:bodyPr/>
          <a:lstStyle/>
          <a:p>
            <a:fld id="{0AF6BFF9-3374-4559-84D1-1B45F051314A}" type="datetimeFigureOut">
              <a:rPr lang="en-GB" smtClean="0"/>
              <a:t>15/04/2021</a:t>
            </a:fld>
            <a:endParaRPr lang="en-GB"/>
          </a:p>
        </p:txBody>
      </p:sp>
      <p:sp>
        <p:nvSpPr>
          <p:cNvPr id="5" name="Footer Placeholder 4">
            <a:extLst>
              <a:ext uri="{FF2B5EF4-FFF2-40B4-BE49-F238E27FC236}">
                <a16:creationId xmlns:a16="http://schemas.microsoft.com/office/drawing/2014/main" id="{8ECEDB24-9654-4EB2-B605-E00E0F054E9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9B77F3B-C17E-4E69-9825-14CE6634E820}"/>
              </a:ext>
            </a:extLst>
          </p:cNvPr>
          <p:cNvSpPr>
            <a:spLocks noGrp="1"/>
          </p:cNvSpPr>
          <p:nvPr>
            <p:ph type="sldNum" sz="quarter" idx="12"/>
          </p:nvPr>
        </p:nvSpPr>
        <p:spPr/>
        <p:txBody>
          <a:bodyPr/>
          <a:lstStyle/>
          <a:p>
            <a:fld id="{9E029462-6BFB-4114-AFAB-0613D2897830}" type="slidenum">
              <a:rPr lang="en-GB" smtClean="0"/>
              <a:t>‹#›</a:t>
            </a:fld>
            <a:endParaRPr lang="en-GB"/>
          </a:p>
        </p:txBody>
      </p:sp>
    </p:spTree>
    <p:extLst>
      <p:ext uri="{BB962C8B-B14F-4D97-AF65-F5344CB8AC3E}">
        <p14:creationId xmlns:p14="http://schemas.microsoft.com/office/powerpoint/2010/main" val="586931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C28C9-6EA9-4F86-9016-FE95855AAB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931B3934-73AD-497A-AEAE-7695CC52C6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981078-A5C8-4A85-8BB1-73D5329EA600}"/>
              </a:ext>
            </a:extLst>
          </p:cNvPr>
          <p:cNvSpPr>
            <a:spLocks noGrp="1"/>
          </p:cNvSpPr>
          <p:nvPr>
            <p:ph type="dt" sz="half" idx="10"/>
          </p:nvPr>
        </p:nvSpPr>
        <p:spPr/>
        <p:txBody>
          <a:bodyPr/>
          <a:lstStyle/>
          <a:p>
            <a:fld id="{0AF6BFF9-3374-4559-84D1-1B45F051314A}" type="datetimeFigureOut">
              <a:rPr lang="en-GB" smtClean="0"/>
              <a:t>15/04/2021</a:t>
            </a:fld>
            <a:endParaRPr lang="en-GB"/>
          </a:p>
        </p:txBody>
      </p:sp>
      <p:sp>
        <p:nvSpPr>
          <p:cNvPr id="5" name="Footer Placeholder 4">
            <a:extLst>
              <a:ext uri="{FF2B5EF4-FFF2-40B4-BE49-F238E27FC236}">
                <a16:creationId xmlns:a16="http://schemas.microsoft.com/office/drawing/2014/main" id="{7D49B67E-1A3B-4D63-ADF8-A9FED115D2B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BBD1F7F-9BEA-4B88-84BD-F514273A4916}"/>
              </a:ext>
            </a:extLst>
          </p:cNvPr>
          <p:cNvSpPr>
            <a:spLocks noGrp="1"/>
          </p:cNvSpPr>
          <p:nvPr>
            <p:ph type="sldNum" sz="quarter" idx="12"/>
          </p:nvPr>
        </p:nvSpPr>
        <p:spPr/>
        <p:txBody>
          <a:bodyPr/>
          <a:lstStyle/>
          <a:p>
            <a:fld id="{9E029462-6BFB-4114-AFAB-0613D2897830}" type="slidenum">
              <a:rPr lang="en-GB" smtClean="0"/>
              <a:t>‹#›</a:t>
            </a:fld>
            <a:endParaRPr lang="en-GB"/>
          </a:p>
        </p:txBody>
      </p:sp>
    </p:spTree>
    <p:extLst>
      <p:ext uri="{BB962C8B-B14F-4D97-AF65-F5344CB8AC3E}">
        <p14:creationId xmlns:p14="http://schemas.microsoft.com/office/powerpoint/2010/main" val="1251766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1B2EC-7E86-4307-A092-508F0F92B71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F7BAD62-0D6B-4077-A8AE-5E4EFB300A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B6108DF8-D224-4598-B1BF-C112AF3949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DBFBFAD1-18CB-438F-A5F5-83490B01421B}"/>
              </a:ext>
            </a:extLst>
          </p:cNvPr>
          <p:cNvSpPr>
            <a:spLocks noGrp="1"/>
          </p:cNvSpPr>
          <p:nvPr>
            <p:ph type="dt" sz="half" idx="10"/>
          </p:nvPr>
        </p:nvSpPr>
        <p:spPr/>
        <p:txBody>
          <a:bodyPr/>
          <a:lstStyle/>
          <a:p>
            <a:fld id="{0AF6BFF9-3374-4559-84D1-1B45F051314A}" type="datetimeFigureOut">
              <a:rPr lang="en-GB" smtClean="0"/>
              <a:t>15/04/2021</a:t>
            </a:fld>
            <a:endParaRPr lang="en-GB"/>
          </a:p>
        </p:txBody>
      </p:sp>
      <p:sp>
        <p:nvSpPr>
          <p:cNvPr id="6" name="Footer Placeholder 5">
            <a:extLst>
              <a:ext uri="{FF2B5EF4-FFF2-40B4-BE49-F238E27FC236}">
                <a16:creationId xmlns:a16="http://schemas.microsoft.com/office/drawing/2014/main" id="{A1C76A6A-C0F4-4573-8629-C5B450F905F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785460B-F154-4D4E-BF39-0CB606859E96}"/>
              </a:ext>
            </a:extLst>
          </p:cNvPr>
          <p:cNvSpPr>
            <a:spLocks noGrp="1"/>
          </p:cNvSpPr>
          <p:nvPr>
            <p:ph type="sldNum" sz="quarter" idx="12"/>
          </p:nvPr>
        </p:nvSpPr>
        <p:spPr/>
        <p:txBody>
          <a:bodyPr/>
          <a:lstStyle/>
          <a:p>
            <a:fld id="{9E029462-6BFB-4114-AFAB-0613D2897830}" type="slidenum">
              <a:rPr lang="en-GB" smtClean="0"/>
              <a:t>‹#›</a:t>
            </a:fld>
            <a:endParaRPr lang="en-GB"/>
          </a:p>
        </p:txBody>
      </p:sp>
    </p:spTree>
    <p:extLst>
      <p:ext uri="{BB962C8B-B14F-4D97-AF65-F5344CB8AC3E}">
        <p14:creationId xmlns:p14="http://schemas.microsoft.com/office/powerpoint/2010/main" val="2780917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AE5D1-A630-40CD-8935-A648B5265A7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0932B98-3E32-4974-80E6-7BE3AE103B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C8A52C-F51F-4F7E-AF8F-A85E4782C11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E6A141B-C546-4B49-B17F-105C034532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4F9BA3-C326-449E-96B6-619C9C3A38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5CFAFF6-0C8A-467B-8C7D-21924F7D6C10}"/>
              </a:ext>
            </a:extLst>
          </p:cNvPr>
          <p:cNvSpPr>
            <a:spLocks noGrp="1"/>
          </p:cNvSpPr>
          <p:nvPr>
            <p:ph type="dt" sz="half" idx="10"/>
          </p:nvPr>
        </p:nvSpPr>
        <p:spPr/>
        <p:txBody>
          <a:bodyPr/>
          <a:lstStyle/>
          <a:p>
            <a:fld id="{0AF6BFF9-3374-4559-84D1-1B45F051314A}" type="datetimeFigureOut">
              <a:rPr lang="en-GB" smtClean="0"/>
              <a:t>15/04/2021</a:t>
            </a:fld>
            <a:endParaRPr lang="en-GB"/>
          </a:p>
        </p:txBody>
      </p:sp>
      <p:sp>
        <p:nvSpPr>
          <p:cNvPr id="8" name="Footer Placeholder 7">
            <a:extLst>
              <a:ext uri="{FF2B5EF4-FFF2-40B4-BE49-F238E27FC236}">
                <a16:creationId xmlns:a16="http://schemas.microsoft.com/office/drawing/2014/main" id="{B4951F09-0161-4638-8455-0BA7FF08792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D8B1721-54FA-4266-9F0E-F55CAE1260F7}"/>
              </a:ext>
            </a:extLst>
          </p:cNvPr>
          <p:cNvSpPr>
            <a:spLocks noGrp="1"/>
          </p:cNvSpPr>
          <p:nvPr>
            <p:ph type="sldNum" sz="quarter" idx="12"/>
          </p:nvPr>
        </p:nvSpPr>
        <p:spPr/>
        <p:txBody>
          <a:bodyPr/>
          <a:lstStyle/>
          <a:p>
            <a:fld id="{9E029462-6BFB-4114-AFAB-0613D2897830}" type="slidenum">
              <a:rPr lang="en-GB" smtClean="0"/>
              <a:t>‹#›</a:t>
            </a:fld>
            <a:endParaRPr lang="en-GB"/>
          </a:p>
        </p:txBody>
      </p:sp>
    </p:spTree>
    <p:extLst>
      <p:ext uri="{BB962C8B-B14F-4D97-AF65-F5344CB8AC3E}">
        <p14:creationId xmlns:p14="http://schemas.microsoft.com/office/powerpoint/2010/main" val="2143501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761C5-0952-4800-8FDC-7CBEC12BA107}"/>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38C80B7-B7D1-4F89-9DB3-0D33448CD4DD}"/>
              </a:ext>
            </a:extLst>
          </p:cNvPr>
          <p:cNvSpPr>
            <a:spLocks noGrp="1"/>
          </p:cNvSpPr>
          <p:nvPr>
            <p:ph type="dt" sz="half" idx="10"/>
          </p:nvPr>
        </p:nvSpPr>
        <p:spPr/>
        <p:txBody>
          <a:bodyPr/>
          <a:lstStyle/>
          <a:p>
            <a:fld id="{0AF6BFF9-3374-4559-84D1-1B45F051314A}" type="datetimeFigureOut">
              <a:rPr lang="en-GB" smtClean="0"/>
              <a:t>15/04/2021</a:t>
            </a:fld>
            <a:endParaRPr lang="en-GB"/>
          </a:p>
        </p:txBody>
      </p:sp>
      <p:sp>
        <p:nvSpPr>
          <p:cNvPr id="4" name="Footer Placeholder 3">
            <a:extLst>
              <a:ext uri="{FF2B5EF4-FFF2-40B4-BE49-F238E27FC236}">
                <a16:creationId xmlns:a16="http://schemas.microsoft.com/office/drawing/2014/main" id="{204BB97F-D516-4B35-AA8E-2590047B06B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E94F377-3729-4A81-A646-C3C80DEF2F0A}"/>
              </a:ext>
            </a:extLst>
          </p:cNvPr>
          <p:cNvSpPr>
            <a:spLocks noGrp="1"/>
          </p:cNvSpPr>
          <p:nvPr>
            <p:ph type="sldNum" sz="quarter" idx="12"/>
          </p:nvPr>
        </p:nvSpPr>
        <p:spPr/>
        <p:txBody>
          <a:bodyPr/>
          <a:lstStyle/>
          <a:p>
            <a:fld id="{9E029462-6BFB-4114-AFAB-0613D2897830}" type="slidenum">
              <a:rPr lang="en-GB" smtClean="0"/>
              <a:t>‹#›</a:t>
            </a:fld>
            <a:endParaRPr lang="en-GB"/>
          </a:p>
        </p:txBody>
      </p:sp>
    </p:spTree>
    <p:extLst>
      <p:ext uri="{BB962C8B-B14F-4D97-AF65-F5344CB8AC3E}">
        <p14:creationId xmlns:p14="http://schemas.microsoft.com/office/powerpoint/2010/main" val="25779459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D06A0C-C559-42D8-93FF-E7ADD25BAD7B}"/>
              </a:ext>
            </a:extLst>
          </p:cNvPr>
          <p:cNvSpPr>
            <a:spLocks noGrp="1"/>
          </p:cNvSpPr>
          <p:nvPr>
            <p:ph type="dt" sz="half" idx="10"/>
          </p:nvPr>
        </p:nvSpPr>
        <p:spPr/>
        <p:txBody>
          <a:bodyPr/>
          <a:lstStyle/>
          <a:p>
            <a:fld id="{0AF6BFF9-3374-4559-84D1-1B45F051314A}" type="datetimeFigureOut">
              <a:rPr lang="en-GB" smtClean="0"/>
              <a:t>15/04/2021</a:t>
            </a:fld>
            <a:endParaRPr lang="en-GB"/>
          </a:p>
        </p:txBody>
      </p:sp>
      <p:sp>
        <p:nvSpPr>
          <p:cNvPr id="3" name="Footer Placeholder 2">
            <a:extLst>
              <a:ext uri="{FF2B5EF4-FFF2-40B4-BE49-F238E27FC236}">
                <a16:creationId xmlns:a16="http://schemas.microsoft.com/office/drawing/2014/main" id="{356DCB8C-F082-4B44-BFC9-130F80BBDD6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DF41ED6-4B2F-4C67-8E08-3D5CFE3FEFC4}"/>
              </a:ext>
            </a:extLst>
          </p:cNvPr>
          <p:cNvSpPr>
            <a:spLocks noGrp="1"/>
          </p:cNvSpPr>
          <p:nvPr>
            <p:ph type="sldNum" sz="quarter" idx="12"/>
          </p:nvPr>
        </p:nvSpPr>
        <p:spPr/>
        <p:txBody>
          <a:bodyPr/>
          <a:lstStyle/>
          <a:p>
            <a:fld id="{9E029462-6BFB-4114-AFAB-0613D2897830}" type="slidenum">
              <a:rPr lang="en-GB" smtClean="0"/>
              <a:t>‹#›</a:t>
            </a:fld>
            <a:endParaRPr lang="en-GB"/>
          </a:p>
        </p:txBody>
      </p:sp>
    </p:spTree>
    <p:extLst>
      <p:ext uri="{BB962C8B-B14F-4D97-AF65-F5344CB8AC3E}">
        <p14:creationId xmlns:p14="http://schemas.microsoft.com/office/powerpoint/2010/main" val="3560564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80C65-5040-463D-B433-ABAA8E2277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F47CE51-5ED6-412E-B84B-3D0750726E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BBF2515-43D9-42D7-8E8E-E53F7B5398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5D174A-C802-4761-872C-F3A99E937AEB}"/>
              </a:ext>
            </a:extLst>
          </p:cNvPr>
          <p:cNvSpPr>
            <a:spLocks noGrp="1"/>
          </p:cNvSpPr>
          <p:nvPr>
            <p:ph type="dt" sz="half" idx="10"/>
          </p:nvPr>
        </p:nvSpPr>
        <p:spPr/>
        <p:txBody>
          <a:bodyPr/>
          <a:lstStyle/>
          <a:p>
            <a:fld id="{0AF6BFF9-3374-4559-84D1-1B45F051314A}" type="datetimeFigureOut">
              <a:rPr lang="en-GB" smtClean="0"/>
              <a:t>15/04/2021</a:t>
            </a:fld>
            <a:endParaRPr lang="en-GB"/>
          </a:p>
        </p:txBody>
      </p:sp>
      <p:sp>
        <p:nvSpPr>
          <p:cNvPr id="6" name="Footer Placeholder 5">
            <a:extLst>
              <a:ext uri="{FF2B5EF4-FFF2-40B4-BE49-F238E27FC236}">
                <a16:creationId xmlns:a16="http://schemas.microsoft.com/office/drawing/2014/main" id="{0287B017-232D-4C8B-8976-4478244DC66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8B87329-66ED-4298-AF2C-1469A04DBEA7}"/>
              </a:ext>
            </a:extLst>
          </p:cNvPr>
          <p:cNvSpPr>
            <a:spLocks noGrp="1"/>
          </p:cNvSpPr>
          <p:nvPr>
            <p:ph type="sldNum" sz="quarter" idx="12"/>
          </p:nvPr>
        </p:nvSpPr>
        <p:spPr/>
        <p:txBody>
          <a:bodyPr/>
          <a:lstStyle/>
          <a:p>
            <a:fld id="{9E029462-6BFB-4114-AFAB-0613D2897830}" type="slidenum">
              <a:rPr lang="en-GB" smtClean="0"/>
              <a:t>‹#›</a:t>
            </a:fld>
            <a:endParaRPr lang="en-GB"/>
          </a:p>
        </p:txBody>
      </p:sp>
    </p:spTree>
    <p:extLst>
      <p:ext uri="{BB962C8B-B14F-4D97-AF65-F5344CB8AC3E}">
        <p14:creationId xmlns:p14="http://schemas.microsoft.com/office/powerpoint/2010/main" val="1029040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A699A-D7AA-461C-AE4F-AEC951B8B5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5EEDBA2-0B1A-49DF-833E-D0624915D0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B3C3E3F-6712-4B00-82FB-90C2F6A5A0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742D86-42DD-4B2C-9167-955840773CEC}"/>
              </a:ext>
            </a:extLst>
          </p:cNvPr>
          <p:cNvSpPr>
            <a:spLocks noGrp="1"/>
          </p:cNvSpPr>
          <p:nvPr>
            <p:ph type="dt" sz="half" idx="10"/>
          </p:nvPr>
        </p:nvSpPr>
        <p:spPr/>
        <p:txBody>
          <a:bodyPr/>
          <a:lstStyle/>
          <a:p>
            <a:fld id="{0AF6BFF9-3374-4559-84D1-1B45F051314A}" type="datetimeFigureOut">
              <a:rPr lang="en-GB" smtClean="0"/>
              <a:t>15/04/2021</a:t>
            </a:fld>
            <a:endParaRPr lang="en-GB"/>
          </a:p>
        </p:txBody>
      </p:sp>
      <p:sp>
        <p:nvSpPr>
          <p:cNvPr id="6" name="Footer Placeholder 5">
            <a:extLst>
              <a:ext uri="{FF2B5EF4-FFF2-40B4-BE49-F238E27FC236}">
                <a16:creationId xmlns:a16="http://schemas.microsoft.com/office/drawing/2014/main" id="{66CBE9FE-220D-424D-8843-E7538B1B5B2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C0BEAF7-E3FE-49DE-B15C-E0883866146B}"/>
              </a:ext>
            </a:extLst>
          </p:cNvPr>
          <p:cNvSpPr>
            <a:spLocks noGrp="1"/>
          </p:cNvSpPr>
          <p:nvPr>
            <p:ph type="sldNum" sz="quarter" idx="12"/>
          </p:nvPr>
        </p:nvSpPr>
        <p:spPr/>
        <p:txBody>
          <a:bodyPr/>
          <a:lstStyle/>
          <a:p>
            <a:fld id="{9E029462-6BFB-4114-AFAB-0613D2897830}" type="slidenum">
              <a:rPr lang="en-GB" smtClean="0"/>
              <a:t>‹#›</a:t>
            </a:fld>
            <a:endParaRPr lang="en-GB"/>
          </a:p>
        </p:txBody>
      </p:sp>
    </p:spTree>
    <p:extLst>
      <p:ext uri="{BB962C8B-B14F-4D97-AF65-F5344CB8AC3E}">
        <p14:creationId xmlns:p14="http://schemas.microsoft.com/office/powerpoint/2010/main" val="2521133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E148E-37D1-4561-B0A7-114C93A2A234}"/>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B543921-00E5-49B8-B631-71CCAF017F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22DB3ED-98A4-4709-AC8B-E7A9F71DD3CA}"/>
              </a:ext>
            </a:extLst>
          </p:cNvPr>
          <p:cNvSpPr>
            <a:spLocks noGrp="1"/>
          </p:cNvSpPr>
          <p:nvPr>
            <p:ph type="dt" sz="half" idx="10"/>
          </p:nvPr>
        </p:nvSpPr>
        <p:spPr/>
        <p:txBody>
          <a:bodyPr/>
          <a:lstStyle/>
          <a:p>
            <a:fld id="{0AF6BFF9-3374-4559-84D1-1B45F051314A}" type="datetimeFigureOut">
              <a:rPr lang="en-GB" smtClean="0"/>
              <a:t>15/04/2021</a:t>
            </a:fld>
            <a:endParaRPr lang="en-GB"/>
          </a:p>
        </p:txBody>
      </p:sp>
      <p:sp>
        <p:nvSpPr>
          <p:cNvPr id="5" name="Footer Placeholder 4">
            <a:extLst>
              <a:ext uri="{FF2B5EF4-FFF2-40B4-BE49-F238E27FC236}">
                <a16:creationId xmlns:a16="http://schemas.microsoft.com/office/drawing/2014/main" id="{EB5760E9-EF03-48D4-84E6-2E1869371F4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A9C1DC8-6A73-4CE5-9D0F-B48DD0B0C201}"/>
              </a:ext>
            </a:extLst>
          </p:cNvPr>
          <p:cNvSpPr>
            <a:spLocks noGrp="1"/>
          </p:cNvSpPr>
          <p:nvPr>
            <p:ph type="sldNum" sz="quarter" idx="12"/>
          </p:nvPr>
        </p:nvSpPr>
        <p:spPr/>
        <p:txBody>
          <a:bodyPr/>
          <a:lstStyle/>
          <a:p>
            <a:fld id="{9E029462-6BFB-4114-AFAB-0613D2897830}" type="slidenum">
              <a:rPr lang="en-GB" smtClean="0"/>
              <a:t>‹#›</a:t>
            </a:fld>
            <a:endParaRPr lang="en-GB"/>
          </a:p>
        </p:txBody>
      </p:sp>
    </p:spTree>
    <p:extLst>
      <p:ext uri="{BB962C8B-B14F-4D97-AF65-F5344CB8AC3E}">
        <p14:creationId xmlns:p14="http://schemas.microsoft.com/office/powerpoint/2010/main" val="734740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59FA492-7527-4307-8096-D11C1B82677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930B3F7-7085-4ED0-AF81-88F28570EAB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B0D3939-00C0-4DA3-899B-39FA2FFBEACE}"/>
              </a:ext>
            </a:extLst>
          </p:cNvPr>
          <p:cNvSpPr>
            <a:spLocks noGrp="1"/>
          </p:cNvSpPr>
          <p:nvPr>
            <p:ph type="dt" sz="half" idx="10"/>
          </p:nvPr>
        </p:nvSpPr>
        <p:spPr/>
        <p:txBody>
          <a:bodyPr/>
          <a:lstStyle/>
          <a:p>
            <a:fld id="{0AF6BFF9-3374-4559-84D1-1B45F051314A}" type="datetimeFigureOut">
              <a:rPr lang="en-GB" smtClean="0"/>
              <a:t>15/04/2021</a:t>
            </a:fld>
            <a:endParaRPr lang="en-GB"/>
          </a:p>
        </p:txBody>
      </p:sp>
      <p:sp>
        <p:nvSpPr>
          <p:cNvPr id="5" name="Footer Placeholder 4">
            <a:extLst>
              <a:ext uri="{FF2B5EF4-FFF2-40B4-BE49-F238E27FC236}">
                <a16:creationId xmlns:a16="http://schemas.microsoft.com/office/drawing/2014/main" id="{AF0F35A2-06BB-4F12-BCB8-4D69B920D68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2BBCE3E-E324-471C-9EB2-07D0793775A7}"/>
              </a:ext>
            </a:extLst>
          </p:cNvPr>
          <p:cNvSpPr>
            <a:spLocks noGrp="1"/>
          </p:cNvSpPr>
          <p:nvPr>
            <p:ph type="sldNum" sz="quarter" idx="12"/>
          </p:nvPr>
        </p:nvSpPr>
        <p:spPr/>
        <p:txBody>
          <a:bodyPr/>
          <a:lstStyle/>
          <a:p>
            <a:fld id="{9E029462-6BFB-4114-AFAB-0613D2897830}" type="slidenum">
              <a:rPr lang="en-GB" smtClean="0"/>
              <a:t>‹#›</a:t>
            </a:fld>
            <a:endParaRPr lang="en-GB"/>
          </a:p>
        </p:txBody>
      </p:sp>
    </p:spTree>
    <p:extLst>
      <p:ext uri="{BB962C8B-B14F-4D97-AF65-F5344CB8AC3E}">
        <p14:creationId xmlns:p14="http://schemas.microsoft.com/office/powerpoint/2010/main" val="2692120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B56615-A055-4293-BA81-0915A5114F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1E5EB9E-5792-4474-96EF-D7176F90F3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9B11D0A-89CD-4292-8901-FABC788100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F6BFF9-3374-4559-84D1-1B45F051314A}" type="datetimeFigureOut">
              <a:rPr lang="en-GB" smtClean="0"/>
              <a:t>15/04/2021</a:t>
            </a:fld>
            <a:endParaRPr lang="en-GB"/>
          </a:p>
        </p:txBody>
      </p:sp>
      <p:sp>
        <p:nvSpPr>
          <p:cNvPr id="5" name="Footer Placeholder 4">
            <a:extLst>
              <a:ext uri="{FF2B5EF4-FFF2-40B4-BE49-F238E27FC236}">
                <a16:creationId xmlns:a16="http://schemas.microsoft.com/office/drawing/2014/main" id="{71F5CCAD-0B75-4F8A-A710-89D947F4AD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18DED463-3F7D-4ACC-AFAF-9B527FAFF9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029462-6BFB-4114-AFAB-0613D2897830}" type="slidenum">
              <a:rPr lang="en-GB" smtClean="0"/>
              <a:t>‹#›</a:t>
            </a:fld>
            <a:endParaRPr lang="en-GB"/>
          </a:p>
        </p:txBody>
      </p:sp>
    </p:spTree>
    <p:extLst>
      <p:ext uri="{BB962C8B-B14F-4D97-AF65-F5344CB8AC3E}">
        <p14:creationId xmlns:p14="http://schemas.microsoft.com/office/powerpoint/2010/main" val="8972968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56BB7-2C20-44C6-8671-D05A070B6B3D}"/>
              </a:ext>
            </a:extLst>
          </p:cNvPr>
          <p:cNvSpPr>
            <a:spLocks noGrp="1"/>
          </p:cNvSpPr>
          <p:nvPr>
            <p:ph type="title"/>
          </p:nvPr>
        </p:nvSpPr>
        <p:spPr/>
        <p:txBody>
          <a:bodyPr/>
          <a:lstStyle/>
          <a:p>
            <a:r>
              <a:rPr lang="en-US" dirty="0"/>
              <a:t>What is a jumper?</a:t>
            </a:r>
            <a:endParaRPr lang="en-GB" dirty="0"/>
          </a:p>
        </p:txBody>
      </p:sp>
      <p:pic>
        <p:nvPicPr>
          <p:cNvPr id="2050" name="Picture 2" descr="See the source image">
            <a:extLst>
              <a:ext uri="{FF2B5EF4-FFF2-40B4-BE49-F238E27FC236}">
                <a16:creationId xmlns:a16="http://schemas.microsoft.com/office/drawing/2014/main" id="{58BA4E7A-3573-4512-B867-F690DBCBEC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8522" y="598851"/>
            <a:ext cx="4669784" cy="430825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4378995-B607-4F31-928D-ED8DB85D65D8}"/>
              </a:ext>
            </a:extLst>
          </p:cNvPr>
          <p:cNvSpPr txBox="1"/>
          <p:nvPr/>
        </p:nvSpPr>
        <p:spPr>
          <a:xfrm>
            <a:off x="629174" y="2752977"/>
            <a:ext cx="5587068" cy="1477328"/>
          </a:xfrm>
          <a:prstGeom prst="rect">
            <a:avLst/>
          </a:prstGeom>
          <a:noFill/>
        </p:spPr>
        <p:txBody>
          <a:bodyPr wrap="square" rtlCol="0">
            <a:spAutoFit/>
          </a:bodyPr>
          <a:lstStyle/>
          <a:p>
            <a:r>
              <a:rPr lang="en-US" dirty="0"/>
              <a:t>A jumper is a type of permanent switch.  It creates a bridge between two electronic pins.  This bridge closes the circuit.</a:t>
            </a:r>
          </a:p>
          <a:p>
            <a:r>
              <a:rPr lang="en-US" dirty="0"/>
              <a:t>To open the circuit you need to remove the jumper.</a:t>
            </a:r>
          </a:p>
          <a:p>
            <a:r>
              <a:rPr lang="en-US" dirty="0"/>
              <a:t>You can replace a jumper with a single wire.</a:t>
            </a:r>
            <a:endParaRPr lang="en-GB" dirty="0"/>
          </a:p>
        </p:txBody>
      </p:sp>
    </p:spTree>
    <p:extLst>
      <p:ext uri="{BB962C8B-B14F-4D97-AF65-F5344CB8AC3E}">
        <p14:creationId xmlns:p14="http://schemas.microsoft.com/office/powerpoint/2010/main" val="4070707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a:extLst>
              <a:ext uri="{FF2B5EF4-FFF2-40B4-BE49-F238E27FC236}">
                <a16:creationId xmlns:a16="http://schemas.microsoft.com/office/drawing/2014/main" id="{C7914BEE-ECA1-4723-B105-1E262A13B0A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7808" b="76881"/>
          <a:stretch/>
        </p:blipFill>
        <p:spPr bwMode="auto">
          <a:xfrm>
            <a:off x="519419" y="921598"/>
            <a:ext cx="5512265" cy="574267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1D14EBA-E5BB-4145-BAB6-3D25173A8240}"/>
              </a:ext>
            </a:extLst>
          </p:cNvPr>
          <p:cNvSpPr txBox="1"/>
          <p:nvPr/>
        </p:nvSpPr>
        <p:spPr>
          <a:xfrm>
            <a:off x="1232831" y="1714154"/>
            <a:ext cx="408543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female connectors</a:t>
            </a:r>
            <a:endParaRPr lang="en-GB" sz="3200" dirty="0">
              <a:latin typeface="Arial" panose="020B0604020202020204" pitchFamily="34" charset="0"/>
              <a:cs typeface="Arial" panose="020B0604020202020204" pitchFamily="34" charset="0"/>
            </a:endParaRPr>
          </a:p>
        </p:txBody>
      </p:sp>
      <p:pic>
        <p:nvPicPr>
          <p:cNvPr id="3078" name="Picture 6">
            <a:extLst>
              <a:ext uri="{FF2B5EF4-FFF2-40B4-BE49-F238E27FC236}">
                <a16:creationId xmlns:a16="http://schemas.microsoft.com/office/drawing/2014/main" id="{75451964-4A41-4E90-A2DD-29890B7B3F0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7431" r="65486" b="21957"/>
          <a:stretch/>
        </p:blipFill>
        <p:spPr bwMode="auto">
          <a:xfrm rot="10800000">
            <a:off x="6409188" y="2743256"/>
            <a:ext cx="5150839" cy="398468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CD458F0-926C-42B8-B41C-085B8F62171B}"/>
              </a:ext>
            </a:extLst>
          </p:cNvPr>
          <p:cNvSpPr txBox="1"/>
          <p:nvPr/>
        </p:nvSpPr>
        <p:spPr>
          <a:xfrm>
            <a:off x="6745096" y="1714154"/>
            <a:ext cx="408543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male connectors</a:t>
            </a:r>
            <a:endParaRPr lang="en-GB" sz="3200"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3265A887-5334-41B6-AC7F-B64D02FB7175}"/>
              </a:ext>
            </a:extLst>
          </p:cNvPr>
          <p:cNvSpPr>
            <a:spLocks noGrp="1"/>
          </p:cNvSpPr>
          <p:nvPr>
            <p:ph type="title"/>
          </p:nvPr>
        </p:nvSpPr>
        <p:spPr>
          <a:xfrm>
            <a:off x="838200" y="365126"/>
            <a:ext cx="10515600" cy="1128114"/>
          </a:xfrm>
        </p:spPr>
        <p:txBody>
          <a:bodyPr/>
          <a:lstStyle/>
          <a:p>
            <a:r>
              <a:rPr lang="en-US" dirty="0">
                <a:latin typeface="Arial Black" panose="020B0A04020102020204" pitchFamily="34" charset="0"/>
              </a:rPr>
              <a:t>pin connector names</a:t>
            </a:r>
            <a:endParaRPr lang="en-GB" dirty="0">
              <a:latin typeface="Arial Black" panose="020B0A04020102020204" pitchFamily="34" charset="0"/>
            </a:endParaRPr>
          </a:p>
        </p:txBody>
      </p:sp>
    </p:spTree>
    <p:extLst>
      <p:ext uri="{BB962C8B-B14F-4D97-AF65-F5344CB8AC3E}">
        <p14:creationId xmlns:p14="http://schemas.microsoft.com/office/powerpoint/2010/main" val="35789630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5229452" y="99639"/>
            <a:ext cx="5287546" cy="6517475"/>
          </a:xfrm>
          <a:prstGeom prst="rect">
            <a:avLst/>
          </a:prstGeom>
        </p:spPr>
      </p:pic>
      <p:sp>
        <p:nvSpPr>
          <p:cNvPr id="2" name="Title 1"/>
          <p:cNvSpPr>
            <a:spLocks noGrp="1"/>
          </p:cNvSpPr>
          <p:nvPr>
            <p:ph type="title"/>
          </p:nvPr>
        </p:nvSpPr>
        <p:spPr>
          <a:xfrm>
            <a:off x="838200" y="365126"/>
            <a:ext cx="10515600" cy="759000"/>
          </a:xfrm>
        </p:spPr>
        <p:txBody>
          <a:bodyPr/>
          <a:lstStyle/>
          <a:p>
            <a:r>
              <a:rPr lang="en-GB" dirty="0">
                <a:latin typeface="Arial Black" panose="020B0A04020102020204" pitchFamily="34" charset="0"/>
              </a:rPr>
              <a:t>L298 Wiring</a:t>
            </a:r>
          </a:p>
        </p:txBody>
      </p:sp>
      <p:sp>
        <p:nvSpPr>
          <p:cNvPr id="8" name="Content Placeholder 7"/>
          <p:cNvSpPr>
            <a:spLocks noGrp="1"/>
          </p:cNvSpPr>
          <p:nvPr>
            <p:ph idx="1"/>
          </p:nvPr>
        </p:nvSpPr>
        <p:spPr>
          <a:xfrm>
            <a:off x="318782" y="1468074"/>
            <a:ext cx="6565783" cy="5290290"/>
          </a:xfrm>
        </p:spPr>
        <p:txBody>
          <a:bodyPr>
            <a:normAutofit/>
          </a:bodyPr>
          <a:lstStyle/>
          <a:p>
            <a:pPr marL="0" indent="0">
              <a:buNone/>
            </a:pPr>
            <a:r>
              <a:rPr lang="en-GB" sz="2400" dirty="0">
                <a:latin typeface="Arial" panose="020B0604020202020204" pitchFamily="34" charset="0"/>
                <a:cs typeface="Arial" panose="020B0604020202020204" pitchFamily="34" charset="0"/>
              </a:rPr>
              <a:t>This shows how the L298 should be wired up.</a:t>
            </a:r>
          </a:p>
          <a:p>
            <a:pPr marL="0" indent="0">
              <a:buNone/>
            </a:pPr>
            <a:r>
              <a:rPr lang="en-GB" sz="2400" dirty="0">
                <a:latin typeface="Arial" panose="020B0604020202020204" pitchFamily="34" charset="0"/>
                <a:cs typeface="Arial" panose="020B0604020202020204" pitchFamily="34" charset="0"/>
              </a:rPr>
              <a:t>Ensure the ground two ground wires are connected to each other before connecting to the GND terminal.</a:t>
            </a:r>
          </a:p>
          <a:p>
            <a:pPr marL="0" indent="0">
              <a:buNone/>
            </a:pPr>
            <a:r>
              <a:rPr lang="en-GB" sz="2400" dirty="0">
                <a:latin typeface="Arial" panose="020B0604020202020204" pitchFamily="34" charset="0"/>
                <a:cs typeface="Arial" panose="020B0604020202020204" pitchFamily="34" charset="0"/>
              </a:rPr>
              <a:t>We connected pins:</a:t>
            </a:r>
          </a:p>
          <a:p>
            <a:pPr marL="0" indent="0">
              <a:buNone/>
            </a:pPr>
            <a:r>
              <a:rPr lang="en-GB" sz="2400" dirty="0">
                <a:latin typeface="Arial" panose="020B0604020202020204" pitchFamily="34" charset="0"/>
                <a:cs typeface="Arial" panose="020B0604020202020204" pitchFamily="34" charset="0"/>
              </a:rPr>
              <a:t>2 -&gt; IN1</a:t>
            </a:r>
            <a:br>
              <a:rPr lang="en-GB" sz="2400" dirty="0">
                <a:latin typeface="Arial" panose="020B0604020202020204" pitchFamily="34" charset="0"/>
                <a:cs typeface="Arial" panose="020B0604020202020204" pitchFamily="34" charset="0"/>
              </a:rPr>
            </a:br>
            <a:r>
              <a:rPr lang="en-GB" sz="2400" dirty="0">
                <a:latin typeface="Arial" panose="020B0604020202020204" pitchFamily="34" charset="0"/>
                <a:cs typeface="Arial" panose="020B0604020202020204" pitchFamily="34" charset="0"/>
              </a:rPr>
              <a:t>3 -&gt; IN2</a:t>
            </a:r>
            <a:br>
              <a:rPr lang="en-GB" sz="2400" dirty="0">
                <a:latin typeface="Arial" panose="020B0604020202020204" pitchFamily="34" charset="0"/>
                <a:cs typeface="Arial" panose="020B0604020202020204" pitchFamily="34" charset="0"/>
              </a:rPr>
            </a:br>
            <a:r>
              <a:rPr lang="en-GB" sz="2400" dirty="0">
                <a:latin typeface="Arial" panose="020B0604020202020204" pitchFamily="34" charset="0"/>
                <a:cs typeface="Arial" panose="020B0604020202020204" pitchFamily="34" charset="0"/>
              </a:rPr>
              <a:t>4 -&gt; IN3</a:t>
            </a:r>
            <a:br>
              <a:rPr lang="en-GB" sz="2400" dirty="0">
                <a:latin typeface="Arial" panose="020B0604020202020204" pitchFamily="34" charset="0"/>
                <a:cs typeface="Arial" panose="020B0604020202020204" pitchFamily="34" charset="0"/>
              </a:rPr>
            </a:br>
            <a:r>
              <a:rPr lang="en-GB" sz="2400" dirty="0">
                <a:latin typeface="Arial" panose="020B0604020202020204" pitchFamily="34" charset="0"/>
                <a:cs typeface="Arial" panose="020B0604020202020204" pitchFamily="34" charset="0"/>
              </a:rPr>
              <a:t>5 -&gt; IN4</a:t>
            </a:r>
            <a:br>
              <a:rPr lang="en-GB" sz="2400" dirty="0">
                <a:latin typeface="Arial" panose="020B0604020202020204" pitchFamily="34" charset="0"/>
                <a:cs typeface="Arial" panose="020B0604020202020204" pitchFamily="34" charset="0"/>
              </a:rPr>
            </a:br>
            <a:r>
              <a:rPr lang="en-GB" sz="2400" dirty="0">
                <a:latin typeface="Arial" panose="020B0604020202020204" pitchFamily="34" charset="0"/>
                <a:cs typeface="Arial" panose="020B0604020202020204" pitchFamily="34" charset="0"/>
              </a:rPr>
              <a:t>V</a:t>
            </a:r>
            <a:r>
              <a:rPr lang="en-GB" sz="2400" baseline="-25000" dirty="0">
                <a:latin typeface="Arial" panose="020B0604020202020204" pitchFamily="34" charset="0"/>
                <a:cs typeface="Arial" panose="020B0604020202020204" pitchFamily="34" charset="0"/>
              </a:rPr>
              <a:t>in</a:t>
            </a:r>
            <a:r>
              <a:rPr lang="en-GB" sz="2400" dirty="0">
                <a:latin typeface="Arial" panose="020B0604020202020204" pitchFamily="34" charset="0"/>
                <a:cs typeface="Arial" panose="020B0604020202020204" pitchFamily="34" charset="0"/>
              </a:rPr>
              <a:t> -&gt; +5V</a:t>
            </a:r>
            <a:br>
              <a:rPr lang="en-GB" sz="2400" dirty="0">
                <a:latin typeface="Arial" panose="020B0604020202020204" pitchFamily="34" charset="0"/>
                <a:cs typeface="Arial" panose="020B0604020202020204" pitchFamily="34" charset="0"/>
              </a:rPr>
            </a:br>
            <a:r>
              <a:rPr lang="en-GB" sz="2400" dirty="0">
                <a:latin typeface="Arial" panose="020B0604020202020204" pitchFamily="34" charset="0"/>
                <a:cs typeface="Arial" panose="020B0604020202020204" pitchFamily="34" charset="0"/>
              </a:rPr>
              <a:t>GND -&gt; GND</a:t>
            </a:r>
          </a:p>
          <a:p>
            <a:pPr marL="0" indent="0">
              <a:buNone/>
            </a:pPr>
            <a:endParaRPr lang="en-GB" sz="2400" b="1" dirty="0">
              <a:latin typeface="Arial" panose="020B0604020202020204" pitchFamily="34" charset="0"/>
              <a:cs typeface="Arial" panose="020B0604020202020204" pitchFamily="34" charset="0"/>
            </a:endParaRPr>
          </a:p>
          <a:p>
            <a:pPr marL="0" indent="0">
              <a:buNone/>
            </a:pPr>
            <a:r>
              <a:rPr lang="en-GB" sz="2400" b="1" dirty="0">
                <a:latin typeface="Arial" panose="020B0604020202020204" pitchFamily="34" charset="0"/>
                <a:cs typeface="Arial" panose="020B0604020202020204" pitchFamily="34" charset="0"/>
              </a:rPr>
              <a:t>The voltage regulator should be enabled!</a:t>
            </a:r>
          </a:p>
        </p:txBody>
      </p:sp>
      <p:cxnSp>
        <p:nvCxnSpPr>
          <p:cNvPr id="6" name="Straight Arrow Connector 5">
            <a:extLst>
              <a:ext uri="{FF2B5EF4-FFF2-40B4-BE49-F238E27FC236}">
                <a16:creationId xmlns:a16="http://schemas.microsoft.com/office/drawing/2014/main" id="{FC3CF8FB-F3F6-4F09-B902-B5D891B503D2}"/>
              </a:ext>
            </a:extLst>
          </p:cNvPr>
          <p:cNvCxnSpPr>
            <a:cxnSpLocks/>
          </p:cNvCxnSpPr>
          <p:nvPr/>
        </p:nvCxnSpPr>
        <p:spPr>
          <a:xfrm flipV="1">
            <a:off x="6434356" y="4379053"/>
            <a:ext cx="989901" cy="1837189"/>
          </a:xfrm>
          <a:prstGeom prst="straightConnector1">
            <a:avLst/>
          </a:prstGeom>
          <a:ln w="762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5908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srcRect t="4598"/>
          <a:stretch/>
        </p:blipFill>
        <p:spPr>
          <a:xfrm>
            <a:off x="4631574" y="310393"/>
            <a:ext cx="5655926" cy="4942635"/>
          </a:xfrm>
          <a:prstGeom prst="rect">
            <a:avLst/>
          </a:prstGeom>
        </p:spPr>
      </p:pic>
      <p:sp>
        <p:nvSpPr>
          <p:cNvPr id="2" name="Title 1"/>
          <p:cNvSpPr>
            <a:spLocks noGrp="1"/>
          </p:cNvSpPr>
          <p:nvPr>
            <p:ph type="title"/>
          </p:nvPr>
        </p:nvSpPr>
        <p:spPr>
          <a:xfrm>
            <a:off x="436228" y="595264"/>
            <a:ext cx="5902660" cy="1376149"/>
          </a:xfrm>
        </p:spPr>
        <p:txBody>
          <a:bodyPr>
            <a:normAutofit/>
          </a:bodyPr>
          <a:lstStyle/>
          <a:p>
            <a:r>
              <a:rPr lang="en-GB" dirty="0">
                <a:latin typeface="Arial Black" panose="020B0A04020102020204" pitchFamily="34" charset="0"/>
              </a:rPr>
              <a:t>Speed control connections</a:t>
            </a:r>
          </a:p>
        </p:txBody>
      </p:sp>
      <p:sp>
        <p:nvSpPr>
          <p:cNvPr id="9" name="TextBox 8">
            <a:extLst>
              <a:ext uri="{FF2B5EF4-FFF2-40B4-BE49-F238E27FC236}">
                <a16:creationId xmlns:a16="http://schemas.microsoft.com/office/drawing/2014/main" id="{24641520-A8EE-49DF-85C4-CD59D0443F86}"/>
              </a:ext>
            </a:extLst>
          </p:cNvPr>
          <p:cNvSpPr txBox="1"/>
          <p:nvPr/>
        </p:nvSpPr>
        <p:spPr>
          <a:xfrm>
            <a:off x="436229" y="2155971"/>
            <a:ext cx="4328718" cy="3785652"/>
          </a:xfrm>
          <a:prstGeom prst="rect">
            <a:avLst/>
          </a:prstGeom>
          <a:noFill/>
        </p:spPr>
        <p:txBody>
          <a:bodyPr wrap="square" rtlCol="0">
            <a:spAutoFit/>
          </a:bodyPr>
          <a:lstStyle/>
          <a:p>
            <a:r>
              <a:rPr lang="en-GB" sz="2400" dirty="0">
                <a:latin typeface="Arial" panose="020B0604020202020204" pitchFamily="34" charset="0"/>
                <a:cs typeface="Arial" panose="020B0604020202020204" pitchFamily="34" charset="0"/>
              </a:rPr>
              <a:t>We connected the PWM pins to ENA and ENB.</a:t>
            </a:r>
          </a:p>
          <a:p>
            <a:endParaRPr lang="en-GB" sz="2400" dirty="0">
              <a:latin typeface="Arial" panose="020B0604020202020204" pitchFamily="34" charset="0"/>
              <a:cs typeface="Arial" panose="020B0604020202020204" pitchFamily="34" charset="0"/>
            </a:endParaRPr>
          </a:p>
          <a:p>
            <a:r>
              <a:rPr lang="en-GB" sz="2400" dirty="0">
                <a:latin typeface="Arial" panose="020B0604020202020204" pitchFamily="34" charset="0"/>
                <a:cs typeface="Arial" panose="020B0604020202020204" pitchFamily="34" charset="0"/>
              </a:rPr>
              <a:t>We chose pins </a:t>
            </a:r>
          </a:p>
          <a:p>
            <a:r>
              <a:rPr lang="en-GB" sz="2400" dirty="0">
                <a:latin typeface="Arial" panose="020B0604020202020204" pitchFamily="34" charset="0"/>
                <a:cs typeface="Arial" panose="020B0604020202020204" pitchFamily="34" charset="0"/>
              </a:rPr>
              <a:t>9 -&gt; ENA</a:t>
            </a:r>
          </a:p>
          <a:p>
            <a:r>
              <a:rPr lang="en-GB" sz="2400" dirty="0">
                <a:latin typeface="Arial" panose="020B0604020202020204" pitchFamily="34" charset="0"/>
                <a:cs typeface="Arial" panose="020B0604020202020204" pitchFamily="34" charset="0"/>
              </a:rPr>
              <a:t>10 -&gt; ENB</a:t>
            </a:r>
          </a:p>
          <a:p>
            <a:endParaRPr lang="en-GB" sz="2400" dirty="0">
              <a:latin typeface="Arial" panose="020B0604020202020204" pitchFamily="34" charset="0"/>
              <a:cs typeface="Arial" panose="020B0604020202020204" pitchFamily="34" charset="0"/>
            </a:endParaRPr>
          </a:p>
          <a:p>
            <a:r>
              <a:rPr lang="en-GB" sz="2400" dirty="0">
                <a:latin typeface="Arial" panose="020B0604020202020204" pitchFamily="34" charset="0"/>
                <a:cs typeface="Arial" panose="020B0604020202020204" pitchFamily="34" charset="0"/>
              </a:rPr>
              <a:t>You need to remove the jumpers from ENA and ENB, but don’t lose them.</a:t>
            </a:r>
          </a:p>
        </p:txBody>
      </p:sp>
      <p:pic>
        <p:nvPicPr>
          <p:cNvPr id="4" name="Picture 3">
            <a:extLst>
              <a:ext uri="{FF2B5EF4-FFF2-40B4-BE49-F238E27FC236}">
                <a16:creationId xmlns:a16="http://schemas.microsoft.com/office/drawing/2014/main" id="{FCC923E0-E33A-4EB5-8C3B-3CBC5CF82355}"/>
              </a:ext>
            </a:extLst>
          </p:cNvPr>
          <p:cNvPicPr>
            <a:picLocks noChangeAspect="1"/>
          </p:cNvPicPr>
          <p:nvPr/>
        </p:nvPicPr>
        <p:blipFill>
          <a:blip r:embed="rId3"/>
          <a:stretch>
            <a:fillRect/>
          </a:stretch>
        </p:blipFill>
        <p:spPr>
          <a:xfrm>
            <a:off x="6664781" y="4972209"/>
            <a:ext cx="3852216" cy="1820881"/>
          </a:xfrm>
          <a:prstGeom prst="rect">
            <a:avLst/>
          </a:prstGeom>
        </p:spPr>
      </p:pic>
      <p:pic>
        <p:nvPicPr>
          <p:cNvPr id="6" name="Picture 5">
            <a:extLst>
              <a:ext uri="{FF2B5EF4-FFF2-40B4-BE49-F238E27FC236}">
                <a16:creationId xmlns:a16="http://schemas.microsoft.com/office/drawing/2014/main" id="{2D47BE94-CE9F-4928-9196-EAB1B73C2FA7}"/>
              </a:ext>
            </a:extLst>
          </p:cNvPr>
          <p:cNvPicPr>
            <a:picLocks noChangeAspect="1"/>
          </p:cNvPicPr>
          <p:nvPr/>
        </p:nvPicPr>
        <p:blipFill rotWithShape="1">
          <a:blip r:embed="rId4"/>
          <a:srcRect r="-3511"/>
          <a:stretch/>
        </p:blipFill>
        <p:spPr>
          <a:xfrm>
            <a:off x="6606772" y="92374"/>
            <a:ext cx="3948612" cy="502889"/>
          </a:xfrm>
          <a:prstGeom prst="rect">
            <a:avLst/>
          </a:prstGeom>
        </p:spPr>
      </p:pic>
      <p:pic>
        <p:nvPicPr>
          <p:cNvPr id="10" name="Picture 9">
            <a:extLst>
              <a:ext uri="{FF2B5EF4-FFF2-40B4-BE49-F238E27FC236}">
                <a16:creationId xmlns:a16="http://schemas.microsoft.com/office/drawing/2014/main" id="{D40B20EE-1A09-48B3-9466-BCC89E3B6B73}"/>
              </a:ext>
            </a:extLst>
          </p:cNvPr>
          <p:cNvPicPr>
            <a:picLocks noChangeAspect="1"/>
          </p:cNvPicPr>
          <p:nvPr/>
        </p:nvPicPr>
        <p:blipFill>
          <a:blip r:embed="rId5"/>
          <a:stretch>
            <a:fillRect/>
          </a:stretch>
        </p:blipFill>
        <p:spPr>
          <a:xfrm>
            <a:off x="10189608" y="92374"/>
            <a:ext cx="231834" cy="5452749"/>
          </a:xfrm>
          <a:prstGeom prst="rect">
            <a:avLst/>
          </a:prstGeom>
        </p:spPr>
      </p:pic>
    </p:spTree>
    <p:extLst>
      <p:ext uri="{BB962C8B-B14F-4D97-AF65-F5344CB8AC3E}">
        <p14:creationId xmlns:p14="http://schemas.microsoft.com/office/powerpoint/2010/main" val="3090168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ee the source image">
            <a:extLst>
              <a:ext uri="{FF2B5EF4-FFF2-40B4-BE49-F238E27FC236}">
                <a16:creationId xmlns:a16="http://schemas.microsoft.com/office/drawing/2014/main" id="{1752B05E-A135-4070-8CB2-8C6F3883A8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3600000">
            <a:off x="991378" y="2539175"/>
            <a:ext cx="2027182" cy="202718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2054F28-9EA7-4637-A3E6-404D27F09D84}"/>
              </a:ext>
            </a:extLst>
          </p:cNvPr>
          <p:cNvSpPr>
            <a:spLocks noGrp="1"/>
          </p:cNvSpPr>
          <p:nvPr>
            <p:ph type="title"/>
          </p:nvPr>
        </p:nvSpPr>
        <p:spPr/>
        <p:txBody>
          <a:bodyPr/>
          <a:lstStyle/>
          <a:p>
            <a:r>
              <a:rPr lang="en-US" dirty="0">
                <a:latin typeface="Arial Black" panose="020B0A04020102020204" pitchFamily="34" charset="0"/>
              </a:rPr>
              <a:t>We added a simple power switch</a:t>
            </a:r>
            <a:endParaRPr lang="en-GB" dirty="0">
              <a:latin typeface="Arial Black" panose="020B0A04020102020204" pitchFamily="34" charset="0"/>
            </a:endParaRPr>
          </a:p>
        </p:txBody>
      </p:sp>
      <p:pic>
        <p:nvPicPr>
          <p:cNvPr id="5" name="Content Placeholder 4">
            <a:extLst>
              <a:ext uri="{FF2B5EF4-FFF2-40B4-BE49-F238E27FC236}">
                <a16:creationId xmlns:a16="http://schemas.microsoft.com/office/drawing/2014/main" id="{7DA0A0CA-FDDB-4CBC-87D5-897AC0A02FBA}"/>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t="23562" b="10012"/>
          <a:stretch/>
        </p:blipFill>
        <p:spPr>
          <a:xfrm>
            <a:off x="5210868" y="1631965"/>
            <a:ext cx="5602541" cy="4968552"/>
          </a:xfrm>
        </p:spPr>
      </p:pic>
      <p:sp>
        <p:nvSpPr>
          <p:cNvPr id="6" name="TextBox 5">
            <a:extLst>
              <a:ext uri="{FF2B5EF4-FFF2-40B4-BE49-F238E27FC236}">
                <a16:creationId xmlns:a16="http://schemas.microsoft.com/office/drawing/2014/main" id="{3EEE43DE-4647-4301-A378-2813F1BE588B}"/>
              </a:ext>
            </a:extLst>
          </p:cNvPr>
          <p:cNvSpPr txBox="1"/>
          <p:nvPr/>
        </p:nvSpPr>
        <p:spPr>
          <a:xfrm>
            <a:off x="276838" y="1417694"/>
            <a:ext cx="4689441" cy="120032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One terminal of the switch connects to the red wire from the battery pack.  The other terminal is connected to the Voltage in of the L298 motor board.</a:t>
            </a:r>
            <a:endParaRPr lang="en-GB" dirty="0">
              <a:latin typeface="Arial" panose="020B0604020202020204" pitchFamily="34" charset="0"/>
              <a:cs typeface="Arial" panose="020B0604020202020204" pitchFamily="34" charset="0"/>
            </a:endParaRPr>
          </a:p>
        </p:txBody>
      </p:sp>
      <p:cxnSp>
        <p:nvCxnSpPr>
          <p:cNvPr id="8" name="Straight Connector 7">
            <a:extLst>
              <a:ext uri="{FF2B5EF4-FFF2-40B4-BE49-F238E27FC236}">
                <a16:creationId xmlns:a16="http://schemas.microsoft.com/office/drawing/2014/main" id="{E43A0F70-4F0F-48E9-ACA1-2CE1F80935E9}"/>
              </a:ext>
            </a:extLst>
          </p:cNvPr>
          <p:cNvCxnSpPr/>
          <p:nvPr/>
        </p:nvCxnSpPr>
        <p:spPr>
          <a:xfrm>
            <a:off x="1568741" y="4124383"/>
            <a:ext cx="0" cy="654341"/>
          </a:xfrm>
          <a:prstGeom prst="line">
            <a:avLst/>
          </a:prstGeom>
          <a:ln w="76200">
            <a:solidFill>
              <a:srgbClr val="FF0000"/>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FCE3A0BE-D8FE-4E49-85F1-86B10FEFFEB0}"/>
              </a:ext>
            </a:extLst>
          </p:cNvPr>
          <p:cNvCxnSpPr>
            <a:cxnSpLocks/>
          </p:cNvCxnSpPr>
          <p:nvPr/>
        </p:nvCxnSpPr>
        <p:spPr>
          <a:xfrm flipH="1">
            <a:off x="1444304" y="6165704"/>
            <a:ext cx="248874" cy="0"/>
          </a:xfrm>
          <a:prstGeom prst="line">
            <a:avLst/>
          </a:prstGeom>
          <a:ln w="76200">
            <a:solidFill>
              <a:schemeClr val="tx1"/>
            </a:solidFill>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F31C3E6-52A3-4174-9EE3-9974CB341A7C}"/>
              </a:ext>
            </a:extLst>
          </p:cNvPr>
          <p:cNvCxnSpPr/>
          <p:nvPr/>
        </p:nvCxnSpPr>
        <p:spPr>
          <a:xfrm>
            <a:off x="1568741" y="6165704"/>
            <a:ext cx="0" cy="654341"/>
          </a:xfrm>
          <a:prstGeom prst="line">
            <a:avLst/>
          </a:prstGeom>
          <a:ln w="76200">
            <a:solidFill>
              <a:schemeClr val="tx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9F39A93D-F58C-4EC0-A57B-CC26C16EF8CA}"/>
              </a:ext>
            </a:extLst>
          </p:cNvPr>
          <p:cNvCxnSpPr/>
          <p:nvPr/>
        </p:nvCxnSpPr>
        <p:spPr>
          <a:xfrm>
            <a:off x="1568741" y="5358963"/>
            <a:ext cx="0" cy="654341"/>
          </a:xfrm>
          <a:prstGeom prst="line">
            <a:avLst/>
          </a:prstGeom>
          <a:ln w="76200">
            <a:solidFill>
              <a:srgbClr val="FF0000"/>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9BA93AD8-A352-42A9-895F-92708C8A32AA}"/>
              </a:ext>
            </a:extLst>
          </p:cNvPr>
          <p:cNvCxnSpPr>
            <a:cxnSpLocks/>
          </p:cNvCxnSpPr>
          <p:nvPr/>
        </p:nvCxnSpPr>
        <p:spPr>
          <a:xfrm>
            <a:off x="1568740" y="4741673"/>
            <a:ext cx="436229" cy="654341"/>
          </a:xfrm>
          <a:prstGeom prst="line">
            <a:avLst/>
          </a:prstGeom>
          <a:ln w="76200">
            <a:solidFill>
              <a:srgbClr val="FF0000"/>
            </a:solidFill>
          </a:ln>
        </p:spPr>
        <p:style>
          <a:lnRef idx="1">
            <a:schemeClr val="dk1"/>
          </a:lnRef>
          <a:fillRef idx="0">
            <a:schemeClr val="dk1"/>
          </a:fillRef>
          <a:effectRef idx="0">
            <a:schemeClr val="dk1"/>
          </a:effectRef>
          <a:fontRef idx="minor">
            <a:schemeClr val="tx1"/>
          </a:fontRef>
        </p:style>
      </p:cxnSp>
      <p:grpSp>
        <p:nvGrpSpPr>
          <p:cNvPr id="20" name="Group 19">
            <a:extLst>
              <a:ext uri="{FF2B5EF4-FFF2-40B4-BE49-F238E27FC236}">
                <a16:creationId xmlns:a16="http://schemas.microsoft.com/office/drawing/2014/main" id="{1E28B62E-7223-4A45-A8D3-8ABC0D2C6BFF}"/>
              </a:ext>
            </a:extLst>
          </p:cNvPr>
          <p:cNvGrpSpPr/>
          <p:nvPr/>
        </p:nvGrpSpPr>
        <p:grpSpPr>
          <a:xfrm>
            <a:off x="1538679" y="5358962"/>
            <a:ext cx="60121" cy="127233"/>
            <a:chOff x="1196130" y="4865615"/>
            <a:chExt cx="60121" cy="127233"/>
          </a:xfrm>
        </p:grpSpPr>
        <p:cxnSp>
          <p:nvCxnSpPr>
            <p:cNvPr id="17" name="Straight Connector 16">
              <a:extLst>
                <a:ext uri="{FF2B5EF4-FFF2-40B4-BE49-F238E27FC236}">
                  <a16:creationId xmlns:a16="http://schemas.microsoft.com/office/drawing/2014/main" id="{D4E42298-D7BD-4814-A43A-799A49983FE3}"/>
                </a:ext>
              </a:extLst>
            </p:cNvPr>
            <p:cNvCxnSpPr>
              <a:cxnSpLocks/>
            </p:cNvCxnSpPr>
            <p:nvPr/>
          </p:nvCxnSpPr>
          <p:spPr>
            <a:xfrm>
              <a:off x="1196130" y="4865615"/>
              <a:ext cx="0" cy="127233"/>
            </a:xfrm>
            <a:prstGeom prst="line">
              <a:avLst/>
            </a:prstGeom>
            <a:ln w="76200">
              <a:solidFill>
                <a:srgbClr val="FF0000"/>
              </a:solidFill>
            </a:ln>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6DFE7AF1-B85C-4D51-B404-61AC347EED6C}"/>
                </a:ext>
              </a:extLst>
            </p:cNvPr>
            <p:cNvCxnSpPr>
              <a:cxnSpLocks/>
            </p:cNvCxnSpPr>
            <p:nvPr/>
          </p:nvCxnSpPr>
          <p:spPr>
            <a:xfrm>
              <a:off x="1256251" y="4865615"/>
              <a:ext cx="0" cy="127233"/>
            </a:xfrm>
            <a:prstGeom prst="line">
              <a:avLst/>
            </a:prstGeom>
            <a:ln w="76200">
              <a:solidFill>
                <a:srgbClr val="FF0000"/>
              </a:solidFill>
            </a:ln>
          </p:spPr>
          <p:style>
            <a:lnRef idx="1">
              <a:schemeClr val="dk1"/>
            </a:lnRef>
            <a:fillRef idx="0">
              <a:schemeClr val="dk1"/>
            </a:fillRef>
            <a:effectRef idx="0">
              <a:schemeClr val="dk1"/>
            </a:effectRef>
            <a:fontRef idx="minor">
              <a:schemeClr val="tx1"/>
            </a:fontRef>
          </p:style>
        </p:cxnSp>
      </p:grpSp>
      <p:grpSp>
        <p:nvGrpSpPr>
          <p:cNvPr id="22" name="Group 21">
            <a:extLst>
              <a:ext uri="{FF2B5EF4-FFF2-40B4-BE49-F238E27FC236}">
                <a16:creationId xmlns:a16="http://schemas.microsoft.com/office/drawing/2014/main" id="{7489F058-0147-49AC-B08C-785C88983ACD}"/>
              </a:ext>
            </a:extLst>
          </p:cNvPr>
          <p:cNvGrpSpPr/>
          <p:nvPr/>
        </p:nvGrpSpPr>
        <p:grpSpPr>
          <a:xfrm>
            <a:off x="1557205" y="4689593"/>
            <a:ext cx="60121" cy="127233"/>
            <a:chOff x="1196130" y="4865615"/>
            <a:chExt cx="60121" cy="127233"/>
          </a:xfrm>
        </p:grpSpPr>
        <p:cxnSp>
          <p:nvCxnSpPr>
            <p:cNvPr id="23" name="Straight Connector 22">
              <a:extLst>
                <a:ext uri="{FF2B5EF4-FFF2-40B4-BE49-F238E27FC236}">
                  <a16:creationId xmlns:a16="http://schemas.microsoft.com/office/drawing/2014/main" id="{204A8875-4B6D-48AC-9E7E-19BE7C329157}"/>
                </a:ext>
              </a:extLst>
            </p:cNvPr>
            <p:cNvCxnSpPr>
              <a:cxnSpLocks/>
            </p:cNvCxnSpPr>
            <p:nvPr/>
          </p:nvCxnSpPr>
          <p:spPr>
            <a:xfrm>
              <a:off x="1196130" y="4865615"/>
              <a:ext cx="0" cy="127233"/>
            </a:xfrm>
            <a:prstGeom prst="line">
              <a:avLst/>
            </a:prstGeom>
            <a:ln w="76200">
              <a:solidFill>
                <a:srgbClr val="FF0000"/>
              </a:solidFill>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89F161B3-0ECA-4D7F-B956-475AD4C06B22}"/>
                </a:ext>
              </a:extLst>
            </p:cNvPr>
            <p:cNvCxnSpPr>
              <a:cxnSpLocks/>
            </p:cNvCxnSpPr>
            <p:nvPr/>
          </p:nvCxnSpPr>
          <p:spPr>
            <a:xfrm>
              <a:off x="1256251" y="4865615"/>
              <a:ext cx="0" cy="127233"/>
            </a:xfrm>
            <a:prstGeom prst="line">
              <a:avLst/>
            </a:prstGeom>
            <a:ln w="76200">
              <a:solidFill>
                <a:srgbClr val="FF0000"/>
              </a:solidFill>
            </a:ln>
          </p:spPr>
          <p:style>
            <a:lnRef idx="1">
              <a:schemeClr val="dk1"/>
            </a:lnRef>
            <a:fillRef idx="0">
              <a:schemeClr val="dk1"/>
            </a:fillRef>
            <a:effectRef idx="0">
              <a:schemeClr val="dk1"/>
            </a:effectRef>
            <a:fontRef idx="minor">
              <a:schemeClr val="tx1"/>
            </a:fontRef>
          </p:style>
        </p:cxnSp>
      </p:grpSp>
      <p:sp>
        <p:nvSpPr>
          <p:cNvPr id="28" name="TextBox 27">
            <a:extLst>
              <a:ext uri="{FF2B5EF4-FFF2-40B4-BE49-F238E27FC236}">
                <a16:creationId xmlns:a16="http://schemas.microsoft.com/office/drawing/2014/main" id="{68E151D3-E0C6-450A-B51F-B0698014B77A}"/>
              </a:ext>
            </a:extLst>
          </p:cNvPr>
          <p:cNvSpPr txBox="1"/>
          <p:nvPr/>
        </p:nvSpPr>
        <p:spPr>
          <a:xfrm>
            <a:off x="986406" y="5572836"/>
            <a:ext cx="333462" cy="461665"/>
          </a:xfrm>
          <a:prstGeom prst="rect">
            <a:avLst/>
          </a:prstGeom>
          <a:noFill/>
        </p:spPr>
        <p:txBody>
          <a:bodyPr wrap="square">
            <a:spAutoFit/>
          </a:bodyPr>
          <a:lstStyle/>
          <a:p>
            <a:r>
              <a:rPr lang="en-US" sz="2400" b="1" dirty="0">
                <a:solidFill>
                  <a:srgbClr val="FF0000"/>
                </a:solidFill>
                <a:latin typeface="Arial" panose="020B0604020202020204" pitchFamily="34" charset="0"/>
                <a:cs typeface="Arial" panose="020B0604020202020204" pitchFamily="34" charset="0"/>
              </a:rPr>
              <a:t>+</a:t>
            </a:r>
            <a:endParaRPr lang="en-GB" b="1" dirty="0">
              <a:solidFill>
                <a:srgbClr val="FF0000"/>
              </a:solidFill>
            </a:endParaRPr>
          </a:p>
        </p:txBody>
      </p:sp>
      <p:sp>
        <p:nvSpPr>
          <p:cNvPr id="29" name="TextBox 28">
            <a:extLst>
              <a:ext uri="{FF2B5EF4-FFF2-40B4-BE49-F238E27FC236}">
                <a16:creationId xmlns:a16="http://schemas.microsoft.com/office/drawing/2014/main" id="{7BA99CB2-CC86-4D46-AE5F-4CFBDAA4F066}"/>
              </a:ext>
            </a:extLst>
          </p:cNvPr>
          <p:cNvSpPr txBox="1"/>
          <p:nvPr/>
        </p:nvSpPr>
        <p:spPr>
          <a:xfrm>
            <a:off x="1048624" y="6034501"/>
            <a:ext cx="333462"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a:t>
            </a:r>
            <a:endParaRPr lang="en-GB" b="1" dirty="0"/>
          </a:p>
        </p:txBody>
      </p:sp>
      <p:sp>
        <p:nvSpPr>
          <p:cNvPr id="3" name="Rectangle: Rounded Corners 2">
            <a:extLst>
              <a:ext uri="{FF2B5EF4-FFF2-40B4-BE49-F238E27FC236}">
                <a16:creationId xmlns:a16="http://schemas.microsoft.com/office/drawing/2014/main" id="{1B691E34-04CA-44DA-9506-D2768D9F03DD}"/>
              </a:ext>
            </a:extLst>
          </p:cNvPr>
          <p:cNvSpPr/>
          <p:nvPr/>
        </p:nvSpPr>
        <p:spPr>
          <a:xfrm>
            <a:off x="6813755" y="3854245"/>
            <a:ext cx="1514168" cy="1868129"/>
          </a:xfrm>
          <a:prstGeom prst="round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 name="Straight Connector 8">
            <a:extLst>
              <a:ext uri="{FF2B5EF4-FFF2-40B4-BE49-F238E27FC236}">
                <a16:creationId xmlns:a16="http://schemas.microsoft.com/office/drawing/2014/main" id="{A8053162-3DF4-4173-9E47-1C83F450044E}"/>
              </a:ext>
            </a:extLst>
          </p:cNvPr>
          <p:cNvCxnSpPr>
            <a:cxnSpLocks/>
          </p:cNvCxnSpPr>
          <p:nvPr/>
        </p:nvCxnSpPr>
        <p:spPr>
          <a:xfrm flipH="1">
            <a:off x="1196130" y="6013304"/>
            <a:ext cx="745222" cy="0"/>
          </a:xfrm>
          <a:prstGeom prst="line">
            <a:avLst/>
          </a:prstGeom>
          <a:ln w="7620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66040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repeatCount="indefinite" fill="hold" grpId="0" nodeType="withEffect">
                                  <p:stCondLst>
                                    <p:cond delay="0"/>
                                  </p:stCondLst>
                                  <p:endCondLst>
                                    <p:cond evt="onNext" delay="0">
                                      <p:tgtEl>
                                        <p:sldTgt/>
                                      </p:tgtEl>
                                    </p:cond>
                                  </p:endCondLst>
                                  <p:childTnLst>
                                    <p:animEffect transition="out" filter="fade">
                                      <p:cBhvr>
                                        <p:cTn id="6" dur="500" tmFilter="0, 0; .2, .5; .8, .5; 1, 0"/>
                                        <p:tgtEl>
                                          <p:spTgt spid="3"/>
                                        </p:tgtEl>
                                      </p:cBhvr>
                                    </p:animEffect>
                                    <p:animScale>
                                      <p:cBhvr>
                                        <p:cTn id="7" dur="250"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49728-D6F8-4182-B0BE-B799E3A63DD5}"/>
              </a:ext>
            </a:extLst>
          </p:cNvPr>
          <p:cNvSpPr>
            <a:spLocks noGrp="1"/>
          </p:cNvSpPr>
          <p:nvPr>
            <p:ph type="title"/>
          </p:nvPr>
        </p:nvSpPr>
        <p:spPr/>
        <p:txBody>
          <a:bodyPr/>
          <a:lstStyle/>
          <a:p>
            <a:r>
              <a:rPr lang="en-US" dirty="0">
                <a:latin typeface="Arial Black" panose="020B0A04020102020204" pitchFamily="34" charset="0"/>
              </a:rPr>
              <a:t>We used some code like this…</a:t>
            </a:r>
            <a:endParaRPr lang="en-GB" dirty="0">
              <a:latin typeface="Arial Black" panose="020B0A04020102020204" pitchFamily="34" charset="0"/>
            </a:endParaRPr>
          </a:p>
        </p:txBody>
      </p:sp>
      <p:sp>
        <p:nvSpPr>
          <p:cNvPr id="3" name="TextBox 2">
            <a:extLst>
              <a:ext uri="{FF2B5EF4-FFF2-40B4-BE49-F238E27FC236}">
                <a16:creationId xmlns:a16="http://schemas.microsoft.com/office/drawing/2014/main" id="{F01E6641-B328-4A03-97F7-DCEC1D3EA591}"/>
              </a:ext>
            </a:extLst>
          </p:cNvPr>
          <p:cNvSpPr txBox="1"/>
          <p:nvPr/>
        </p:nvSpPr>
        <p:spPr>
          <a:xfrm>
            <a:off x="587229" y="2055303"/>
            <a:ext cx="10293292" cy="954107"/>
          </a:xfrm>
          <a:prstGeom prst="rect">
            <a:avLst/>
          </a:prstGeom>
          <a:noFill/>
        </p:spPr>
        <p:txBody>
          <a:bodyPr wrap="square" rtlCol="0">
            <a:spAutoFit/>
          </a:bodyPr>
          <a:lstStyle/>
          <a:p>
            <a:r>
              <a:rPr lang="en-GB" sz="2800" dirty="0">
                <a:latin typeface="Arial" panose="020B0604020202020204" pitchFamily="34" charset="0"/>
                <a:cs typeface="Arial" panose="020B0604020202020204" pitchFamily="34" charset="0"/>
              </a:rPr>
              <a:t>We used some code like this to control the speed of our motors.  We are able to set the speed and direction of each motor.</a:t>
            </a:r>
          </a:p>
        </p:txBody>
      </p:sp>
    </p:spTree>
    <p:extLst>
      <p:ext uri="{BB962C8B-B14F-4D97-AF65-F5344CB8AC3E}">
        <p14:creationId xmlns:p14="http://schemas.microsoft.com/office/powerpoint/2010/main" val="14112986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1879978" y="184558"/>
            <a:ext cx="8692166" cy="6551802"/>
          </a:xfrm>
          <a:prstGeom prst="rect">
            <a:avLst/>
          </a:prstGeom>
        </p:spPr>
      </p:pic>
    </p:spTree>
    <p:extLst>
      <p:ext uri="{BB962C8B-B14F-4D97-AF65-F5344CB8AC3E}">
        <p14:creationId xmlns:p14="http://schemas.microsoft.com/office/powerpoint/2010/main" val="3123420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B7C53-85B3-4F99-BB1A-E7A87542FF9D}"/>
              </a:ext>
            </a:extLst>
          </p:cNvPr>
          <p:cNvSpPr>
            <a:spLocks noGrp="1"/>
          </p:cNvSpPr>
          <p:nvPr>
            <p:ph type="title"/>
          </p:nvPr>
        </p:nvSpPr>
        <p:spPr>
          <a:xfrm>
            <a:off x="838200" y="365127"/>
            <a:ext cx="10515600" cy="851278"/>
          </a:xfrm>
        </p:spPr>
        <p:txBody>
          <a:bodyPr/>
          <a:lstStyle/>
          <a:p>
            <a:r>
              <a:rPr lang="en-GB" dirty="0">
                <a:latin typeface="Arial Black" panose="020B0A04020102020204" pitchFamily="34" charset="0"/>
              </a:rPr>
              <a:t>Now, our robot should be finished</a:t>
            </a:r>
          </a:p>
        </p:txBody>
      </p:sp>
      <p:sp>
        <p:nvSpPr>
          <p:cNvPr id="3" name="Content Placeholder 2">
            <a:extLst>
              <a:ext uri="{FF2B5EF4-FFF2-40B4-BE49-F238E27FC236}">
                <a16:creationId xmlns:a16="http://schemas.microsoft.com/office/drawing/2014/main" id="{BECFD322-099F-4E2D-B56C-77B5DDEA05A4}"/>
              </a:ext>
            </a:extLst>
          </p:cNvPr>
          <p:cNvSpPr>
            <a:spLocks noGrp="1"/>
          </p:cNvSpPr>
          <p:nvPr>
            <p:ph idx="1"/>
          </p:nvPr>
        </p:nvSpPr>
        <p:spPr>
          <a:xfrm>
            <a:off x="838199" y="1422953"/>
            <a:ext cx="10839275" cy="5204350"/>
          </a:xfrm>
        </p:spPr>
        <p:txBody>
          <a:bodyPr/>
          <a:lstStyle/>
          <a:p>
            <a:pPr marL="0" indent="0">
              <a:buNone/>
            </a:pPr>
            <a:r>
              <a:rPr lang="en-GB" dirty="0">
                <a:latin typeface="Arial" panose="020B0604020202020204" pitchFamily="34" charset="0"/>
                <a:cs typeface="Arial" panose="020B0604020202020204" pitchFamily="34" charset="0"/>
              </a:rPr>
              <a:t>The car should be able to move forwards and backwards at any speed we choose.</a:t>
            </a:r>
          </a:p>
        </p:txBody>
      </p:sp>
    </p:spTree>
    <p:extLst>
      <p:ext uri="{BB962C8B-B14F-4D97-AF65-F5344CB8AC3E}">
        <p14:creationId xmlns:p14="http://schemas.microsoft.com/office/powerpoint/2010/main" val="19628787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B7C53-85B3-4F99-BB1A-E7A87542FF9D}"/>
              </a:ext>
            </a:extLst>
          </p:cNvPr>
          <p:cNvSpPr>
            <a:spLocks noGrp="1"/>
          </p:cNvSpPr>
          <p:nvPr>
            <p:ph type="title"/>
          </p:nvPr>
        </p:nvSpPr>
        <p:spPr>
          <a:xfrm>
            <a:off x="838200" y="365127"/>
            <a:ext cx="10515600" cy="851278"/>
          </a:xfrm>
        </p:spPr>
        <p:txBody>
          <a:bodyPr/>
          <a:lstStyle/>
          <a:p>
            <a:r>
              <a:rPr lang="en-GB" dirty="0">
                <a:latin typeface="Arial Black" panose="020B0A04020102020204" pitchFamily="34" charset="0"/>
              </a:rPr>
              <a:t>First, we need to check our robot</a:t>
            </a:r>
          </a:p>
        </p:txBody>
      </p:sp>
      <p:sp>
        <p:nvSpPr>
          <p:cNvPr id="3" name="Content Placeholder 2">
            <a:extLst>
              <a:ext uri="{FF2B5EF4-FFF2-40B4-BE49-F238E27FC236}">
                <a16:creationId xmlns:a16="http://schemas.microsoft.com/office/drawing/2014/main" id="{BECFD322-099F-4E2D-B56C-77B5DDEA05A4}"/>
              </a:ext>
            </a:extLst>
          </p:cNvPr>
          <p:cNvSpPr>
            <a:spLocks noGrp="1"/>
          </p:cNvSpPr>
          <p:nvPr>
            <p:ph idx="1"/>
          </p:nvPr>
        </p:nvSpPr>
        <p:spPr>
          <a:xfrm>
            <a:off x="838199" y="1422953"/>
            <a:ext cx="10839275" cy="5204350"/>
          </a:xfrm>
        </p:spPr>
        <p:txBody>
          <a:bodyPr/>
          <a:lstStyle/>
          <a:p>
            <a:pPr marL="0" indent="0">
              <a:buNone/>
            </a:pPr>
            <a:r>
              <a:rPr lang="en-GB" dirty="0">
                <a:latin typeface="Arial" panose="020B0604020202020204" pitchFamily="34" charset="0"/>
                <a:cs typeface="Arial" panose="020B0604020202020204" pitchFamily="34" charset="0"/>
              </a:rPr>
              <a:t>You may notice that your car gradually turns to one side when the car is moving forwards or backwards.</a:t>
            </a:r>
          </a:p>
          <a:p>
            <a:pPr marL="0" indent="0">
              <a:buNone/>
            </a:pPr>
            <a:r>
              <a:rPr lang="en-GB" dirty="0">
                <a:latin typeface="Arial" panose="020B0604020202020204" pitchFamily="34" charset="0"/>
                <a:cs typeface="Arial" panose="020B0604020202020204" pitchFamily="34" charset="0"/>
              </a:rPr>
              <a:t>This is because there is a small difference between the speeds of the motors.</a:t>
            </a:r>
          </a:p>
          <a:p>
            <a:pPr marL="0" indent="0">
              <a:buNone/>
            </a:pPr>
            <a:endParaRPr lang="en-GB" dirty="0">
              <a:latin typeface="Arial" panose="020B0604020202020204" pitchFamily="34" charset="0"/>
              <a:cs typeface="Arial" panose="020B0604020202020204" pitchFamily="34" charset="0"/>
            </a:endParaRPr>
          </a:p>
          <a:p>
            <a:pPr marL="0" indent="0">
              <a:buNone/>
            </a:pPr>
            <a:r>
              <a:rPr lang="en-GB" dirty="0">
                <a:latin typeface="Arial" panose="020B0604020202020204" pitchFamily="34" charset="0"/>
                <a:cs typeface="Arial" panose="020B0604020202020204" pitchFamily="34" charset="0"/>
              </a:rPr>
              <a:t>This is due to two reasons:</a:t>
            </a:r>
          </a:p>
          <a:p>
            <a:pPr marL="514350" indent="-514350">
              <a:buAutoNum type="arabicParenR"/>
            </a:pPr>
            <a:r>
              <a:rPr lang="en-GB" dirty="0">
                <a:latin typeface="Arial" panose="020B0604020202020204" pitchFamily="34" charset="0"/>
                <a:cs typeface="Arial" panose="020B0604020202020204" pitchFamily="34" charset="0"/>
              </a:rPr>
              <a:t>One motor may be getting less power than another due to a bad connection.</a:t>
            </a:r>
          </a:p>
          <a:p>
            <a:pPr marL="514350" indent="-514350">
              <a:buAutoNum type="arabicParenR"/>
            </a:pPr>
            <a:r>
              <a:rPr lang="en-GB" dirty="0">
                <a:latin typeface="Arial" panose="020B0604020202020204" pitchFamily="34" charset="0"/>
                <a:cs typeface="Arial" panose="020B0604020202020204" pitchFamily="34" charset="0"/>
              </a:rPr>
              <a:t>Components are not identical.  There are minor differences in how they perform.  We need to understand this and account for it.</a:t>
            </a:r>
          </a:p>
        </p:txBody>
      </p:sp>
    </p:spTree>
    <p:extLst>
      <p:ext uri="{BB962C8B-B14F-4D97-AF65-F5344CB8AC3E}">
        <p14:creationId xmlns:p14="http://schemas.microsoft.com/office/powerpoint/2010/main" val="2569843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B7C53-85B3-4F99-BB1A-E7A87542FF9D}"/>
              </a:ext>
            </a:extLst>
          </p:cNvPr>
          <p:cNvSpPr>
            <a:spLocks noGrp="1"/>
          </p:cNvSpPr>
          <p:nvPr>
            <p:ph type="title"/>
          </p:nvPr>
        </p:nvSpPr>
        <p:spPr>
          <a:xfrm>
            <a:off x="343949" y="365126"/>
            <a:ext cx="11769754" cy="775778"/>
          </a:xfrm>
        </p:spPr>
        <p:txBody>
          <a:bodyPr>
            <a:normAutofit fontScale="90000"/>
          </a:bodyPr>
          <a:lstStyle/>
          <a:p>
            <a:r>
              <a:rPr lang="en-GB" dirty="0">
                <a:latin typeface="Arial Black" panose="020B0A04020102020204" pitchFamily="34" charset="0"/>
              </a:rPr>
              <a:t>Second, we need to categorise our robot</a:t>
            </a:r>
          </a:p>
        </p:txBody>
      </p:sp>
      <p:sp>
        <p:nvSpPr>
          <p:cNvPr id="3" name="Content Placeholder 2">
            <a:extLst>
              <a:ext uri="{FF2B5EF4-FFF2-40B4-BE49-F238E27FC236}">
                <a16:creationId xmlns:a16="http://schemas.microsoft.com/office/drawing/2014/main" id="{BECFD322-099F-4E2D-B56C-77B5DDEA05A4}"/>
              </a:ext>
            </a:extLst>
          </p:cNvPr>
          <p:cNvSpPr>
            <a:spLocks noGrp="1"/>
          </p:cNvSpPr>
          <p:nvPr>
            <p:ph idx="1"/>
          </p:nvPr>
        </p:nvSpPr>
        <p:spPr>
          <a:xfrm>
            <a:off x="838199" y="1422953"/>
            <a:ext cx="10839275" cy="5204350"/>
          </a:xfrm>
        </p:spPr>
        <p:txBody>
          <a:bodyPr/>
          <a:lstStyle/>
          <a:p>
            <a:pPr marL="0" indent="0">
              <a:buNone/>
            </a:pPr>
            <a:r>
              <a:rPr lang="en-GB" dirty="0">
                <a:latin typeface="Arial" panose="020B0604020202020204" pitchFamily="34" charset="0"/>
                <a:cs typeface="Arial" panose="020B0604020202020204" pitchFamily="34" charset="0"/>
              </a:rPr>
              <a:t>If our robot turns left, we need to reduce the speed of the right motor a little.  We can fine-tune the speeds of the motors until our robot runs in a straight line at its best speed.</a:t>
            </a:r>
          </a:p>
          <a:p>
            <a:pPr marL="0" indent="0">
              <a:buNone/>
            </a:pPr>
            <a:r>
              <a:rPr lang="en-GB" dirty="0">
                <a:latin typeface="Arial" panose="020B0604020202020204" pitchFamily="34" charset="0"/>
                <a:cs typeface="Arial" panose="020B0604020202020204" pitchFamily="34" charset="0"/>
              </a:rPr>
              <a:t>We can then measure this performance by timing how long it takes to travel a set distance.  We have chosen to use 10 floor squares, which is around 6m.  We can use the clock feature on our phones to time this distance.  We can run the experiment 3 times and average the results to get a speed in meters per second.</a:t>
            </a:r>
          </a:p>
          <a:p>
            <a:pPr marL="0" indent="0">
              <a:buNone/>
            </a:pPr>
            <a:r>
              <a:rPr lang="en-GB" dirty="0">
                <a:latin typeface="Arial" panose="020B0604020202020204" pitchFamily="34" charset="0"/>
                <a:cs typeface="Arial" panose="020B0604020202020204" pitchFamily="34" charset="0"/>
              </a:rPr>
              <a:t>Then we can try using different speeds.</a:t>
            </a:r>
          </a:p>
          <a:p>
            <a:pPr marL="0" indent="0">
              <a:buNone/>
            </a:pPr>
            <a:r>
              <a:rPr lang="en-GB" dirty="0">
                <a:latin typeface="Arial" panose="020B0604020202020204" pitchFamily="34" charset="0"/>
                <a:cs typeface="Arial" panose="020B0604020202020204" pitchFamily="34" charset="0"/>
              </a:rPr>
              <a:t>What speed is needed for the robot to start.  How fast is that?</a:t>
            </a:r>
          </a:p>
          <a:p>
            <a:pPr marL="0" indent="0">
              <a:buNone/>
            </a:pPr>
            <a:r>
              <a:rPr lang="en-GB" dirty="0">
                <a:latin typeface="Arial" panose="020B0604020202020204" pitchFamily="34" charset="0"/>
                <a:cs typeface="Arial" panose="020B0604020202020204" pitchFamily="34" charset="0"/>
              </a:rPr>
              <a:t>We can create a table of results, and even plot a graph.</a:t>
            </a:r>
          </a:p>
          <a:p>
            <a:pPr marL="0" indent="0">
              <a:buNone/>
            </a:pP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34853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DD01C360-68E5-472A-9C9E-CC0DFF5A552E}"/>
              </a:ext>
            </a:extLst>
          </p:cNvPr>
          <p:cNvGraphicFramePr>
            <a:graphicFrameLocks noGrp="1"/>
          </p:cNvGraphicFramePr>
          <p:nvPr>
            <p:extLst>
              <p:ext uri="{D42A27DB-BD31-4B8C-83A1-F6EECF244321}">
                <p14:modId xmlns:p14="http://schemas.microsoft.com/office/powerpoint/2010/main" val="964334340"/>
              </p:ext>
            </p:extLst>
          </p:nvPr>
        </p:nvGraphicFramePr>
        <p:xfrm>
          <a:off x="118845" y="2665912"/>
          <a:ext cx="11954310" cy="4036890"/>
        </p:xfrm>
        <a:graphic>
          <a:graphicData uri="http://schemas.openxmlformats.org/drawingml/2006/table">
            <a:tbl>
              <a:tblPr firstRow="1" bandRow="1">
                <a:tableStyleId>{5C22544A-7EE6-4342-B048-85BDC9FD1C3A}</a:tableStyleId>
              </a:tblPr>
              <a:tblGrid>
                <a:gridCol w="2390862">
                  <a:extLst>
                    <a:ext uri="{9D8B030D-6E8A-4147-A177-3AD203B41FA5}">
                      <a16:colId xmlns:a16="http://schemas.microsoft.com/office/drawing/2014/main" val="3801090193"/>
                    </a:ext>
                  </a:extLst>
                </a:gridCol>
                <a:gridCol w="2130804">
                  <a:extLst>
                    <a:ext uri="{9D8B030D-6E8A-4147-A177-3AD203B41FA5}">
                      <a16:colId xmlns:a16="http://schemas.microsoft.com/office/drawing/2014/main" val="2092064328"/>
                    </a:ext>
                  </a:extLst>
                </a:gridCol>
                <a:gridCol w="2214693">
                  <a:extLst>
                    <a:ext uri="{9D8B030D-6E8A-4147-A177-3AD203B41FA5}">
                      <a16:colId xmlns:a16="http://schemas.microsoft.com/office/drawing/2014/main" val="2801996987"/>
                    </a:ext>
                  </a:extLst>
                </a:gridCol>
                <a:gridCol w="2382474">
                  <a:extLst>
                    <a:ext uri="{9D8B030D-6E8A-4147-A177-3AD203B41FA5}">
                      <a16:colId xmlns:a16="http://schemas.microsoft.com/office/drawing/2014/main" val="1198356237"/>
                    </a:ext>
                  </a:extLst>
                </a:gridCol>
                <a:gridCol w="2835477">
                  <a:extLst>
                    <a:ext uri="{9D8B030D-6E8A-4147-A177-3AD203B41FA5}">
                      <a16:colId xmlns:a16="http://schemas.microsoft.com/office/drawing/2014/main" val="974248271"/>
                    </a:ext>
                  </a:extLst>
                </a:gridCol>
              </a:tblGrid>
              <a:tr h="672815">
                <a:tc>
                  <a:txBody>
                    <a:bodyPr/>
                    <a:lstStyle/>
                    <a:p>
                      <a:pPr algn="ctr"/>
                      <a:r>
                        <a:rPr lang="en-GB" sz="2800" dirty="0">
                          <a:latin typeface="Arial" panose="020B0604020202020204" pitchFamily="34" charset="0"/>
                          <a:cs typeface="Arial" panose="020B0604020202020204" pitchFamily="34" charset="0"/>
                        </a:rPr>
                        <a:t>Motor speed</a:t>
                      </a:r>
                    </a:p>
                  </a:txBody>
                  <a:tcPr/>
                </a:tc>
                <a:tc>
                  <a:txBody>
                    <a:bodyPr/>
                    <a:lstStyle/>
                    <a:p>
                      <a:pPr algn="ctr"/>
                      <a:r>
                        <a:rPr lang="en-GB" sz="2800" dirty="0">
                          <a:latin typeface="Arial" panose="020B0604020202020204" pitchFamily="34" charset="0"/>
                          <a:cs typeface="Arial" panose="020B0604020202020204" pitchFamily="34" charset="0"/>
                        </a:rPr>
                        <a:t>Time 1</a:t>
                      </a:r>
                    </a:p>
                  </a:txBody>
                  <a:tcPr/>
                </a:tc>
                <a:tc>
                  <a:txBody>
                    <a:bodyPr/>
                    <a:lstStyle/>
                    <a:p>
                      <a:pPr algn="ctr"/>
                      <a:r>
                        <a:rPr lang="en-GB" sz="2800" dirty="0">
                          <a:latin typeface="Arial" panose="020B0604020202020204" pitchFamily="34" charset="0"/>
                          <a:cs typeface="Arial" panose="020B0604020202020204" pitchFamily="34" charset="0"/>
                        </a:rPr>
                        <a:t>Time 2</a:t>
                      </a:r>
                    </a:p>
                  </a:txBody>
                  <a:tcPr/>
                </a:tc>
                <a:tc>
                  <a:txBody>
                    <a:bodyPr/>
                    <a:lstStyle/>
                    <a:p>
                      <a:pPr algn="ctr"/>
                      <a:r>
                        <a:rPr lang="en-GB" sz="2800" dirty="0">
                          <a:latin typeface="Arial" panose="020B0604020202020204" pitchFamily="34" charset="0"/>
                          <a:cs typeface="Arial" panose="020B0604020202020204" pitchFamily="34" charset="0"/>
                        </a:rPr>
                        <a:t>Time 3</a:t>
                      </a:r>
                    </a:p>
                  </a:txBody>
                  <a:tcPr/>
                </a:tc>
                <a:tc>
                  <a:txBody>
                    <a:bodyPr/>
                    <a:lstStyle/>
                    <a:p>
                      <a:pPr algn="ctr"/>
                      <a:r>
                        <a:rPr lang="en-GB" sz="2800" dirty="0">
                          <a:latin typeface="Arial" panose="020B0604020202020204" pitchFamily="34" charset="0"/>
                          <a:cs typeface="Arial" panose="020B0604020202020204" pitchFamily="34" charset="0"/>
                        </a:rPr>
                        <a:t>Average speed</a:t>
                      </a:r>
                    </a:p>
                  </a:txBody>
                  <a:tcPr/>
                </a:tc>
                <a:extLst>
                  <a:ext uri="{0D108BD9-81ED-4DB2-BD59-A6C34878D82A}">
                    <a16:rowId xmlns:a16="http://schemas.microsoft.com/office/drawing/2014/main" val="1708673855"/>
                  </a:ext>
                </a:extLst>
              </a:tr>
              <a:tr h="672815">
                <a:tc>
                  <a:txBody>
                    <a:bodyPr/>
                    <a:lstStyle/>
                    <a:p>
                      <a:r>
                        <a:rPr lang="en-GB" sz="2800" dirty="0">
                          <a:latin typeface="Arial" panose="020B0604020202020204" pitchFamily="34" charset="0"/>
                          <a:cs typeface="Arial" panose="020B0604020202020204" pitchFamily="34" charset="0"/>
                        </a:rPr>
                        <a:t>0</a:t>
                      </a:r>
                    </a:p>
                  </a:txBody>
                  <a:tcPr/>
                </a:tc>
                <a:tc>
                  <a:txBody>
                    <a:bodyPr/>
                    <a:lstStyle/>
                    <a:p>
                      <a:endParaRPr lang="en-GB" sz="2800" dirty="0">
                        <a:latin typeface="Arial" panose="020B0604020202020204" pitchFamily="34" charset="0"/>
                        <a:cs typeface="Arial" panose="020B0604020202020204" pitchFamily="34" charset="0"/>
                      </a:endParaRPr>
                    </a:p>
                  </a:txBody>
                  <a:tcPr/>
                </a:tc>
                <a:tc>
                  <a:txBody>
                    <a:bodyPr/>
                    <a:lstStyle/>
                    <a:p>
                      <a:endParaRPr lang="en-GB" sz="2800">
                        <a:latin typeface="Arial" panose="020B0604020202020204" pitchFamily="34" charset="0"/>
                        <a:cs typeface="Arial" panose="020B0604020202020204" pitchFamily="34" charset="0"/>
                      </a:endParaRPr>
                    </a:p>
                  </a:txBody>
                  <a:tcPr/>
                </a:tc>
                <a:tc>
                  <a:txBody>
                    <a:bodyPr/>
                    <a:lstStyle/>
                    <a:p>
                      <a:endParaRPr lang="en-GB" sz="2800">
                        <a:latin typeface="Arial" panose="020B0604020202020204" pitchFamily="34" charset="0"/>
                        <a:cs typeface="Arial" panose="020B0604020202020204" pitchFamily="34" charset="0"/>
                      </a:endParaRPr>
                    </a:p>
                  </a:txBody>
                  <a:tcPr/>
                </a:tc>
                <a:tc>
                  <a:txBody>
                    <a:bodyPr/>
                    <a:lstStyle/>
                    <a:p>
                      <a:endParaRPr lang="en-GB" sz="28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367469496"/>
                  </a:ext>
                </a:extLst>
              </a:tr>
              <a:tr h="672815">
                <a:tc>
                  <a:txBody>
                    <a:bodyPr/>
                    <a:lstStyle/>
                    <a:p>
                      <a:endParaRPr lang="en-GB" sz="2800" dirty="0">
                        <a:latin typeface="Arial" panose="020B0604020202020204" pitchFamily="34" charset="0"/>
                        <a:cs typeface="Arial" panose="020B0604020202020204" pitchFamily="34" charset="0"/>
                      </a:endParaRPr>
                    </a:p>
                  </a:txBody>
                  <a:tcPr/>
                </a:tc>
                <a:tc>
                  <a:txBody>
                    <a:bodyPr/>
                    <a:lstStyle/>
                    <a:p>
                      <a:endParaRPr lang="en-GB" sz="2800" dirty="0">
                        <a:latin typeface="Arial" panose="020B0604020202020204" pitchFamily="34" charset="0"/>
                        <a:cs typeface="Arial" panose="020B0604020202020204" pitchFamily="34" charset="0"/>
                      </a:endParaRPr>
                    </a:p>
                  </a:txBody>
                  <a:tcPr/>
                </a:tc>
                <a:tc>
                  <a:txBody>
                    <a:bodyPr/>
                    <a:lstStyle/>
                    <a:p>
                      <a:endParaRPr lang="en-GB" sz="2800" dirty="0">
                        <a:latin typeface="Arial" panose="020B0604020202020204" pitchFamily="34" charset="0"/>
                        <a:cs typeface="Arial" panose="020B0604020202020204" pitchFamily="34" charset="0"/>
                      </a:endParaRPr>
                    </a:p>
                  </a:txBody>
                  <a:tcPr/>
                </a:tc>
                <a:tc>
                  <a:txBody>
                    <a:bodyPr/>
                    <a:lstStyle/>
                    <a:p>
                      <a:endParaRPr lang="en-GB" sz="2800">
                        <a:latin typeface="Arial" panose="020B0604020202020204" pitchFamily="34" charset="0"/>
                        <a:cs typeface="Arial" panose="020B0604020202020204" pitchFamily="34" charset="0"/>
                      </a:endParaRPr>
                    </a:p>
                  </a:txBody>
                  <a:tcPr/>
                </a:tc>
                <a:tc>
                  <a:txBody>
                    <a:bodyPr/>
                    <a:lstStyle/>
                    <a:p>
                      <a:endParaRPr lang="en-GB" sz="28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174588153"/>
                  </a:ext>
                </a:extLst>
              </a:tr>
              <a:tr h="672815">
                <a:tc>
                  <a:txBody>
                    <a:bodyPr/>
                    <a:lstStyle/>
                    <a:p>
                      <a:endParaRPr lang="en-GB" sz="2800">
                        <a:latin typeface="Arial" panose="020B0604020202020204" pitchFamily="34" charset="0"/>
                        <a:cs typeface="Arial" panose="020B0604020202020204" pitchFamily="34" charset="0"/>
                      </a:endParaRPr>
                    </a:p>
                  </a:txBody>
                  <a:tcPr/>
                </a:tc>
                <a:tc>
                  <a:txBody>
                    <a:bodyPr/>
                    <a:lstStyle/>
                    <a:p>
                      <a:endParaRPr lang="en-GB" sz="2800">
                        <a:latin typeface="Arial" panose="020B0604020202020204" pitchFamily="34" charset="0"/>
                        <a:cs typeface="Arial" panose="020B0604020202020204" pitchFamily="34" charset="0"/>
                      </a:endParaRPr>
                    </a:p>
                  </a:txBody>
                  <a:tcPr/>
                </a:tc>
                <a:tc>
                  <a:txBody>
                    <a:bodyPr/>
                    <a:lstStyle/>
                    <a:p>
                      <a:endParaRPr lang="en-GB" sz="2800" dirty="0">
                        <a:latin typeface="Arial" panose="020B0604020202020204" pitchFamily="34" charset="0"/>
                        <a:cs typeface="Arial" panose="020B0604020202020204" pitchFamily="34" charset="0"/>
                      </a:endParaRPr>
                    </a:p>
                  </a:txBody>
                  <a:tcPr/>
                </a:tc>
                <a:tc>
                  <a:txBody>
                    <a:bodyPr/>
                    <a:lstStyle/>
                    <a:p>
                      <a:endParaRPr lang="en-GB" sz="2800">
                        <a:latin typeface="Arial" panose="020B0604020202020204" pitchFamily="34" charset="0"/>
                        <a:cs typeface="Arial" panose="020B0604020202020204" pitchFamily="34" charset="0"/>
                      </a:endParaRPr>
                    </a:p>
                  </a:txBody>
                  <a:tcPr/>
                </a:tc>
                <a:tc>
                  <a:txBody>
                    <a:bodyPr/>
                    <a:lstStyle/>
                    <a:p>
                      <a:endParaRPr lang="en-GB" sz="28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537037498"/>
                  </a:ext>
                </a:extLst>
              </a:tr>
              <a:tr h="672815">
                <a:tc>
                  <a:txBody>
                    <a:bodyPr/>
                    <a:lstStyle/>
                    <a:p>
                      <a:endParaRPr lang="en-GB" sz="2800">
                        <a:latin typeface="Arial" panose="020B0604020202020204" pitchFamily="34" charset="0"/>
                        <a:cs typeface="Arial" panose="020B0604020202020204" pitchFamily="34" charset="0"/>
                      </a:endParaRPr>
                    </a:p>
                  </a:txBody>
                  <a:tcPr/>
                </a:tc>
                <a:tc>
                  <a:txBody>
                    <a:bodyPr/>
                    <a:lstStyle/>
                    <a:p>
                      <a:endParaRPr lang="en-GB" sz="2800">
                        <a:latin typeface="Arial" panose="020B0604020202020204" pitchFamily="34" charset="0"/>
                        <a:cs typeface="Arial" panose="020B0604020202020204" pitchFamily="34" charset="0"/>
                      </a:endParaRPr>
                    </a:p>
                  </a:txBody>
                  <a:tcPr/>
                </a:tc>
                <a:tc>
                  <a:txBody>
                    <a:bodyPr/>
                    <a:lstStyle/>
                    <a:p>
                      <a:endParaRPr lang="en-GB" sz="2800">
                        <a:latin typeface="Arial" panose="020B0604020202020204" pitchFamily="34" charset="0"/>
                        <a:cs typeface="Arial" panose="020B0604020202020204" pitchFamily="34" charset="0"/>
                      </a:endParaRPr>
                    </a:p>
                  </a:txBody>
                  <a:tcPr/>
                </a:tc>
                <a:tc>
                  <a:txBody>
                    <a:bodyPr/>
                    <a:lstStyle/>
                    <a:p>
                      <a:endParaRPr lang="en-GB" sz="2800" dirty="0">
                        <a:latin typeface="Arial" panose="020B0604020202020204" pitchFamily="34" charset="0"/>
                        <a:cs typeface="Arial" panose="020B0604020202020204" pitchFamily="34" charset="0"/>
                      </a:endParaRPr>
                    </a:p>
                  </a:txBody>
                  <a:tcPr/>
                </a:tc>
                <a:tc>
                  <a:txBody>
                    <a:bodyPr/>
                    <a:lstStyle/>
                    <a:p>
                      <a:endParaRPr lang="en-GB" sz="28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52166791"/>
                  </a:ext>
                </a:extLst>
              </a:tr>
              <a:tr h="672815">
                <a:tc>
                  <a:txBody>
                    <a:bodyPr/>
                    <a:lstStyle/>
                    <a:p>
                      <a:r>
                        <a:rPr lang="en-GB" sz="2800" dirty="0">
                          <a:latin typeface="Arial" panose="020B0604020202020204" pitchFamily="34" charset="0"/>
                          <a:cs typeface="Arial" panose="020B0604020202020204" pitchFamily="34" charset="0"/>
                        </a:rPr>
                        <a:t>255</a:t>
                      </a:r>
                    </a:p>
                  </a:txBody>
                  <a:tcPr/>
                </a:tc>
                <a:tc>
                  <a:txBody>
                    <a:bodyPr/>
                    <a:lstStyle/>
                    <a:p>
                      <a:endParaRPr lang="en-GB" sz="2800">
                        <a:latin typeface="Arial" panose="020B0604020202020204" pitchFamily="34" charset="0"/>
                        <a:cs typeface="Arial" panose="020B0604020202020204" pitchFamily="34" charset="0"/>
                      </a:endParaRPr>
                    </a:p>
                  </a:txBody>
                  <a:tcPr/>
                </a:tc>
                <a:tc>
                  <a:txBody>
                    <a:bodyPr/>
                    <a:lstStyle/>
                    <a:p>
                      <a:endParaRPr lang="en-GB" sz="2800">
                        <a:latin typeface="Arial" panose="020B0604020202020204" pitchFamily="34" charset="0"/>
                        <a:cs typeface="Arial" panose="020B0604020202020204" pitchFamily="34" charset="0"/>
                      </a:endParaRPr>
                    </a:p>
                  </a:txBody>
                  <a:tcPr/>
                </a:tc>
                <a:tc>
                  <a:txBody>
                    <a:bodyPr/>
                    <a:lstStyle/>
                    <a:p>
                      <a:endParaRPr lang="en-GB" sz="2800" dirty="0">
                        <a:latin typeface="Arial" panose="020B0604020202020204" pitchFamily="34" charset="0"/>
                        <a:cs typeface="Arial" panose="020B0604020202020204" pitchFamily="34" charset="0"/>
                      </a:endParaRPr>
                    </a:p>
                  </a:txBody>
                  <a:tcPr/>
                </a:tc>
                <a:tc>
                  <a:txBody>
                    <a:bodyPr/>
                    <a:lstStyle/>
                    <a:p>
                      <a:endParaRPr lang="en-GB" sz="2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167040074"/>
                  </a:ext>
                </a:extLst>
              </a:tr>
            </a:tbl>
          </a:graphicData>
        </a:graphic>
      </p:graphicFrame>
      <p:sp>
        <p:nvSpPr>
          <p:cNvPr id="7" name="Title 1">
            <a:extLst>
              <a:ext uri="{FF2B5EF4-FFF2-40B4-BE49-F238E27FC236}">
                <a16:creationId xmlns:a16="http://schemas.microsoft.com/office/drawing/2014/main" id="{EF57D9F0-357D-4DE8-AA6B-81261E4D7601}"/>
              </a:ext>
            </a:extLst>
          </p:cNvPr>
          <p:cNvSpPr>
            <a:spLocks noGrp="1"/>
          </p:cNvSpPr>
          <p:nvPr>
            <p:ph type="title"/>
          </p:nvPr>
        </p:nvSpPr>
        <p:spPr>
          <a:xfrm>
            <a:off x="343949" y="365126"/>
            <a:ext cx="11769754" cy="775778"/>
          </a:xfrm>
        </p:spPr>
        <p:txBody>
          <a:bodyPr>
            <a:normAutofit/>
          </a:bodyPr>
          <a:lstStyle/>
          <a:p>
            <a:r>
              <a:rPr lang="en-GB" dirty="0">
                <a:latin typeface="Arial Black" panose="020B0A04020102020204" pitchFamily="34" charset="0"/>
              </a:rPr>
              <a:t>example table</a:t>
            </a:r>
          </a:p>
        </p:txBody>
      </p:sp>
    </p:spTree>
    <p:extLst>
      <p:ext uri="{BB962C8B-B14F-4D97-AF65-F5344CB8AC3E}">
        <p14:creationId xmlns:p14="http://schemas.microsoft.com/office/powerpoint/2010/main" val="448038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B7C53-85B3-4F99-BB1A-E7A87542FF9D}"/>
              </a:ext>
            </a:extLst>
          </p:cNvPr>
          <p:cNvSpPr>
            <a:spLocks noGrp="1"/>
          </p:cNvSpPr>
          <p:nvPr>
            <p:ph type="title"/>
          </p:nvPr>
        </p:nvSpPr>
        <p:spPr>
          <a:xfrm>
            <a:off x="343949" y="365126"/>
            <a:ext cx="11769754" cy="775778"/>
          </a:xfrm>
        </p:spPr>
        <p:txBody>
          <a:bodyPr>
            <a:normAutofit/>
          </a:bodyPr>
          <a:lstStyle/>
          <a:p>
            <a:r>
              <a:rPr lang="en-GB" dirty="0">
                <a:latin typeface="Arial Black" panose="020B0A04020102020204" pitchFamily="34" charset="0"/>
              </a:rPr>
              <a:t>Taking it further</a:t>
            </a:r>
          </a:p>
        </p:txBody>
      </p:sp>
      <p:sp>
        <p:nvSpPr>
          <p:cNvPr id="3" name="Content Placeholder 2">
            <a:extLst>
              <a:ext uri="{FF2B5EF4-FFF2-40B4-BE49-F238E27FC236}">
                <a16:creationId xmlns:a16="http://schemas.microsoft.com/office/drawing/2014/main" id="{BECFD322-099F-4E2D-B56C-77B5DDEA05A4}"/>
              </a:ext>
            </a:extLst>
          </p:cNvPr>
          <p:cNvSpPr>
            <a:spLocks noGrp="1"/>
          </p:cNvSpPr>
          <p:nvPr>
            <p:ph idx="1"/>
          </p:nvPr>
        </p:nvSpPr>
        <p:spPr>
          <a:xfrm>
            <a:off x="838199" y="1422953"/>
            <a:ext cx="10839275" cy="5204350"/>
          </a:xfrm>
        </p:spPr>
        <p:txBody>
          <a:bodyPr/>
          <a:lstStyle/>
          <a:p>
            <a:pPr marL="0" indent="0">
              <a:buNone/>
            </a:pPr>
            <a:r>
              <a:rPr lang="en-GB" dirty="0">
                <a:latin typeface="Arial" panose="020B0604020202020204" pitchFamily="34" charset="0"/>
                <a:cs typeface="Arial" panose="020B0604020202020204" pitchFamily="34" charset="0"/>
              </a:rPr>
              <a:t>So far, we have completed the basics.  We have built our robot and categorised it.  This is all very useful, but we can use our imagination to change things even more.</a:t>
            </a:r>
          </a:p>
          <a:p>
            <a:pPr marL="0" indent="0">
              <a:buNone/>
            </a:pP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1070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0BD7F-B445-4AD3-9346-CA5F50D4CAD7}"/>
              </a:ext>
            </a:extLst>
          </p:cNvPr>
          <p:cNvSpPr>
            <a:spLocks noGrp="1"/>
          </p:cNvSpPr>
          <p:nvPr>
            <p:ph type="ctrTitle"/>
          </p:nvPr>
        </p:nvSpPr>
        <p:spPr>
          <a:xfrm>
            <a:off x="190150" y="167778"/>
            <a:ext cx="11811699" cy="1681163"/>
          </a:xfrm>
        </p:spPr>
        <p:txBody>
          <a:bodyPr>
            <a:normAutofit fontScale="90000"/>
          </a:bodyPr>
          <a:lstStyle/>
          <a:p>
            <a:r>
              <a:rPr lang="en-US" dirty="0">
                <a:latin typeface="Arial Black" panose="020B0A04020102020204" pitchFamily="34" charset="0"/>
              </a:rPr>
              <a:t>We know that we can control our robot speed with 6 pins</a:t>
            </a:r>
            <a:endParaRPr lang="en-GB" dirty="0">
              <a:latin typeface="Arial Black" panose="020B0A04020102020204" pitchFamily="34" charset="0"/>
            </a:endParaRPr>
          </a:p>
        </p:txBody>
      </p:sp>
      <p:sp>
        <p:nvSpPr>
          <p:cNvPr id="4" name="TextBox 3">
            <a:extLst>
              <a:ext uri="{FF2B5EF4-FFF2-40B4-BE49-F238E27FC236}">
                <a16:creationId xmlns:a16="http://schemas.microsoft.com/office/drawing/2014/main" id="{3E9872F7-997D-4B95-B8C3-0F11A2355CCD}"/>
              </a:ext>
            </a:extLst>
          </p:cNvPr>
          <p:cNvSpPr txBox="1"/>
          <p:nvPr/>
        </p:nvSpPr>
        <p:spPr>
          <a:xfrm>
            <a:off x="1023457" y="2969702"/>
            <a:ext cx="2936147" cy="2677656"/>
          </a:xfrm>
          <a:prstGeom prst="rect">
            <a:avLst/>
          </a:prstGeom>
          <a:noFill/>
          <a:ln w="76200">
            <a:solidFill>
              <a:schemeClr val="tx1"/>
            </a:solidFill>
          </a:ln>
        </p:spPr>
        <p:txBody>
          <a:bodyPr wrap="square" rtlCol="0">
            <a:spAutoFit/>
          </a:bodyPr>
          <a:lstStyle/>
          <a:p>
            <a:r>
              <a:rPr lang="en-US" sz="2800" dirty="0"/>
              <a:t>Pin 9 -&gt; ENA</a:t>
            </a:r>
          </a:p>
          <a:p>
            <a:r>
              <a:rPr lang="en-US" sz="2800" dirty="0"/>
              <a:t>Pin 2 -&gt; IN1</a:t>
            </a:r>
          </a:p>
          <a:p>
            <a:r>
              <a:rPr lang="en-US" sz="2800" dirty="0"/>
              <a:t>Pin 3 -&gt; IN2</a:t>
            </a:r>
          </a:p>
          <a:p>
            <a:r>
              <a:rPr lang="en-US" sz="2800" dirty="0"/>
              <a:t>Pin 4 -&gt; IN3</a:t>
            </a:r>
          </a:p>
          <a:p>
            <a:r>
              <a:rPr lang="en-US" sz="2800" dirty="0"/>
              <a:t>Pin 5 -&gt; IN4</a:t>
            </a:r>
          </a:p>
          <a:p>
            <a:r>
              <a:rPr lang="en-US" sz="2800" dirty="0"/>
              <a:t>Pin 10 -&gt; ENB</a:t>
            </a:r>
            <a:endParaRPr lang="en-GB" sz="2800" dirty="0"/>
          </a:p>
        </p:txBody>
      </p:sp>
      <p:sp>
        <p:nvSpPr>
          <p:cNvPr id="5" name="TextBox 4">
            <a:extLst>
              <a:ext uri="{FF2B5EF4-FFF2-40B4-BE49-F238E27FC236}">
                <a16:creationId xmlns:a16="http://schemas.microsoft.com/office/drawing/2014/main" id="{319CFEB9-8731-46A8-AE11-D045AC434F22}"/>
              </a:ext>
            </a:extLst>
          </p:cNvPr>
          <p:cNvSpPr txBox="1"/>
          <p:nvPr/>
        </p:nvSpPr>
        <p:spPr>
          <a:xfrm>
            <a:off x="4681057" y="2969702"/>
            <a:ext cx="5444455" cy="2246769"/>
          </a:xfrm>
          <a:prstGeom prst="rect">
            <a:avLst/>
          </a:prstGeom>
          <a:noFill/>
        </p:spPr>
        <p:txBody>
          <a:bodyPr wrap="square" rtlCol="0">
            <a:spAutoFit/>
          </a:bodyPr>
          <a:lstStyle/>
          <a:p>
            <a:r>
              <a:rPr lang="en-US" sz="2800" dirty="0">
                <a:latin typeface="Arial" panose="020B0604020202020204" pitchFamily="34" charset="0"/>
                <a:cs typeface="Arial" panose="020B0604020202020204" pitchFamily="34" charset="0"/>
              </a:rPr>
              <a:t>But is there a way to use less pins?  Our Arduino only has 14 digital pins.  When we add sensors, LEDs and more, we can quickly run out of pins.</a:t>
            </a:r>
            <a:endParaRPr lang="en-GB"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975976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0BD7F-B445-4AD3-9346-CA5F50D4CAD7}"/>
              </a:ext>
            </a:extLst>
          </p:cNvPr>
          <p:cNvSpPr>
            <a:spLocks noGrp="1"/>
          </p:cNvSpPr>
          <p:nvPr>
            <p:ph type="ctrTitle"/>
          </p:nvPr>
        </p:nvSpPr>
        <p:spPr/>
        <p:txBody>
          <a:bodyPr/>
          <a:lstStyle/>
          <a:p>
            <a:r>
              <a:rPr lang="en-US" dirty="0"/>
              <a:t>Can we control our robot speed with only 5 pins? </a:t>
            </a:r>
            <a:endParaRPr lang="en-GB" dirty="0"/>
          </a:p>
        </p:txBody>
      </p:sp>
    </p:spTree>
    <p:extLst>
      <p:ext uri="{BB962C8B-B14F-4D97-AF65-F5344CB8AC3E}">
        <p14:creationId xmlns:p14="http://schemas.microsoft.com/office/powerpoint/2010/main" val="35290878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62C76-169F-4FAF-8B98-082796FEB25D}"/>
              </a:ext>
            </a:extLst>
          </p:cNvPr>
          <p:cNvSpPr>
            <a:spLocks noGrp="1"/>
          </p:cNvSpPr>
          <p:nvPr>
            <p:ph type="title"/>
          </p:nvPr>
        </p:nvSpPr>
        <p:spPr>
          <a:xfrm>
            <a:off x="838200" y="365125"/>
            <a:ext cx="10515600" cy="599609"/>
          </a:xfrm>
        </p:spPr>
        <p:txBody>
          <a:bodyPr>
            <a:normAutofit fontScale="90000"/>
          </a:bodyPr>
          <a:lstStyle/>
          <a:p>
            <a:r>
              <a:rPr lang="en-US" dirty="0">
                <a:latin typeface="Arial Black" panose="020B0A04020102020204" pitchFamily="34" charset="0"/>
              </a:rPr>
              <a:t>Yes, we can</a:t>
            </a:r>
            <a:endParaRPr lang="en-GB" dirty="0">
              <a:latin typeface="Arial Black" panose="020B0A04020102020204" pitchFamily="34" charset="0"/>
            </a:endParaRPr>
          </a:p>
        </p:txBody>
      </p:sp>
      <p:sp>
        <p:nvSpPr>
          <p:cNvPr id="3" name="Content Placeholder 2">
            <a:extLst>
              <a:ext uri="{FF2B5EF4-FFF2-40B4-BE49-F238E27FC236}">
                <a16:creationId xmlns:a16="http://schemas.microsoft.com/office/drawing/2014/main" id="{39808D28-77E1-4A3A-B1A5-1D50A75865CD}"/>
              </a:ext>
            </a:extLst>
          </p:cNvPr>
          <p:cNvSpPr>
            <a:spLocks noGrp="1"/>
          </p:cNvSpPr>
          <p:nvPr>
            <p:ph idx="1"/>
          </p:nvPr>
        </p:nvSpPr>
        <p:spPr>
          <a:xfrm>
            <a:off x="838200" y="1124125"/>
            <a:ext cx="10515600" cy="5052838"/>
          </a:xfrm>
        </p:spPr>
        <p:txBody>
          <a:bodyPr>
            <a:normAutofit/>
          </a:bodyPr>
          <a:lstStyle/>
          <a:p>
            <a:pPr marL="0" indent="0">
              <a:buNone/>
            </a:pPr>
            <a:r>
              <a:rPr lang="en-US" dirty="0">
                <a:latin typeface="Arial" panose="020B0604020202020204" pitchFamily="34" charset="0"/>
                <a:cs typeface="Arial" panose="020B0604020202020204" pitchFamily="34" charset="0"/>
              </a:rPr>
              <a:t>We can do it, but we lose flexibility.  We have to connect one of our Arduino pins to two inputs instead of 1.</a:t>
            </a:r>
          </a:p>
          <a:p>
            <a:pPr marL="0" indent="0">
              <a:buNone/>
            </a:pPr>
            <a:r>
              <a:rPr lang="en-US" dirty="0">
                <a:latin typeface="Arial" panose="020B0604020202020204" pitchFamily="34" charset="0"/>
                <a:cs typeface="Arial" panose="020B0604020202020204" pitchFamily="34" charset="0"/>
              </a:rPr>
              <a:t>We have different options, what are their effects?</a:t>
            </a:r>
          </a:p>
          <a:p>
            <a:pPr marL="514350" indent="-514350">
              <a:buAutoNum type="alphaUcParenR"/>
            </a:pPr>
            <a:r>
              <a:rPr lang="en-GB" dirty="0">
                <a:latin typeface="Arial" panose="020B0604020202020204" pitchFamily="34" charset="0"/>
                <a:cs typeface="Arial" panose="020B0604020202020204" pitchFamily="34" charset="0"/>
              </a:rPr>
              <a:t>ENA and ENB			H) ENA and IN3</a:t>
            </a:r>
          </a:p>
          <a:p>
            <a:pPr marL="514350" indent="-514350">
              <a:buAutoNum type="alphaUcParenR"/>
            </a:pPr>
            <a:r>
              <a:rPr lang="en-GB" dirty="0">
                <a:latin typeface="Arial" panose="020B0604020202020204" pitchFamily="34" charset="0"/>
                <a:cs typeface="Arial" panose="020B0604020202020204" pitchFamily="34" charset="0"/>
              </a:rPr>
              <a:t>IN1 and IN3				I)  ENA and IN4</a:t>
            </a:r>
          </a:p>
          <a:p>
            <a:pPr marL="514350" indent="-514350">
              <a:buAutoNum type="alphaUcParenR"/>
            </a:pPr>
            <a:r>
              <a:rPr lang="en-GB" dirty="0">
                <a:latin typeface="Arial" panose="020B0604020202020204" pitchFamily="34" charset="0"/>
                <a:cs typeface="Arial" panose="020B0604020202020204" pitchFamily="34" charset="0"/>
              </a:rPr>
              <a:t>IN2 and IN4				J)  ENB and IN1</a:t>
            </a:r>
          </a:p>
          <a:p>
            <a:pPr marL="514350" indent="-514350">
              <a:buAutoNum type="alphaUcParenR"/>
            </a:pPr>
            <a:r>
              <a:rPr lang="en-GB" dirty="0">
                <a:latin typeface="Arial" panose="020B0604020202020204" pitchFamily="34" charset="0"/>
                <a:cs typeface="Arial" panose="020B0604020202020204" pitchFamily="34" charset="0"/>
              </a:rPr>
              <a:t>IN1 and IN2				H) ENB and IN2</a:t>
            </a:r>
          </a:p>
          <a:p>
            <a:pPr marL="514350" indent="-514350">
              <a:buAutoNum type="alphaUcParenR"/>
            </a:pPr>
            <a:r>
              <a:rPr lang="en-GB" dirty="0">
                <a:latin typeface="Arial" panose="020B0604020202020204" pitchFamily="34" charset="0"/>
                <a:cs typeface="Arial" panose="020B0604020202020204" pitchFamily="34" charset="0"/>
              </a:rPr>
              <a:t>IN3 and IN4				H) ENB and IN3</a:t>
            </a:r>
          </a:p>
          <a:p>
            <a:pPr marL="514350" indent="-514350">
              <a:buAutoNum type="alphaUcParenR"/>
            </a:pPr>
            <a:r>
              <a:rPr lang="en-GB" dirty="0">
                <a:latin typeface="Arial" panose="020B0604020202020204" pitchFamily="34" charset="0"/>
                <a:cs typeface="Arial" panose="020B0604020202020204" pitchFamily="34" charset="0"/>
              </a:rPr>
              <a:t>ENA and IN1				H) ENB and IN4</a:t>
            </a:r>
          </a:p>
          <a:p>
            <a:pPr marL="514350" indent="-514350">
              <a:buAutoNum type="alphaUcParenR"/>
            </a:pPr>
            <a:r>
              <a:rPr lang="en-GB" dirty="0">
                <a:latin typeface="Arial" panose="020B0604020202020204" pitchFamily="34" charset="0"/>
                <a:cs typeface="Arial" panose="020B0604020202020204" pitchFamily="34" charset="0"/>
              </a:rPr>
              <a:t>ENA and IN2</a:t>
            </a:r>
          </a:p>
        </p:txBody>
      </p:sp>
    </p:spTree>
    <p:extLst>
      <p:ext uri="{BB962C8B-B14F-4D97-AF65-F5344CB8AC3E}">
        <p14:creationId xmlns:p14="http://schemas.microsoft.com/office/powerpoint/2010/main" val="3269543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0BD7F-B445-4AD3-9346-CA5F50D4CAD7}"/>
              </a:ext>
            </a:extLst>
          </p:cNvPr>
          <p:cNvSpPr>
            <a:spLocks noGrp="1"/>
          </p:cNvSpPr>
          <p:nvPr>
            <p:ph type="ctrTitle"/>
          </p:nvPr>
        </p:nvSpPr>
        <p:spPr>
          <a:xfrm>
            <a:off x="1174459" y="1122363"/>
            <a:ext cx="9493541" cy="3156022"/>
          </a:xfrm>
        </p:spPr>
        <p:txBody>
          <a:bodyPr>
            <a:normAutofit/>
          </a:bodyPr>
          <a:lstStyle/>
          <a:p>
            <a:r>
              <a:rPr lang="en-US" dirty="0"/>
              <a:t>Can we control our robot speed with only 4 pins? or 3 pins?  Or even 2 or 1 pin. </a:t>
            </a:r>
            <a:endParaRPr lang="en-GB" dirty="0"/>
          </a:p>
        </p:txBody>
      </p:sp>
    </p:spTree>
    <p:extLst>
      <p:ext uri="{BB962C8B-B14F-4D97-AF65-F5344CB8AC3E}">
        <p14:creationId xmlns:p14="http://schemas.microsoft.com/office/powerpoint/2010/main" val="2215526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ADDDD-6B7E-4A5D-9FB0-B9B1148B5CE3}"/>
              </a:ext>
            </a:extLst>
          </p:cNvPr>
          <p:cNvSpPr>
            <a:spLocks noGrp="1"/>
          </p:cNvSpPr>
          <p:nvPr>
            <p:ph type="title"/>
          </p:nvPr>
        </p:nvSpPr>
        <p:spPr>
          <a:xfrm>
            <a:off x="422693" y="365125"/>
            <a:ext cx="11559397" cy="1325563"/>
          </a:xfrm>
        </p:spPr>
        <p:txBody>
          <a:bodyPr/>
          <a:lstStyle/>
          <a:p>
            <a:r>
              <a:rPr lang="en-US" dirty="0">
                <a:latin typeface="Arial Black" panose="020B0A04020102020204" pitchFamily="34" charset="0"/>
              </a:rPr>
              <a:t>By using less pins we lose flexibility</a:t>
            </a:r>
            <a:endParaRPr lang="en-GB" dirty="0">
              <a:latin typeface="Arial Black" panose="020B0A04020102020204" pitchFamily="34" charset="0"/>
            </a:endParaRPr>
          </a:p>
        </p:txBody>
      </p:sp>
      <p:sp>
        <p:nvSpPr>
          <p:cNvPr id="3" name="Content Placeholder 2">
            <a:extLst>
              <a:ext uri="{FF2B5EF4-FFF2-40B4-BE49-F238E27FC236}">
                <a16:creationId xmlns:a16="http://schemas.microsoft.com/office/drawing/2014/main" id="{60E95E12-ECA5-4D58-A097-65275842BB8B}"/>
              </a:ext>
            </a:extLst>
          </p:cNvPr>
          <p:cNvSpPr>
            <a:spLocks noGrp="1"/>
          </p:cNvSpPr>
          <p:nvPr>
            <p:ph idx="1"/>
          </p:nvPr>
        </p:nvSpPr>
        <p:spPr/>
        <p:txBody>
          <a:bodyPr/>
          <a:lstStyle/>
          <a:p>
            <a:pPr marL="0" indent="0">
              <a:buNone/>
            </a:pPr>
            <a:r>
              <a:rPr lang="en-US" dirty="0">
                <a:latin typeface="Arial" panose="020B0604020202020204" pitchFamily="34" charset="0"/>
                <a:cs typeface="Arial" panose="020B0604020202020204" pitchFamily="34" charset="0"/>
              </a:rPr>
              <a:t>It becomes impossible to independently control the speed and motor direction of each wheel.</a:t>
            </a:r>
          </a:p>
          <a:p>
            <a:pPr marL="0" indent="0">
              <a:buNone/>
            </a:pPr>
            <a:r>
              <a:rPr lang="en-US" dirty="0">
                <a:latin typeface="Arial" panose="020B0604020202020204" pitchFamily="34" charset="0"/>
                <a:cs typeface="Arial" panose="020B0604020202020204" pitchFamily="34" charset="0"/>
              </a:rPr>
              <a:t>Or does it?</a:t>
            </a:r>
            <a:endParaRPr lang="en-GB"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C69CA11C-D7E6-467C-94DC-B0409C1880D8}"/>
              </a:ext>
            </a:extLst>
          </p:cNvPr>
          <p:cNvSpPr txBox="1"/>
          <p:nvPr/>
        </p:nvSpPr>
        <p:spPr>
          <a:xfrm>
            <a:off x="966159" y="4001294"/>
            <a:ext cx="3692105" cy="1200329"/>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Or does it?</a:t>
            </a:r>
            <a:endParaRPr lang="en-GB" sz="3600" dirty="0">
              <a:latin typeface="Arial" panose="020B0604020202020204" pitchFamily="34" charset="0"/>
              <a:cs typeface="Arial" panose="020B0604020202020204" pitchFamily="34" charset="0"/>
            </a:endParaRPr>
          </a:p>
          <a:p>
            <a:endParaRPr lang="en-GB"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25286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811F4-E97C-4A47-BE47-AF84D54BF6D9}"/>
              </a:ext>
            </a:extLst>
          </p:cNvPr>
          <p:cNvSpPr>
            <a:spLocks noGrp="1"/>
          </p:cNvSpPr>
          <p:nvPr>
            <p:ph type="title"/>
          </p:nvPr>
        </p:nvSpPr>
        <p:spPr>
          <a:xfrm>
            <a:off x="243282" y="217760"/>
            <a:ext cx="11794920" cy="1155508"/>
          </a:xfrm>
        </p:spPr>
        <p:txBody>
          <a:bodyPr>
            <a:normAutofit fontScale="90000"/>
          </a:bodyPr>
          <a:lstStyle/>
          <a:p>
            <a:r>
              <a:rPr lang="en-GB" dirty="0">
                <a:latin typeface="Arial Black" panose="020B0A04020102020204" pitchFamily="34" charset="0"/>
              </a:rPr>
              <a:t>Last class we used the following code to test the motors</a:t>
            </a:r>
          </a:p>
        </p:txBody>
      </p:sp>
      <p:sp>
        <p:nvSpPr>
          <p:cNvPr id="3" name="Content Placeholder 2">
            <a:extLst>
              <a:ext uri="{FF2B5EF4-FFF2-40B4-BE49-F238E27FC236}">
                <a16:creationId xmlns:a16="http://schemas.microsoft.com/office/drawing/2014/main" id="{E76FB3EB-CD78-4F87-870E-8C30C3EBA732}"/>
              </a:ext>
            </a:extLst>
          </p:cNvPr>
          <p:cNvSpPr>
            <a:spLocks noGrp="1"/>
          </p:cNvSpPr>
          <p:nvPr>
            <p:ph idx="1"/>
          </p:nvPr>
        </p:nvSpPr>
        <p:spPr>
          <a:xfrm>
            <a:off x="528506" y="1329655"/>
            <a:ext cx="9761989" cy="5528345"/>
          </a:xfrm>
        </p:spPr>
        <p:txBody>
          <a:bodyPr>
            <a:noAutofit/>
          </a:bodyPr>
          <a:lstStyle/>
          <a:p>
            <a:pPr marL="0" indent="0">
              <a:buNone/>
            </a:pPr>
            <a:r>
              <a:rPr lang="en-GB" sz="1800" dirty="0">
                <a:latin typeface="Arial" panose="020B0604020202020204" pitchFamily="34" charset="0"/>
                <a:cs typeface="Arial" panose="020B0604020202020204" pitchFamily="34" charset="0"/>
              </a:rPr>
              <a:t>void setup()</a:t>
            </a:r>
            <a:br>
              <a:rPr lang="en-GB" sz="1800" dirty="0">
                <a:latin typeface="Arial" panose="020B0604020202020204" pitchFamily="34" charset="0"/>
                <a:cs typeface="Arial" panose="020B0604020202020204" pitchFamily="34" charset="0"/>
              </a:rPr>
            </a:br>
            <a:r>
              <a:rPr lang="en-GB" sz="1800" dirty="0">
                <a:latin typeface="Arial" panose="020B0604020202020204" pitchFamily="34" charset="0"/>
                <a:cs typeface="Arial" panose="020B0604020202020204" pitchFamily="34" charset="0"/>
              </a:rPr>
              <a:t>{</a:t>
            </a:r>
            <a:br>
              <a:rPr lang="en-GB" sz="1800" dirty="0">
                <a:latin typeface="Arial" panose="020B0604020202020204" pitchFamily="34" charset="0"/>
                <a:cs typeface="Arial" panose="020B0604020202020204" pitchFamily="34" charset="0"/>
              </a:rPr>
            </a:br>
            <a:r>
              <a:rPr lang="en-GB" sz="1800" dirty="0">
                <a:latin typeface="Arial" panose="020B0604020202020204" pitchFamily="34" charset="0"/>
                <a:cs typeface="Arial" panose="020B0604020202020204" pitchFamily="34" charset="0"/>
              </a:rPr>
              <a:t>  </a:t>
            </a:r>
            <a:r>
              <a:rPr lang="en-GB" sz="1800" dirty="0" err="1">
                <a:latin typeface="Arial" panose="020B0604020202020204" pitchFamily="34" charset="0"/>
                <a:cs typeface="Arial" panose="020B0604020202020204" pitchFamily="34" charset="0"/>
              </a:rPr>
              <a:t>pinMode</a:t>
            </a:r>
            <a:r>
              <a:rPr lang="en-GB" sz="1800" dirty="0">
                <a:latin typeface="Arial" panose="020B0604020202020204" pitchFamily="34" charset="0"/>
                <a:cs typeface="Arial" panose="020B0604020202020204" pitchFamily="34" charset="0"/>
              </a:rPr>
              <a:t>(in1Pin, OUTPUT);</a:t>
            </a:r>
            <a:br>
              <a:rPr lang="en-GB" sz="1800" dirty="0">
                <a:latin typeface="Arial" panose="020B0604020202020204" pitchFamily="34" charset="0"/>
                <a:cs typeface="Arial" panose="020B0604020202020204" pitchFamily="34" charset="0"/>
              </a:rPr>
            </a:br>
            <a:r>
              <a:rPr lang="en-GB" sz="1800" dirty="0">
                <a:latin typeface="Arial" panose="020B0604020202020204" pitchFamily="34" charset="0"/>
                <a:cs typeface="Arial" panose="020B0604020202020204" pitchFamily="34" charset="0"/>
              </a:rPr>
              <a:t>  </a:t>
            </a:r>
            <a:r>
              <a:rPr lang="en-GB" sz="1800" dirty="0" err="1">
                <a:latin typeface="Arial" panose="020B0604020202020204" pitchFamily="34" charset="0"/>
                <a:cs typeface="Arial" panose="020B0604020202020204" pitchFamily="34" charset="0"/>
              </a:rPr>
              <a:t>pinMode</a:t>
            </a:r>
            <a:r>
              <a:rPr lang="en-GB" sz="1800" dirty="0">
                <a:latin typeface="Arial" panose="020B0604020202020204" pitchFamily="34" charset="0"/>
                <a:cs typeface="Arial" panose="020B0604020202020204" pitchFamily="34" charset="0"/>
              </a:rPr>
              <a:t>(in2Pin, OUTPUT);</a:t>
            </a:r>
            <a:br>
              <a:rPr lang="en-GB" sz="1800" dirty="0">
                <a:latin typeface="Arial" panose="020B0604020202020204" pitchFamily="34" charset="0"/>
                <a:cs typeface="Arial" panose="020B0604020202020204" pitchFamily="34" charset="0"/>
              </a:rPr>
            </a:br>
            <a:r>
              <a:rPr lang="en-GB" sz="1800" dirty="0">
                <a:latin typeface="Arial" panose="020B0604020202020204" pitchFamily="34" charset="0"/>
                <a:cs typeface="Arial" panose="020B0604020202020204" pitchFamily="34" charset="0"/>
              </a:rPr>
              <a:t>  </a:t>
            </a:r>
            <a:r>
              <a:rPr lang="en-GB" sz="1800" dirty="0" err="1">
                <a:latin typeface="Arial" panose="020B0604020202020204" pitchFamily="34" charset="0"/>
                <a:cs typeface="Arial" panose="020B0604020202020204" pitchFamily="34" charset="0"/>
              </a:rPr>
              <a:t>pinMode</a:t>
            </a:r>
            <a:r>
              <a:rPr lang="en-GB" sz="1800" dirty="0">
                <a:latin typeface="Arial" panose="020B0604020202020204" pitchFamily="34" charset="0"/>
                <a:cs typeface="Arial" panose="020B0604020202020204" pitchFamily="34" charset="0"/>
              </a:rPr>
              <a:t>(in3Pin, OUTPUT);</a:t>
            </a:r>
            <a:br>
              <a:rPr lang="en-GB" sz="1800" dirty="0">
                <a:latin typeface="Arial" panose="020B0604020202020204" pitchFamily="34" charset="0"/>
                <a:cs typeface="Arial" panose="020B0604020202020204" pitchFamily="34" charset="0"/>
              </a:rPr>
            </a:br>
            <a:r>
              <a:rPr lang="en-GB" sz="1800" dirty="0">
                <a:latin typeface="Arial" panose="020B0604020202020204" pitchFamily="34" charset="0"/>
                <a:cs typeface="Arial" panose="020B0604020202020204" pitchFamily="34" charset="0"/>
              </a:rPr>
              <a:t>  </a:t>
            </a:r>
            <a:r>
              <a:rPr lang="en-GB" sz="1800" dirty="0" err="1">
                <a:latin typeface="Arial" panose="020B0604020202020204" pitchFamily="34" charset="0"/>
                <a:cs typeface="Arial" panose="020B0604020202020204" pitchFamily="34" charset="0"/>
              </a:rPr>
              <a:t>pinMode</a:t>
            </a:r>
            <a:r>
              <a:rPr lang="en-GB" sz="1800" dirty="0">
                <a:latin typeface="Arial" panose="020B0604020202020204" pitchFamily="34" charset="0"/>
                <a:cs typeface="Arial" panose="020B0604020202020204" pitchFamily="34" charset="0"/>
              </a:rPr>
              <a:t>(in4Pin, OUTPUT); </a:t>
            </a:r>
            <a:br>
              <a:rPr lang="en-GB" sz="1800" dirty="0">
                <a:latin typeface="Arial" panose="020B0604020202020204" pitchFamily="34" charset="0"/>
                <a:cs typeface="Arial" panose="020B0604020202020204" pitchFamily="34" charset="0"/>
              </a:rPr>
            </a:br>
            <a:r>
              <a:rPr lang="en-GB" sz="1800" dirty="0">
                <a:latin typeface="Arial" panose="020B0604020202020204" pitchFamily="34" charset="0"/>
                <a:cs typeface="Arial" panose="020B0604020202020204" pitchFamily="34" charset="0"/>
              </a:rPr>
              <a:t>}</a:t>
            </a:r>
            <a:br>
              <a:rPr lang="en-GB" sz="1800" dirty="0">
                <a:latin typeface="Arial" panose="020B0604020202020204" pitchFamily="34" charset="0"/>
                <a:cs typeface="Arial" panose="020B0604020202020204" pitchFamily="34" charset="0"/>
              </a:rPr>
            </a:br>
            <a:br>
              <a:rPr lang="en-GB" sz="1800" dirty="0">
                <a:latin typeface="Arial" panose="020B0604020202020204" pitchFamily="34" charset="0"/>
                <a:cs typeface="Arial" panose="020B0604020202020204" pitchFamily="34" charset="0"/>
              </a:rPr>
            </a:br>
            <a:r>
              <a:rPr lang="en-GB" sz="1800" dirty="0">
                <a:latin typeface="Arial" panose="020B0604020202020204" pitchFamily="34" charset="0"/>
                <a:cs typeface="Arial" panose="020B0604020202020204" pitchFamily="34" charset="0"/>
              </a:rPr>
              <a:t>void loop()</a:t>
            </a:r>
            <a:br>
              <a:rPr lang="en-GB" sz="1800" dirty="0">
                <a:latin typeface="Arial" panose="020B0604020202020204" pitchFamily="34" charset="0"/>
                <a:cs typeface="Arial" panose="020B0604020202020204" pitchFamily="34" charset="0"/>
              </a:rPr>
            </a:br>
            <a:r>
              <a:rPr lang="en-GB" sz="1800" dirty="0">
                <a:latin typeface="Arial" panose="020B0604020202020204" pitchFamily="34" charset="0"/>
                <a:cs typeface="Arial" panose="020B0604020202020204" pitchFamily="34" charset="0"/>
              </a:rPr>
              <a:t>{</a:t>
            </a:r>
            <a:br>
              <a:rPr lang="en-GB" sz="1800" dirty="0">
                <a:latin typeface="Arial" panose="020B0604020202020204" pitchFamily="34" charset="0"/>
                <a:cs typeface="Arial" panose="020B0604020202020204" pitchFamily="34" charset="0"/>
              </a:rPr>
            </a:br>
            <a:r>
              <a:rPr lang="en-GB" sz="1800" dirty="0">
                <a:latin typeface="Arial" panose="020B0604020202020204" pitchFamily="34" charset="0"/>
                <a:cs typeface="Arial" panose="020B0604020202020204" pitchFamily="34" charset="0"/>
              </a:rPr>
              <a:t> </a:t>
            </a:r>
            <a:r>
              <a:rPr lang="en-GB" sz="1800" dirty="0" err="1">
                <a:latin typeface="Arial" panose="020B0604020202020204" pitchFamily="34" charset="0"/>
                <a:cs typeface="Arial" panose="020B0604020202020204" pitchFamily="34" charset="0"/>
              </a:rPr>
              <a:t>setMotor</a:t>
            </a:r>
            <a:r>
              <a:rPr lang="en-GB" sz="1800" dirty="0">
                <a:latin typeface="Arial" panose="020B0604020202020204" pitchFamily="34" charset="0"/>
                <a:cs typeface="Arial" panose="020B0604020202020204" pitchFamily="34" charset="0"/>
              </a:rPr>
              <a:t>(); // subroutine to control motor</a:t>
            </a:r>
            <a:br>
              <a:rPr lang="en-GB" sz="1800" dirty="0">
                <a:latin typeface="Arial" panose="020B0604020202020204" pitchFamily="34" charset="0"/>
                <a:cs typeface="Arial" panose="020B0604020202020204" pitchFamily="34" charset="0"/>
              </a:rPr>
            </a:br>
            <a:r>
              <a:rPr lang="en-GB" sz="1800" dirty="0">
                <a:latin typeface="Arial" panose="020B0604020202020204" pitchFamily="34" charset="0"/>
                <a:cs typeface="Arial" panose="020B0604020202020204" pitchFamily="34" charset="0"/>
              </a:rPr>
              <a:t> delay(2000);</a:t>
            </a:r>
            <a:br>
              <a:rPr lang="en-GB" sz="1800" dirty="0">
                <a:latin typeface="Arial" panose="020B0604020202020204" pitchFamily="34" charset="0"/>
                <a:cs typeface="Arial" panose="020B0604020202020204" pitchFamily="34" charset="0"/>
              </a:rPr>
            </a:br>
            <a:r>
              <a:rPr lang="en-GB" sz="1800" dirty="0">
                <a:latin typeface="Arial" panose="020B0604020202020204" pitchFamily="34" charset="0"/>
                <a:cs typeface="Arial" panose="020B0604020202020204" pitchFamily="34" charset="0"/>
              </a:rPr>
              <a:t>  reverse = ! reverse;</a:t>
            </a:r>
            <a:br>
              <a:rPr lang="en-GB" sz="1800" dirty="0">
                <a:latin typeface="Arial" panose="020B0604020202020204" pitchFamily="34" charset="0"/>
                <a:cs typeface="Arial" panose="020B0604020202020204" pitchFamily="34" charset="0"/>
              </a:rPr>
            </a:br>
            <a:r>
              <a:rPr lang="en-GB" sz="1800" dirty="0">
                <a:latin typeface="Arial" panose="020B0604020202020204" pitchFamily="34" charset="0"/>
                <a:cs typeface="Arial" panose="020B0604020202020204" pitchFamily="34" charset="0"/>
              </a:rPr>
              <a:t>}</a:t>
            </a:r>
            <a:br>
              <a:rPr lang="en-GB" sz="1800" dirty="0">
                <a:latin typeface="Arial" panose="020B0604020202020204" pitchFamily="34" charset="0"/>
                <a:cs typeface="Arial" panose="020B0604020202020204" pitchFamily="34" charset="0"/>
              </a:rPr>
            </a:br>
            <a:br>
              <a:rPr lang="en-GB" sz="1800" dirty="0">
                <a:latin typeface="Arial" panose="020B0604020202020204" pitchFamily="34" charset="0"/>
                <a:cs typeface="Arial" panose="020B0604020202020204" pitchFamily="34" charset="0"/>
              </a:rPr>
            </a:br>
            <a:r>
              <a:rPr lang="en-GB" sz="1800" dirty="0">
                <a:latin typeface="Arial" panose="020B0604020202020204" pitchFamily="34" charset="0"/>
                <a:cs typeface="Arial" panose="020B0604020202020204" pitchFamily="34" charset="0"/>
              </a:rPr>
              <a:t>void </a:t>
            </a:r>
            <a:r>
              <a:rPr lang="en-GB" sz="1800" dirty="0" err="1">
                <a:latin typeface="Arial" panose="020B0604020202020204" pitchFamily="34" charset="0"/>
                <a:cs typeface="Arial" panose="020B0604020202020204" pitchFamily="34" charset="0"/>
              </a:rPr>
              <a:t>setMotor</a:t>
            </a:r>
            <a:r>
              <a:rPr lang="en-GB" sz="1800" dirty="0">
                <a:latin typeface="Arial" panose="020B0604020202020204" pitchFamily="34" charset="0"/>
                <a:cs typeface="Arial" panose="020B0604020202020204" pitchFamily="34" charset="0"/>
              </a:rPr>
              <a:t>()</a:t>
            </a:r>
            <a:br>
              <a:rPr lang="en-GB" sz="1800" dirty="0">
                <a:latin typeface="Arial" panose="020B0604020202020204" pitchFamily="34" charset="0"/>
                <a:cs typeface="Arial" panose="020B0604020202020204" pitchFamily="34" charset="0"/>
              </a:rPr>
            </a:br>
            <a:r>
              <a:rPr lang="en-GB" sz="1800" dirty="0">
                <a:latin typeface="Arial" panose="020B0604020202020204" pitchFamily="34" charset="0"/>
                <a:cs typeface="Arial" panose="020B0604020202020204" pitchFamily="34" charset="0"/>
              </a:rPr>
              <a:t>{</a:t>
            </a:r>
            <a:br>
              <a:rPr lang="en-GB" sz="1800" dirty="0">
                <a:latin typeface="Arial" panose="020B0604020202020204" pitchFamily="34" charset="0"/>
                <a:cs typeface="Arial" panose="020B0604020202020204" pitchFamily="34" charset="0"/>
              </a:rPr>
            </a:br>
            <a:r>
              <a:rPr lang="en-GB" sz="1800" dirty="0">
                <a:latin typeface="Arial" panose="020B0604020202020204" pitchFamily="34" charset="0"/>
                <a:cs typeface="Arial" panose="020B0604020202020204" pitchFamily="34" charset="0"/>
              </a:rPr>
              <a:t>  </a:t>
            </a:r>
            <a:r>
              <a:rPr lang="en-GB" sz="1800" dirty="0" err="1">
                <a:latin typeface="Arial" panose="020B0604020202020204" pitchFamily="34" charset="0"/>
                <a:cs typeface="Arial" panose="020B0604020202020204" pitchFamily="34" charset="0"/>
              </a:rPr>
              <a:t>digitalWrite</a:t>
            </a:r>
            <a:r>
              <a:rPr lang="en-GB" sz="1800" dirty="0">
                <a:latin typeface="Arial" panose="020B0604020202020204" pitchFamily="34" charset="0"/>
                <a:cs typeface="Arial" panose="020B0604020202020204" pitchFamily="34" charset="0"/>
              </a:rPr>
              <a:t>(in1Pin, ! reverse);</a:t>
            </a:r>
            <a:br>
              <a:rPr lang="en-GB" sz="1800" dirty="0">
                <a:latin typeface="Arial" panose="020B0604020202020204" pitchFamily="34" charset="0"/>
                <a:cs typeface="Arial" panose="020B0604020202020204" pitchFamily="34" charset="0"/>
              </a:rPr>
            </a:br>
            <a:r>
              <a:rPr lang="en-GB" sz="1800" dirty="0">
                <a:latin typeface="Arial" panose="020B0604020202020204" pitchFamily="34" charset="0"/>
                <a:cs typeface="Arial" panose="020B0604020202020204" pitchFamily="34" charset="0"/>
              </a:rPr>
              <a:t>  </a:t>
            </a:r>
            <a:r>
              <a:rPr lang="en-GB" sz="1800" dirty="0" err="1">
                <a:latin typeface="Arial" panose="020B0604020202020204" pitchFamily="34" charset="0"/>
                <a:cs typeface="Arial" panose="020B0604020202020204" pitchFamily="34" charset="0"/>
              </a:rPr>
              <a:t>digitalWrite</a:t>
            </a:r>
            <a:r>
              <a:rPr lang="en-GB" sz="1800" dirty="0">
                <a:latin typeface="Arial" panose="020B0604020202020204" pitchFamily="34" charset="0"/>
                <a:cs typeface="Arial" panose="020B0604020202020204" pitchFamily="34" charset="0"/>
              </a:rPr>
              <a:t>(in2Pin, reverse);</a:t>
            </a:r>
            <a:br>
              <a:rPr lang="en-GB" sz="1800" dirty="0">
                <a:latin typeface="Arial" panose="020B0604020202020204" pitchFamily="34" charset="0"/>
                <a:cs typeface="Arial" panose="020B0604020202020204" pitchFamily="34" charset="0"/>
              </a:rPr>
            </a:br>
            <a:r>
              <a:rPr lang="en-GB" sz="1800" dirty="0">
                <a:latin typeface="Arial" panose="020B0604020202020204" pitchFamily="34" charset="0"/>
                <a:cs typeface="Arial" panose="020B0604020202020204" pitchFamily="34" charset="0"/>
              </a:rPr>
              <a:t>  </a:t>
            </a:r>
            <a:r>
              <a:rPr lang="en-GB" sz="1800" dirty="0" err="1">
                <a:latin typeface="Arial" panose="020B0604020202020204" pitchFamily="34" charset="0"/>
                <a:cs typeface="Arial" panose="020B0604020202020204" pitchFamily="34" charset="0"/>
              </a:rPr>
              <a:t>digitalWrite</a:t>
            </a:r>
            <a:r>
              <a:rPr lang="en-GB" sz="1800" dirty="0">
                <a:latin typeface="Arial" panose="020B0604020202020204" pitchFamily="34" charset="0"/>
                <a:cs typeface="Arial" panose="020B0604020202020204" pitchFamily="34" charset="0"/>
              </a:rPr>
              <a:t>(in3Pin, ! reverse);</a:t>
            </a:r>
            <a:br>
              <a:rPr lang="en-GB" sz="1800" dirty="0">
                <a:latin typeface="Arial" panose="020B0604020202020204" pitchFamily="34" charset="0"/>
                <a:cs typeface="Arial" panose="020B0604020202020204" pitchFamily="34" charset="0"/>
              </a:rPr>
            </a:br>
            <a:r>
              <a:rPr lang="en-GB" sz="1800" dirty="0">
                <a:latin typeface="Arial" panose="020B0604020202020204" pitchFamily="34" charset="0"/>
                <a:cs typeface="Arial" panose="020B0604020202020204" pitchFamily="34" charset="0"/>
              </a:rPr>
              <a:t>  </a:t>
            </a:r>
            <a:r>
              <a:rPr lang="en-GB" sz="1800" dirty="0" err="1">
                <a:latin typeface="Arial" panose="020B0604020202020204" pitchFamily="34" charset="0"/>
                <a:cs typeface="Arial" panose="020B0604020202020204" pitchFamily="34" charset="0"/>
              </a:rPr>
              <a:t>digitalWrite</a:t>
            </a:r>
            <a:r>
              <a:rPr lang="en-GB" sz="1800" dirty="0">
                <a:latin typeface="Arial" panose="020B0604020202020204" pitchFamily="34" charset="0"/>
                <a:cs typeface="Arial" panose="020B0604020202020204" pitchFamily="34" charset="0"/>
              </a:rPr>
              <a:t>(in4Pin, reverse);</a:t>
            </a:r>
            <a:br>
              <a:rPr lang="en-GB" sz="1800" dirty="0">
                <a:latin typeface="Arial" panose="020B0604020202020204" pitchFamily="34" charset="0"/>
                <a:cs typeface="Arial" panose="020B0604020202020204" pitchFamily="34" charset="0"/>
              </a:rPr>
            </a:br>
            <a:r>
              <a:rPr lang="en-GB" sz="1800" dirty="0">
                <a:latin typeface="Arial" panose="020B0604020202020204" pitchFamily="34" charset="0"/>
                <a:cs typeface="Arial" panose="020B0604020202020204" pitchFamily="34" charset="0"/>
              </a:rPr>
              <a:t>}</a:t>
            </a:r>
          </a:p>
        </p:txBody>
      </p:sp>
      <p:sp>
        <p:nvSpPr>
          <p:cNvPr id="5" name="TextBox 4">
            <a:extLst>
              <a:ext uri="{FF2B5EF4-FFF2-40B4-BE49-F238E27FC236}">
                <a16:creationId xmlns:a16="http://schemas.microsoft.com/office/drawing/2014/main" id="{FD6F7321-1F2F-4979-9D93-02615A3EDE2F}"/>
              </a:ext>
            </a:extLst>
          </p:cNvPr>
          <p:cNvSpPr txBox="1"/>
          <p:nvPr/>
        </p:nvSpPr>
        <p:spPr>
          <a:xfrm>
            <a:off x="8688646" y="1746499"/>
            <a:ext cx="2857850" cy="1477328"/>
          </a:xfrm>
          <a:prstGeom prst="rect">
            <a:avLst/>
          </a:prstGeom>
          <a:noFill/>
          <a:ln w="76200">
            <a:solidFill>
              <a:schemeClr val="tx1"/>
            </a:solidFill>
          </a:ln>
        </p:spPr>
        <p:txBody>
          <a:bodyPr wrap="square" rtlCol="0">
            <a:spAutoFit/>
          </a:bodyPr>
          <a:lstStyle/>
          <a:p>
            <a:r>
              <a:rPr lang="en-GB" dirty="0">
                <a:latin typeface="Arial" panose="020B0604020202020204" pitchFamily="34" charset="0"/>
                <a:cs typeface="Arial" panose="020B0604020202020204" pitchFamily="34" charset="0"/>
              </a:rPr>
              <a:t>int </a:t>
            </a:r>
            <a:r>
              <a:rPr lang="en-GB" sz="1800" dirty="0">
                <a:latin typeface="Arial" panose="020B0604020202020204" pitchFamily="34" charset="0"/>
                <a:cs typeface="Arial" panose="020B0604020202020204" pitchFamily="34" charset="0"/>
              </a:rPr>
              <a:t>in1Pin</a:t>
            </a:r>
            <a:r>
              <a:rPr lang="en-GB" dirty="0">
                <a:latin typeface="Arial" panose="020B0604020202020204" pitchFamily="34" charset="0"/>
                <a:cs typeface="Arial" panose="020B0604020202020204" pitchFamily="34" charset="0"/>
              </a:rPr>
              <a:t> = 2;</a:t>
            </a:r>
            <a:br>
              <a:rPr lang="en-GB" dirty="0">
                <a:latin typeface="Arial" panose="020B0604020202020204" pitchFamily="34" charset="0"/>
                <a:cs typeface="Arial" panose="020B0604020202020204" pitchFamily="34" charset="0"/>
              </a:rPr>
            </a:br>
            <a:r>
              <a:rPr lang="en-GB" dirty="0">
                <a:latin typeface="Arial" panose="020B0604020202020204" pitchFamily="34" charset="0"/>
                <a:cs typeface="Arial" panose="020B0604020202020204" pitchFamily="34" charset="0"/>
              </a:rPr>
              <a:t>int </a:t>
            </a:r>
            <a:r>
              <a:rPr lang="en-GB" sz="1800" dirty="0">
                <a:latin typeface="Arial" panose="020B0604020202020204" pitchFamily="34" charset="0"/>
                <a:cs typeface="Arial" panose="020B0604020202020204" pitchFamily="34" charset="0"/>
              </a:rPr>
              <a:t>in2Pin</a:t>
            </a:r>
            <a:r>
              <a:rPr lang="en-GB" dirty="0">
                <a:latin typeface="Arial" panose="020B0604020202020204" pitchFamily="34" charset="0"/>
                <a:cs typeface="Arial" panose="020B0604020202020204" pitchFamily="34" charset="0"/>
              </a:rPr>
              <a:t> = 3;</a:t>
            </a:r>
            <a:br>
              <a:rPr lang="en-GB" dirty="0">
                <a:latin typeface="Arial" panose="020B0604020202020204" pitchFamily="34" charset="0"/>
                <a:cs typeface="Arial" panose="020B0604020202020204" pitchFamily="34" charset="0"/>
              </a:rPr>
            </a:br>
            <a:r>
              <a:rPr lang="en-GB" dirty="0">
                <a:latin typeface="Arial" panose="020B0604020202020204" pitchFamily="34" charset="0"/>
                <a:cs typeface="Arial" panose="020B0604020202020204" pitchFamily="34" charset="0"/>
              </a:rPr>
              <a:t>int </a:t>
            </a:r>
            <a:r>
              <a:rPr lang="en-GB" sz="1800" dirty="0">
                <a:latin typeface="Arial" panose="020B0604020202020204" pitchFamily="34" charset="0"/>
                <a:cs typeface="Arial" panose="020B0604020202020204" pitchFamily="34" charset="0"/>
              </a:rPr>
              <a:t>in3Pin</a:t>
            </a:r>
            <a:r>
              <a:rPr lang="en-GB" dirty="0">
                <a:latin typeface="Arial" panose="020B0604020202020204" pitchFamily="34" charset="0"/>
                <a:cs typeface="Arial" panose="020B0604020202020204" pitchFamily="34" charset="0"/>
              </a:rPr>
              <a:t> = 4;</a:t>
            </a:r>
            <a:br>
              <a:rPr lang="en-GB" dirty="0">
                <a:latin typeface="Arial" panose="020B0604020202020204" pitchFamily="34" charset="0"/>
                <a:cs typeface="Arial" panose="020B0604020202020204" pitchFamily="34" charset="0"/>
              </a:rPr>
            </a:br>
            <a:r>
              <a:rPr lang="en-GB" dirty="0">
                <a:latin typeface="Arial" panose="020B0604020202020204" pitchFamily="34" charset="0"/>
                <a:cs typeface="Arial" panose="020B0604020202020204" pitchFamily="34" charset="0"/>
              </a:rPr>
              <a:t>int </a:t>
            </a:r>
            <a:r>
              <a:rPr lang="en-GB" sz="1800" dirty="0">
                <a:latin typeface="Arial" panose="020B0604020202020204" pitchFamily="34" charset="0"/>
                <a:cs typeface="Arial" panose="020B0604020202020204" pitchFamily="34" charset="0"/>
              </a:rPr>
              <a:t>in4Pin</a:t>
            </a:r>
            <a:r>
              <a:rPr lang="en-GB" dirty="0">
                <a:latin typeface="Arial" panose="020B0604020202020204" pitchFamily="34" charset="0"/>
                <a:cs typeface="Arial" panose="020B0604020202020204" pitchFamily="34" charset="0"/>
              </a:rPr>
              <a:t> = 5;</a:t>
            </a:r>
          </a:p>
          <a:p>
            <a:r>
              <a:rPr lang="en-GB" sz="1800" dirty="0">
                <a:latin typeface="Arial" panose="020B0604020202020204" pitchFamily="34" charset="0"/>
                <a:cs typeface="Arial" panose="020B0604020202020204" pitchFamily="34" charset="0"/>
              </a:rPr>
              <a:t>bool reverse = false;</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0691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36B55-75E2-42DE-BA96-1A46404972B9}"/>
              </a:ext>
            </a:extLst>
          </p:cNvPr>
          <p:cNvSpPr>
            <a:spLocks noGrp="1"/>
          </p:cNvSpPr>
          <p:nvPr>
            <p:ph type="title"/>
          </p:nvPr>
        </p:nvSpPr>
        <p:spPr>
          <a:xfrm>
            <a:off x="517585" y="365125"/>
            <a:ext cx="11369615" cy="1325563"/>
          </a:xfrm>
        </p:spPr>
        <p:txBody>
          <a:bodyPr/>
          <a:lstStyle/>
          <a:p>
            <a:r>
              <a:rPr lang="en-US" dirty="0">
                <a:latin typeface="Arial Black" panose="020B0A04020102020204" pitchFamily="34" charset="0"/>
              </a:rPr>
              <a:t>Can we use this to vary the speed?</a:t>
            </a:r>
            <a:endParaRPr lang="en-GB" dirty="0">
              <a:latin typeface="Arial Black" panose="020B0A04020102020204" pitchFamily="34" charset="0"/>
            </a:endParaRPr>
          </a:p>
        </p:txBody>
      </p:sp>
      <p:sp>
        <p:nvSpPr>
          <p:cNvPr id="3" name="Content Placeholder 2">
            <a:extLst>
              <a:ext uri="{FF2B5EF4-FFF2-40B4-BE49-F238E27FC236}">
                <a16:creationId xmlns:a16="http://schemas.microsoft.com/office/drawing/2014/main" id="{9D510643-4D9D-4FEC-AF50-D3E9F0536511}"/>
              </a:ext>
            </a:extLst>
          </p:cNvPr>
          <p:cNvSpPr>
            <a:spLocks noGrp="1"/>
          </p:cNvSpPr>
          <p:nvPr>
            <p:ph idx="1"/>
          </p:nvPr>
        </p:nvSpPr>
        <p:spPr>
          <a:xfrm>
            <a:off x="517585" y="1825625"/>
            <a:ext cx="11585275" cy="4351338"/>
          </a:xfrm>
        </p:spPr>
        <p:txBody>
          <a:bodyPr>
            <a:normAutofit/>
          </a:bodyPr>
          <a:lstStyle/>
          <a:p>
            <a:pPr marL="0" indent="0">
              <a:buNone/>
            </a:pPr>
            <a:r>
              <a:rPr lang="en-US" dirty="0">
                <a:latin typeface="Arial" panose="020B0604020202020204" pitchFamily="34" charset="0"/>
                <a:cs typeface="Arial" panose="020B0604020202020204" pitchFamily="34" charset="0"/>
              </a:rPr>
              <a:t>We know that we can use PWM to control the speed of a DC motor using an L293D chip or L298 board.</a:t>
            </a:r>
          </a:p>
          <a:p>
            <a:pPr marL="0" indent="0">
              <a:buNone/>
            </a:pPr>
            <a:r>
              <a:rPr lang="en-US" dirty="0">
                <a:latin typeface="Arial" panose="020B0604020202020204" pitchFamily="34" charset="0"/>
                <a:cs typeface="Arial" panose="020B0604020202020204" pitchFamily="34" charset="0"/>
              </a:rPr>
              <a:t>But this uses 3 Arduino pins.  IN1, IN2 and EN1.</a:t>
            </a:r>
          </a:p>
          <a:p>
            <a:pPr marL="0" indent="0">
              <a:buNone/>
            </a:pPr>
            <a:r>
              <a:rPr lang="en-US" dirty="0">
                <a:latin typeface="Arial" panose="020B0604020202020204" pitchFamily="34" charset="0"/>
                <a:cs typeface="Arial" panose="020B0604020202020204" pitchFamily="34" charset="0"/>
              </a:rPr>
              <a:t>Can we control the speed of a DC motor using 2 Arduino pins, or even just 1?</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49890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F9F48-342F-41F2-B36D-A5C11C9D09F2}"/>
              </a:ext>
            </a:extLst>
          </p:cNvPr>
          <p:cNvSpPr>
            <a:spLocks noGrp="1"/>
          </p:cNvSpPr>
          <p:nvPr>
            <p:ph type="title"/>
          </p:nvPr>
        </p:nvSpPr>
        <p:spPr/>
        <p:txBody>
          <a:bodyPr/>
          <a:lstStyle/>
          <a:p>
            <a:r>
              <a:rPr lang="en-US" dirty="0">
                <a:latin typeface="Arial Black" panose="020B0A04020102020204" pitchFamily="34" charset="0"/>
              </a:rPr>
              <a:t>Yes, we can.</a:t>
            </a:r>
            <a:endParaRPr lang="en-GB" dirty="0">
              <a:latin typeface="Arial Black" panose="020B0A04020102020204" pitchFamily="34" charset="0"/>
            </a:endParaRPr>
          </a:p>
        </p:txBody>
      </p:sp>
      <p:sp>
        <p:nvSpPr>
          <p:cNvPr id="3" name="Content Placeholder 2">
            <a:extLst>
              <a:ext uri="{FF2B5EF4-FFF2-40B4-BE49-F238E27FC236}">
                <a16:creationId xmlns:a16="http://schemas.microsoft.com/office/drawing/2014/main" id="{6C75C5DC-EEF0-46CC-8AA7-A47D2570789F}"/>
              </a:ext>
            </a:extLst>
          </p:cNvPr>
          <p:cNvSpPr>
            <a:spLocks noGrp="1"/>
          </p:cNvSpPr>
          <p:nvPr>
            <p:ph idx="1"/>
          </p:nvPr>
        </p:nvSpPr>
        <p:spPr/>
        <p:txBody>
          <a:bodyPr>
            <a:normAutofit fontScale="92500" lnSpcReduction="10000"/>
          </a:bodyPr>
          <a:lstStyle/>
          <a:p>
            <a:pPr marL="0" indent="0">
              <a:buNone/>
            </a:pPr>
            <a:r>
              <a:rPr lang="en-US" dirty="0">
                <a:latin typeface="Arial" panose="020B0604020202020204" pitchFamily="34" charset="0"/>
                <a:cs typeface="Arial" panose="020B0604020202020204" pitchFamily="34" charset="0"/>
              </a:rPr>
              <a:t>Our IN1 and IN2 pins can be used to control the speed. Look at this table for the logic of IN1 and IN2.  By leaving one input at LOW and switching the other to HIGH or LOW we can control the speed.  We can simulate PWM.</a:t>
            </a: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Arduino PWM actually pulses at around 500Hz, and as the value is between 0-255, every pulse lasts around 2 milliseconds.</a:t>
            </a:r>
          </a:p>
        </p:txBody>
      </p:sp>
      <p:graphicFrame>
        <p:nvGraphicFramePr>
          <p:cNvPr id="7" name="Table 7">
            <a:extLst>
              <a:ext uri="{FF2B5EF4-FFF2-40B4-BE49-F238E27FC236}">
                <a16:creationId xmlns:a16="http://schemas.microsoft.com/office/drawing/2014/main" id="{A2188609-FC8D-424D-BD9F-B8A3B236CA76}"/>
              </a:ext>
            </a:extLst>
          </p:cNvPr>
          <p:cNvGraphicFramePr>
            <a:graphicFrameLocks noGrp="1"/>
          </p:cNvGraphicFramePr>
          <p:nvPr>
            <p:extLst>
              <p:ext uri="{D42A27DB-BD31-4B8C-83A1-F6EECF244321}">
                <p14:modId xmlns:p14="http://schemas.microsoft.com/office/powerpoint/2010/main" val="1625957048"/>
              </p:ext>
            </p:extLst>
          </p:nvPr>
        </p:nvGraphicFramePr>
        <p:xfrm>
          <a:off x="4726951" y="2886887"/>
          <a:ext cx="4699479" cy="2352039"/>
        </p:xfrm>
        <a:graphic>
          <a:graphicData uri="http://schemas.openxmlformats.org/drawingml/2006/table">
            <a:tbl>
              <a:tblPr firstRow="1" bandRow="1">
                <a:tableStyleId>{5C22544A-7EE6-4342-B048-85BDC9FD1C3A}</a:tableStyleId>
              </a:tblPr>
              <a:tblGrid>
                <a:gridCol w="1566493">
                  <a:extLst>
                    <a:ext uri="{9D8B030D-6E8A-4147-A177-3AD203B41FA5}">
                      <a16:colId xmlns:a16="http://schemas.microsoft.com/office/drawing/2014/main" val="3063808282"/>
                    </a:ext>
                  </a:extLst>
                </a:gridCol>
                <a:gridCol w="1566493">
                  <a:extLst>
                    <a:ext uri="{9D8B030D-6E8A-4147-A177-3AD203B41FA5}">
                      <a16:colId xmlns:a16="http://schemas.microsoft.com/office/drawing/2014/main" val="3151751196"/>
                    </a:ext>
                  </a:extLst>
                </a:gridCol>
                <a:gridCol w="1566493">
                  <a:extLst>
                    <a:ext uri="{9D8B030D-6E8A-4147-A177-3AD203B41FA5}">
                      <a16:colId xmlns:a16="http://schemas.microsoft.com/office/drawing/2014/main" val="2917845603"/>
                    </a:ext>
                  </a:extLst>
                </a:gridCol>
              </a:tblGrid>
              <a:tr h="400192">
                <a:tc>
                  <a:txBody>
                    <a:bodyPr/>
                    <a:lstStyle/>
                    <a:p>
                      <a:r>
                        <a:rPr lang="en-US" sz="2400" dirty="0"/>
                        <a:t>IN1</a:t>
                      </a:r>
                      <a:endParaRPr lang="en-GB" sz="2400" dirty="0"/>
                    </a:p>
                  </a:txBody>
                  <a:tcPr/>
                </a:tc>
                <a:tc>
                  <a:txBody>
                    <a:bodyPr/>
                    <a:lstStyle/>
                    <a:p>
                      <a:r>
                        <a:rPr lang="en-US" sz="2400" dirty="0"/>
                        <a:t>IN2</a:t>
                      </a:r>
                      <a:endParaRPr lang="en-GB" sz="2400" dirty="0"/>
                    </a:p>
                  </a:txBody>
                  <a:tcPr/>
                </a:tc>
                <a:tc>
                  <a:txBody>
                    <a:bodyPr/>
                    <a:lstStyle/>
                    <a:p>
                      <a:r>
                        <a:rPr lang="en-US" sz="2400" dirty="0"/>
                        <a:t>DC Motor</a:t>
                      </a:r>
                      <a:endParaRPr lang="en-GB" sz="2400" dirty="0"/>
                    </a:p>
                  </a:txBody>
                  <a:tcPr/>
                </a:tc>
                <a:extLst>
                  <a:ext uri="{0D108BD9-81ED-4DB2-BD59-A6C34878D82A}">
                    <a16:rowId xmlns:a16="http://schemas.microsoft.com/office/drawing/2014/main" val="3341781034"/>
                  </a:ext>
                </a:extLst>
              </a:tr>
              <a:tr h="400192">
                <a:tc>
                  <a:txBody>
                    <a:bodyPr/>
                    <a:lstStyle/>
                    <a:p>
                      <a:r>
                        <a:rPr lang="en-US" sz="2400" dirty="0"/>
                        <a:t>LOW</a:t>
                      </a:r>
                      <a:endParaRPr lang="en-GB" sz="2400" dirty="0"/>
                    </a:p>
                  </a:txBody>
                  <a:tcPr/>
                </a:tc>
                <a:tc>
                  <a:txBody>
                    <a:bodyPr/>
                    <a:lstStyle/>
                    <a:p>
                      <a:r>
                        <a:rPr lang="en-US" sz="2400" dirty="0"/>
                        <a:t>LOW</a:t>
                      </a:r>
                      <a:endParaRPr lang="en-GB" sz="2400" dirty="0"/>
                    </a:p>
                  </a:txBody>
                  <a:tcPr/>
                </a:tc>
                <a:tc>
                  <a:txBody>
                    <a:bodyPr/>
                    <a:lstStyle/>
                    <a:p>
                      <a:r>
                        <a:rPr lang="en-US" sz="2400" dirty="0"/>
                        <a:t>OFF</a:t>
                      </a:r>
                      <a:endParaRPr lang="en-GB" sz="2400" dirty="0"/>
                    </a:p>
                  </a:txBody>
                  <a:tcPr/>
                </a:tc>
                <a:extLst>
                  <a:ext uri="{0D108BD9-81ED-4DB2-BD59-A6C34878D82A}">
                    <a16:rowId xmlns:a16="http://schemas.microsoft.com/office/drawing/2014/main" val="2116744454"/>
                  </a:ext>
                </a:extLst>
              </a:tr>
              <a:tr h="400192">
                <a:tc>
                  <a:txBody>
                    <a:bodyPr/>
                    <a:lstStyle/>
                    <a:p>
                      <a:r>
                        <a:rPr lang="en-US" sz="2400" dirty="0"/>
                        <a:t>LOW</a:t>
                      </a:r>
                      <a:endParaRPr lang="en-GB" sz="2400" dirty="0"/>
                    </a:p>
                  </a:txBody>
                  <a:tcPr/>
                </a:tc>
                <a:tc>
                  <a:txBody>
                    <a:bodyPr/>
                    <a:lstStyle/>
                    <a:p>
                      <a:r>
                        <a:rPr lang="en-US" sz="2400" dirty="0"/>
                        <a:t>HIGH</a:t>
                      </a:r>
                      <a:endParaRPr lang="en-GB" sz="2400" dirty="0"/>
                    </a:p>
                  </a:txBody>
                  <a:tcPr/>
                </a:tc>
                <a:tc>
                  <a:txBody>
                    <a:bodyPr/>
                    <a:lstStyle/>
                    <a:p>
                      <a:r>
                        <a:rPr lang="en-US" sz="2400" dirty="0"/>
                        <a:t>REVERSE</a:t>
                      </a:r>
                      <a:endParaRPr lang="en-GB" sz="2400" dirty="0"/>
                    </a:p>
                  </a:txBody>
                  <a:tcPr/>
                </a:tc>
                <a:extLst>
                  <a:ext uri="{0D108BD9-81ED-4DB2-BD59-A6C34878D82A}">
                    <a16:rowId xmlns:a16="http://schemas.microsoft.com/office/drawing/2014/main" val="4105297676"/>
                  </a:ext>
                </a:extLst>
              </a:tr>
              <a:tr h="523239">
                <a:tc>
                  <a:txBody>
                    <a:bodyPr/>
                    <a:lstStyle/>
                    <a:p>
                      <a:r>
                        <a:rPr lang="en-US" sz="2400" dirty="0"/>
                        <a:t>HIGH</a:t>
                      </a:r>
                      <a:endParaRPr lang="en-GB" sz="2400" dirty="0"/>
                    </a:p>
                  </a:txBody>
                  <a:tcPr/>
                </a:tc>
                <a:tc>
                  <a:txBody>
                    <a:bodyPr/>
                    <a:lstStyle/>
                    <a:p>
                      <a:r>
                        <a:rPr lang="en-US" sz="2400" dirty="0"/>
                        <a:t>LOW</a:t>
                      </a:r>
                      <a:endParaRPr lang="en-GB" sz="2400" dirty="0"/>
                    </a:p>
                  </a:txBody>
                  <a:tcPr/>
                </a:tc>
                <a:tc>
                  <a:txBody>
                    <a:bodyPr/>
                    <a:lstStyle/>
                    <a:p>
                      <a:r>
                        <a:rPr lang="en-US" sz="2400" dirty="0"/>
                        <a:t>FORWARD</a:t>
                      </a:r>
                      <a:endParaRPr lang="en-GB" sz="2400" dirty="0"/>
                    </a:p>
                  </a:txBody>
                  <a:tcPr/>
                </a:tc>
                <a:extLst>
                  <a:ext uri="{0D108BD9-81ED-4DB2-BD59-A6C34878D82A}">
                    <a16:rowId xmlns:a16="http://schemas.microsoft.com/office/drawing/2014/main" val="3132168813"/>
                  </a:ext>
                </a:extLst>
              </a:tr>
              <a:tr h="40019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400" dirty="0"/>
                        <a:t>HIGH</a:t>
                      </a:r>
                      <a:endParaRPr lang="en-GB" sz="24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400" dirty="0"/>
                        <a:t>HIGH</a:t>
                      </a:r>
                      <a:endParaRPr lang="en-GB" sz="2400" dirty="0"/>
                    </a:p>
                  </a:txBody>
                  <a:tcPr/>
                </a:tc>
                <a:tc>
                  <a:txBody>
                    <a:bodyPr/>
                    <a:lstStyle/>
                    <a:p>
                      <a:r>
                        <a:rPr lang="en-US" sz="2400" dirty="0"/>
                        <a:t>OFF </a:t>
                      </a:r>
                      <a:endParaRPr lang="en-GB" sz="2400" dirty="0"/>
                    </a:p>
                  </a:txBody>
                  <a:tcPr/>
                </a:tc>
                <a:extLst>
                  <a:ext uri="{0D108BD9-81ED-4DB2-BD59-A6C34878D82A}">
                    <a16:rowId xmlns:a16="http://schemas.microsoft.com/office/drawing/2014/main" val="486585524"/>
                  </a:ext>
                </a:extLst>
              </a:tr>
            </a:tbl>
          </a:graphicData>
        </a:graphic>
      </p:graphicFrame>
    </p:spTree>
    <p:extLst>
      <p:ext uri="{BB962C8B-B14F-4D97-AF65-F5344CB8AC3E}">
        <p14:creationId xmlns:p14="http://schemas.microsoft.com/office/powerpoint/2010/main" val="6165133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2D311-D291-4496-AC85-4047FB530A98}"/>
              </a:ext>
            </a:extLst>
          </p:cNvPr>
          <p:cNvSpPr>
            <a:spLocks noGrp="1"/>
          </p:cNvSpPr>
          <p:nvPr>
            <p:ph type="title"/>
          </p:nvPr>
        </p:nvSpPr>
        <p:spPr/>
        <p:txBody>
          <a:bodyPr/>
          <a:lstStyle/>
          <a:p>
            <a:r>
              <a:rPr lang="en-US" dirty="0">
                <a:latin typeface="Arial Black" panose="020B0A04020102020204" pitchFamily="34" charset="0"/>
              </a:rPr>
              <a:t>How can we use this?</a:t>
            </a:r>
            <a:endParaRPr lang="en-GB" dirty="0">
              <a:latin typeface="Arial Black" panose="020B0A04020102020204" pitchFamily="34" charset="0"/>
            </a:endParaRPr>
          </a:p>
        </p:txBody>
      </p:sp>
      <p:sp>
        <p:nvSpPr>
          <p:cNvPr id="3" name="Content Placeholder 2">
            <a:extLst>
              <a:ext uri="{FF2B5EF4-FFF2-40B4-BE49-F238E27FC236}">
                <a16:creationId xmlns:a16="http://schemas.microsoft.com/office/drawing/2014/main" id="{AF635933-6861-45BB-B8B5-CA82D787B2A5}"/>
              </a:ext>
            </a:extLst>
          </p:cNvPr>
          <p:cNvSpPr>
            <a:spLocks noGrp="1"/>
          </p:cNvSpPr>
          <p:nvPr>
            <p:ph idx="1"/>
          </p:nvPr>
        </p:nvSpPr>
        <p:spPr/>
        <p:txBody>
          <a:bodyPr/>
          <a:lstStyle/>
          <a:p>
            <a:pPr marL="0" indent="0">
              <a:buNone/>
            </a:pPr>
            <a:r>
              <a:rPr lang="en-US" dirty="0">
                <a:latin typeface="Arial" panose="020B0604020202020204" pitchFamily="34" charset="0"/>
                <a:cs typeface="Arial" panose="020B0604020202020204" pitchFamily="34" charset="0"/>
              </a:rPr>
              <a:t>Any ideas?</a:t>
            </a:r>
            <a:endParaRPr lang="en-GB"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B6EBDAE9-643E-4940-AF7C-4CBFC4DB7B8C}"/>
              </a:ext>
            </a:extLst>
          </p:cNvPr>
          <p:cNvSpPr txBox="1"/>
          <p:nvPr/>
        </p:nvSpPr>
        <p:spPr>
          <a:xfrm>
            <a:off x="494951" y="2687499"/>
            <a:ext cx="9781564" cy="1569660"/>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So, one approach we can use is to turn a motor on for a duration of time, then turn it off.</a:t>
            </a:r>
          </a:p>
          <a:p>
            <a:r>
              <a:rPr lang="en-US" sz="2400" dirty="0">
                <a:latin typeface="Arial" panose="020B0604020202020204" pitchFamily="34" charset="0"/>
                <a:cs typeface="Arial" panose="020B0604020202020204" pitchFamily="34" charset="0"/>
              </a:rPr>
              <a:t>For example, if we want 50% speed we can turn the motor on for 5ms, then turn it off for 5ms.</a:t>
            </a:r>
            <a:endParaRPr lang="en-GB"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5423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305970A-CBFD-4A27-B723-FECDE73EB6AE}"/>
              </a:ext>
            </a:extLst>
          </p:cNvPr>
          <p:cNvSpPr txBox="1"/>
          <p:nvPr/>
        </p:nvSpPr>
        <p:spPr>
          <a:xfrm>
            <a:off x="7975132" y="276837"/>
            <a:ext cx="3967994" cy="2585323"/>
          </a:xfrm>
          <a:prstGeom prst="rect">
            <a:avLst/>
          </a:prstGeom>
          <a:noFill/>
          <a:ln w="76200">
            <a:solidFill>
              <a:schemeClr val="tx1"/>
            </a:solidFill>
          </a:ln>
        </p:spPr>
        <p:txBody>
          <a:bodyPr wrap="square" rtlCol="0">
            <a:spAutoFit/>
          </a:bodyPr>
          <a:lstStyle/>
          <a:p>
            <a:r>
              <a:rPr lang="en-GB" dirty="0">
                <a:latin typeface="Arial" panose="020B0604020202020204" pitchFamily="34" charset="0"/>
                <a:cs typeface="Arial" panose="020B0604020202020204" pitchFamily="34" charset="0"/>
              </a:rPr>
              <a:t>int in1Pin = 2;</a:t>
            </a:r>
            <a:br>
              <a:rPr lang="en-GB" dirty="0">
                <a:latin typeface="Arial" panose="020B0604020202020204" pitchFamily="34" charset="0"/>
                <a:cs typeface="Arial" panose="020B0604020202020204" pitchFamily="34" charset="0"/>
              </a:rPr>
            </a:br>
            <a:r>
              <a:rPr lang="en-GB" dirty="0">
                <a:latin typeface="Arial" panose="020B0604020202020204" pitchFamily="34" charset="0"/>
                <a:cs typeface="Arial" panose="020B0604020202020204" pitchFamily="34" charset="0"/>
              </a:rPr>
              <a:t>int in2Pin = 3;</a:t>
            </a:r>
            <a:br>
              <a:rPr lang="en-GB" dirty="0">
                <a:latin typeface="Arial" panose="020B0604020202020204" pitchFamily="34" charset="0"/>
                <a:cs typeface="Arial" panose="020B0604020202020204" pitchFamily="34" charset="0"/>
              </a:rPr>
            </a:br>
            <a:r>
              <a:rPr lang="en-GB" dirty="0">
                <a:latin typeface="Arial" panose="020B0604020202020204" pitchFamily="34" charset="0"/>
                <a:cs typeface="Arial" panose="020B0604020202020204" pitchFamily="34" charset="0"/>
              </a:rPr>
              <a:t>int in3Pin = 4;</a:t>
            </a:r>
            <a:br>
              <a:rPr lang="en-GB" dirty="0">
                <a:latin typeface="Arial" panose="020B0604020202020204" pitchFamily="34" charset="0"/>
                <a:cs typeface="Arial" panose="020B0604020202020204" pitchFamily="34" charset="0"/>
              </a:rPr>
            </a:br>
            <a:r>
              <a:rPr lang="en-GB" dirty="0">
                <a:latin typeface="Arial" panose="020B0604020202020204" pitchFamily="34" charset="0"/>
                <a:cs typeface="Arial" panose="020B0604020202020204" pitchFamily="34" charset="0"/>
              </a:rPr>
              <a:t>int in4Pin = 5;</a:t>
            </a:r>
            <a:br>
              <a:rPr lang="en-GB" dirty="0">
                <a:latin typeface="Arial" panose="020B0604020202020204" pitchFamily="34" charset="0"/>
                <a:cs typeface="Arial" panose="020B0604020202020204" pitchFamily="34" charset="0"/>
              </a:rPr>
            </a:br>
            <a:br>
              <a:rPr lang="en-GB" dirty="0">
                <a:latin typeface="Arial" panose="020B0604020202020204" pitchFamily="34" charset="0"/>
                <a:cs typeface="Arial" panose="020B0604020202020204" pitchFamily="34" charset="0"/>
              </a:rPr>
            </a:br>
            <a:r>
              <a:rPr lang="en-GB" dirty="0">
                <a:latin typeface="Arial" panose="020B0604020202020204" pitchFamily="34" charset="0"/>
                <a:cs typeface="Arial" panose="020B0604020202020204" pitchFamily="34" charset="0"/>
              </a:rPr>
              <a:t>int motor1Speed = 5; </a:t>
            </a:r>
          </a:p>
          <a:p>
            <a:r>
              <a:rPr lang="en-GB" dirty="0">
                <a:latin typeface="Arial" panose="020B0604020202020204" pitchFamily="34" charset="0"/>
                <a:cs typeface="Arial" panose="020B0604020202020204" pitchFamily="34" charset="0"/>
              </a:rPr>
              <a:t>int motor2Speed = 5;</a:t>
            </a:r>
          </a:p>
          <a:p>
            <a:r>
              <a:rPr lang="en-GB" dirty="0">
                <a:latin typeface="Arial" panose="020B0604020202020204" pitchFamily="34" charset="0"/>
                <a:cs typeface="Arial" panose="020B0604020202020204" pitchFamily="34" charset="0"/>
              </a:rPr>
              <a:t>// 0 -&gt; 10 denotes low to high </a:t>
            </a:r>
            <a:r>
              <a:rPr lang="en-GB" dirty="0" err="1">
                <a:latin typeface="Arial" panose="020B0604020202020204" pitchFamily="34" charset="0"/>
                <a:cs typeface="Arial" panose="020B0604020202020204" pitchFamily="34" charset="0"/>
              </a:rPr>
              <a:t>speedeed</a:t>
            </a:r>
            <a:endParaRPr lang="en-GB"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293EAC4C-83FC-40A8-BB54-209F87DEBB90}"/>
              </a:ext>
            </a:extLst>
          </p:cNvPr>
          <p:cNvSpPr/>
          <p:nvPr/>
        </p:nvSpPr>
        <p:spPr>
          <a:xfrm>
            <a:off x="2002173" y="570451"/>
            <a:ext cx="209725" cy="114929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Content Placeholder 2">
            <a:extLst>
              <a:ext uri="{FF2B5EF4-FFF2-40B4-BE49-F238E27FC236}">
                <a16:creationId xmlns:a16="http://schemas.microsoft.com/office/drawing/2014/main" id="{9AE5452D-2CE9-4E57-85D5-8A2E2FE7D4F8}"/>
              </a:ext>
            </a:extLst>
          </p:cNvPr>
          <p:cNvSpPr>
            <a:spLocks noGrp="1"/>
          </p:cNvSpPr>
          <p:nvPr>
            <p:ph idx="1"/>
          </p:nvPr>
        </p:nvSpPr>
        <p:spPr>
          <a:xfrm>
            <a:off x="891495" y="104724"/>
            <a:ext cx="7607950" cy="6648551"/>
          </a:xfrm>
        </p:spPr>
        <p:txBody>
          <a:bodyPr>
            <a:normAutofit/>
          </a:bodyPr>
          <a:lstStyle/>
          <a:p>
            <a:pPr marL="0" indent="0">
              <a:buNone/>
            </a:pPr>
            <a:r>
              <a:rPr lang="en-GB" sz="2000" dirty="0">
                <a:latin typeface="Arial" panose="020B0604020202020204" pitchFamily="34" charset="0"/>
                <a:cs typeface="Arial" panose="020B0604020202020204" pitchFamily="34" charset="0"/>
              </a:rPr>
              <a:t>void setup() {</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  </a:t>
            </a:r>
            <a:r>
              <a:rPr lang="en-GB" sz="2000" dirty="0" err="1">
                <a:latin typeface="Arial" panose="020B0604020202020204" pitchFamily="34" charset="0"/>
                <a:cs typeface="Arial" panose="020B0604020202020204" pitchFamily="34" charset="0"/>
              </a:rPr>
              <a:t>pinMode</a:t>
            </a:r>
            <a:r>
              <a:rPr lang="en-GB" sz="2000" dirty="0">
                <a:latin typeface="Arial" panose="020B0604020202020204" pitchFamily="34" charset="0"/>
                <a:cs typeface="Arial" panose="020B0604020202020204" pitchFamily="34" charset="0"/>
              </a:rPr>
              <a:t>(in1Pin, OUTPUT);</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  </a:t>
            </a:r>
            <a:r>
              <a:rPr lang="en-GB" sz="2000" dirty="0" err="1">
                <a:latin typeface="Arial" panose="020B0604020202020204" pitchFamily="34" charset="0"/>
                <a:cs typeface="Arial" panose="020B0604020202020204" pitchFamily="34" charset="0"/>
              </a:rPr>
              <a:t>pinMode</a:t>
            </a:r>
            <a:r>
              <a:rPr lang="en-GB" sz="2000" dirty="0">
                <a:latin typeface="Arial" panose="020B0604020202020204" pitchFamily="34" charset="0"/>
                <a:cs typeface="Arial" panose="020B0604020202020204" pitchFamily="34" charset="0"/>
              </a:rPr>
              <a:t>(in2Pin, OUTPUT);</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  </a:t>
            </a:r>
            <a:r>
              <a:rPr lang="en-GB" sz="2000" dirty="0" err="1">
                <a:latin typeface="Arial" panose="020B0604020202020204" pitchFamily="34" charset="0"/>
                <a:cs typeface="Arial" panose="020B0604020202020204" pitchFamily="34" charset="0"/>
              </a:rPr>
              <a:t>pinMode</a:t>
            </a:r>
            <a:r>
              <a:rPr lang="en-GB" sz="2000" dirty="0">
                <a:latin typeface="Arial" panose="020B0604020202020204" pitchFamily="34" charset="0"/>
                <a:cs typeface="Arial" panose="020B0604020202020204" pitchFamily="34" charset="0"/>
              </a:rPr>
              <a:t>(in3Pin, OUTPUT);</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  </a:t>
            </a:r>
            <a:r>
              <a:rPr lang="en-GB" sz="2000" dirty="0" err="1">
                <a:latin typeface="Arial" panose="020B0604020202020204" pitchFamily="34" charset="0"/>
                <a:cs typeface="Arial" panose="020B0604020202020204" pitchFamily="34" charset="0"/>
              </a:rPr>
              <a:t>pinMode</a:t>
            </a:r>
            <a:r>
              <a:rPr lang="en-GB" sz="2000" dirty="0">
                <a:latin typeface="Arial" panose="020B0604020202020204" pitchFamily="34" charset="0"/>
                <a:cs typeface="Arial" panose="020B0604020202020204" pitchFamily="34" charset="0"/>
              </a:rPr>
              <a:t>(in4Pin, OUTPUT);</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a:t>
            </a:r>
            <a:br>
              <a:rPr lang="en-GB" sz="2000" dirty="0">
                <a:latin typeface="Arial" panose="020B0604020202020204" pitchFamily="34" charset="0"/>
                <a:cs typeface="Arial" panose="020B0604020202020204" pitchFamily="34" charset="0"/>
              </a:rPr>
            </a:b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void loop() {</a:t>
            </a:r>
            <a:br>
              <a:rPr lang="da-DK"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 </a:t>
            </a:r>
            <a:r>
              <a:rPr lang="en-GB" sz="2000" dirty="0" err="1">
                <a:latin typeface="Arial" panose="020B0604020202020204" pitchFamily="34" charset="0"/>
                <a:cs typeface="Arial" panose="020B0604020202020204" pitchFamily="34" charset="0"/>
              </a:rPr>
              <a:t>setMotor</a:t>
            </a:r>
            <a:r>
              <a:rPr lang="en-GB" sz="2000" dirty="0">
                <a:latin typeface="Arial" panose="020B0604020202020204" pitchFamily="34" charset="0"/>
                <a:cs typeface="Arial" panose="020B0604020202020204" pitchFamily="34" charset="0"/>
              </a:rPr>
              <a:t>(in1Pin, in2Pin, motor1Speed);</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 </a:t>
            </a:r>
            <a:r>
              <a:rPr lang="en-GB" sz="2000" dirty="0" err="1">
                <a:latin typeface="Arial" panose="020B0604020202020204" pitchFamily="34" charset="0"/>
                <a:cs typeface="Arial" panose="020B0604020202020204" pitchFamily="34" charset="0"/>
              </a:rPr>
              <a:t>setMotor</a:t>
            </a:r>
            <a:r>
              <a:rPr lang="en-GB" sz="2000" dirty="0">
                <a:latin typeface="Arial" panose="020B0604020202020204" pitchFamily="34" charset="0"/>
                <a:cs typeface="Arial" panose="020B0604020202020204" pitchFamily="34" charset="0"/>
              </a:rPr>
              <a:t>(in3Pin, in4Pin, motor2Speed);</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a:t>
            </a:r>
          </a:p>
          <a:p>
            <a:pPr marL="0" indent="0">
              <a:buNone/>
            </a:pP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void </a:t>
            </a:r>
            <a:r>
              <a:rPr lang="en-GB" sz="2000" dirty="0" err="1">
                <a:latin typeface="Arial" panose="020B0604020202020204" pitchFamily="34" charset="0"/>
                <a:cs typeface="Arial" panose="020B0604020202020204" pitchFamily="34" charset="0"/>
              </a:rPr>
              <a:t>setMotor</a:t>
            </a:r>
            <a:r>
              <a:rPr lang="en-GB" sz="2000" dirty="0">
                <a:latin typeface="Arial" panose="020B0604020202020204" pitchFamily="34" charset="0"/>
                <a:cs typeface="Arial" panose="020B0604020202020204" pitchFamily="34" charset="0"/>
              </a:rPr>
              <a:t>(int motorPin1, int motorPin2, int speed){</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    </a:t>
            </a:r>
            <a:r>
              <a:rPr lang="en-GB" sz="2000" dirty="0" err="1">
                <a:latin typeface="Arial" panose="020B0604020202020204" pitchFamily="34" charset="0"/>
                <a:cs typeface="Arial" panose="020B0604020202020204" pitchFamily="34" charset="0"/>
              </a:rPr>
              <a:t>digitalWrite</a:t>
            </a:r>
            <a:r>
              <a:rPr lang="en-GB" sz="2000" dirty="0">
                <a:latin typeface="Arial" panose="020B0604020202020204" pitchFamily="34" charset="0"/>
                <a:cs typeface="Arial" panose="020B0604020202020204" pitchFamily="34" charset="0"/>
              </a:rPr>
              <a:t>(motorPin1, HIGH);</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    </a:t>
            </a:r>
            <a:r>
              <a:rPr lang="en-GB" sz="2000" dirty="0" err="1">
                <a:latin typeface="Arial" panose="020B0604020202020204" pitchFamily="34" charset="0"/>
                <a:cs typeface="Arial" panose="020B0604020202020204" pitchFamily="34" charset="0"/>
              </a:rPr>
              <a:t>digitalWrite</a:t>
            </a:r>
            <a:r>
              <a:rPr lang="en-GB" sz="2000" dirty="0">
                <a:latin typeface="Arial" panose="020B0604020202020204" pitchFamily="34" charset="0"/>
                <a:cs typeface="Arial" panose="020B0604020202020204" pitchFamily="34" charset="0"/>
              </a:rPr>
              <a:t>(motorPin2, LOW);</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   delay(speed);</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    </a:t>
            </a:r>
            <a:r>
              <a:rPr lang="en-GB" sz="2000" dirty="0" err="1">
                <a:latin typeface="Arial" panose="020B0604020202020204" pitchFamily="34" charset="0"/>
                <a:cs typeface="Arial" panose="020B0604020202020204" pitchFamily="34" charset="0"/>
              </a:rPr>
              <a:t>digitalWrite</a:t>
            </a:r>
            <a:r>
              <a:rPr lang="en-GB" sz="2000" dirty="0">
                <a:latin typeface="Arial" panose="020B0604020202020204" pitchFamily="34" charset="0"/>
                <a:cs typeface="Arial" panose="020B0604020202020204" pitchFamily="34" charset="0"/>
              </a:rPr>
              <a:t>(motorPin1, LOW);</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    </a:t>
            </a:r>
            <a:r>
              <a:rPr lang="en-GB" sz="2000" dirty="0" err="1">
                <a:latin typeface="Arial" panose="020B0604020202020204" pitchFamily="34" charset="0"/>
                <a:cs typeface="Arial" panose="020B0604020202020204" pitchFamily="34" charset="0"/>
              </a:rPr>
              <a:t>digitalWrite</a:t>
            </a:r>
            <a:r>
              <a:rPr lang="en-GB" sz="2000" dirty="0">
                <a:latin typeface="Arial" panose="020B0604020202020204" pitchFamily="34" charset="0"/>
                <a:cs typeface="Arial" panose="020B0604020202020204" pitchFamily="34" charset="0"/>
              </a:rPr>
              <a:t>(motorPin2, LOW);</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   delay(10 - speed);</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a:t>
            </a:r>
          </a:p>
        </p:txBody>
      </p:sp>
      <p:sp>
        <p:nvSpPr>
          <p:cNvPr id="2" name="TextBox 1">
            <a:extLst>
              <a:ext uri="{FF2B5EF4-FFF2-40B4-BE49-F238E27FC236}">
                <a16:creationId xmlns:a16="http://schemas.microsoft.com/office/drawing/2014/main" id="{565A824C-973A-4A52-A321-8F0DC7AEB95B}"/>
              </a:ext>
            </a:extLst>
          </p:cNvPr>
          <p:cNvSpPr txBox="1"/>
          <p:nvPr/>
        </p:nvSpPr>
        <p:spPr>
          <a:xfrm>
            <a:off x="7021584" y="4362275"/>
            <a:ext cx="4681057" cy="1384995"/>
          </a:xfrm>
          <a:prstGeom prst="rect">
            <a:avLst/>
          </a:prstGeom>
          <a:noFill/>
          <a:ln w="76200">
            <a:solidFill>
              <a:srgbClr val="FF0000"/>
            </a:solidFill>
          </a:ln>
        </p:spPr>
        <p:txBody>
          <a:bodyPr wrap="square" rtlCol="0">
            <a:spAutoFit/>
          </a:bodyPr>
          <a:lstStyle/>
          <a:p>
            <a:r>
              <a:rPr lang="en-US" sz="2800" dirty="0"/>
              <a:t>Can you see the flaws with this system?</a:t>
            </a:r>
          </a:p>
          <a:p>
            <a:r>
              <a:rPr lang="en-US" sz="2800" dirty="0"/>
              <a:t>Let’s look at the logic in detail.</a:t>
            </a:r>
            <a:endParaRPr lang="en-GB" sz="2800" dirty="0"/>
          </a:p>
        </p:txBody>
      </p:sp>
    </p:spTree>
    <p:extLst>
      <p:ext uri="{BB962C8B-B14F-4D97-AF65-F5344CB8AC3E}">
        <p14:creationId xmlns:p14="http://schemas.microsoft.com/office/powerpoint/2010/main" val="3002538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4E061785-1569-4D1F-8123-183778BD843C}"/>
              </a:ext>
            </a:extLst>
          </p:cNvPr>
          <p:cNvGraphicFramePr>
            <a:graphicFrameLocks noGrp="1"/>
          </p:cNvGraphicFramePr>
          <p:nvPr>
            <p:extLst>
              <p:ext uri="{D42A27DB-BD31-4B8C-83A1-F6EECF244321}">
                <p14:modId xmlns:p14="http://schemas.microsoft.com/office/powerpoint/2010/main" val="2412452969"/>
              </p:ext>
            </p:extLst>
          </p:nvPr>
        </p:nvGraphicFramePr>
        <p:xfrm>
          <a:off x="394283" y="2625754"/>
          <a:ext cx="4672666" cy="4079240"/>
        </p:xfrm>
        <a:graphic>
          <a:graphicData uri="http://schemas.openxmlformats.org/drawingml/2006/table">
            <a:tbl>
              <a:tblPr firstRow="1" bandRow="1">
                <a:tableStyleId>{5C22544A-7EE6-4342-B048-85BDC9FD1C3A}</a:tableStyleId>
              </a:tblPr>
              <a:tblGrid>
                <a:gridCol w="970362">
                  <a:extLst>
                    <a:ext uri="{9D8B030D-6E8A-4147-A177-3AD203B41FA5}">
                      <a16:colId xmlns:a16="http://schemas.microsoft.com/office/drawing/2014/main" val="3018349004"/>
                    </a:ext>
                  </a:extLst>
                </a:gridCol>
                <a:gridCol w="970362">
                  <a:extLst>
                    <a:ext uri="{9D8B030D-6E8A-4147-A177-3AD203B41FA5}">
                      <a16:colId xmlns:a16="http://schemas.microsoft.com/office/drawing/2014/main" val="178800274"/>
                    </a:ext>
                  </a:extLst>
                </a:gridCol>
                <a:gridCol w="970362">
                  <a:extLst>
                    <a:ext uri="{9D8B030D-6E8A-4147-A177-3AD203B41FA5}">
                      <a16:colId xmlns:a16="http://schemas.microsoft.com/office/drawing/2014/main" val="3313727365"/>
                    </a:ext>
                  </a:extLst>
                </a:gridCol>
                <a:gridCol w="970362">
                  <a:extLst>
                    <a:ext uri="{9D8B030D-6E8A-4147-A177-3AD203B41FA5}">
                      <a16:colId xmlns:a16="http://schemas.microsoft.com/office/drawing/2014/main" val="3281072833"/>
                    </a:ext>
                  </a:extLst>
                </a:gridCol>
                <a:gridCol w="791218">
                  <a:extLst>
                    <a:ext uri="{9D8B030D-6E8A-4147-A177-3AD203B41FA5}">
                      <a16:colId xmlns:a16="http://schemas.microsoft.com/office/drawing/2014/main" val="1271545967"/>
                    </a:ext>
                  </a:extLst>
                </a:gridCol>
              </a:tblGrid>
              <a:tr h="370840">
                <a:tc>
                  <a:txBody>
                    <a:bodyPr/>
                    <a:lstStyle/>
                    <a:p>
                      <a:r>
                        <a:rPr lang="en-US" dirty="0"/>
                        <a:t>TIME</a:t>
                      </a:r>
                      <a:endParaRPr lang="en-GB" dirty="0"/>
                    </a:p>
                  </a:txBody>
                  <a:tcPr/>
                </a:tc>
                <a:tc>
                  <a:txBody>
                    <a:bodyPr/>
                    <a:lstStyle/>
                    <a:p>
                      <a:r>
                        <a:rPr lang="en-US" dirty="0"/>
                        <a:t>in1</a:t>
                      </a:r>
                      <a:endParaRPr lang="en-GB" dirty="0"/>
                    </a:p>
                  </a:txBody>
                  <a:tcPr/>
                </a:tc>
                <a:tc>
                  <a:txBody>
                    <a:bodyPr/>
                    <a:lstStyle/>
                    <a:p>
                      <a:r>
                        <a:rPr lang="en-US" dirty="0"/>
                        <a:t>in2</a:t>
                      </a:r>
                      <a:endParaRPr lang="en-GB" dirty="0"/>
                    </a:p>
                  </a:txBody>
                  <a:tcPr/>
                </a:tc>
                <a:tc>
                  <a:txBody>
                    <a:bodyPr/>
                    <a:lstStyle/>
                    <a:p>
                      <a:r>
                        <a:rPr lang="en-US" dirty="0"/>
                        <a:t>in3</a:t>
                      </a:r>
                      <a:endParaRPr lang="en-GB" dirty="0"/>
                    </a:p>
                  </a:txBody>
                  <a:tcPr/>
                </a:tc>
                <a:tc>
                  <a:txBody>
                    <a:bodyPr/>
                    <a:lstStyle/>
                    <a:p>
                      <a:r>
                        <a:rPr lang="en-US" dirty="0"/>
                        <a:t>in4</a:t>
                      </a:r>
                      <a:endParaRPr lang="en-GB" dirty="0"/>
                    </a:p>
                  </a:txBody>
                  <a:tcPr/>
                </a:tc>
                <a:extLst>
                  <a:ext uri="{0D108BD9-81ED-4DB2-BD59-A6C34878D82A}">
                    <a16:rowId xmlns:a16="http://schemas.microsoft.com/office/drawing/2014/main" val="1013400976"/>
                  </a:ext>
                </a:extLst>
              </a:tr>
              <a:tr h="370840">
                <a:tc>
                  <a:txBody>
                    <a:bodyPr/>
                    <a:lstStyle/>
                    <a:p>
                      <a:r>
                        <a:rPr lang="en-US" dirty="0"/>
                        <a:t>1</a:t>
                      </a:r>
                      <a:endParaRPr lang="en-GB" dirty="0"/>
                    </a:p>
                  </a:txBody>
                  <a:tcPr/>
                </a:tc>
                <a:tc>
                  <a:txBody>
                    <a:bodyPr/>
                    <a:lstStyle/>
                    <a:p>
                      <a:r>
                        <a:rPr lang="en-US" dirty="0"/>
                        <a:t>HIGH</a:t>
                      </a:r>
                      <a:endParaRPr lang="en-GB" dirty="0"/>
                    </a:p>
                  </a:txBody>
                  <a:tcPr/>
                </a:tc>
                <a:tc>
                  <a:txBody>
                    <a:bodyPr/>
                    <a:lstStyle/>
                    <a:p>
                      <a:r>
                        <a:rPr lang="en-US" dirty="0"/>
                        <a:t>LOW</a:t>
                      </a:r>
                      <a:endParaRPr lang="en-GB" dirty="0"/>
                    </a:p>
                  </a:txBody>
                  <a:tcPr/>
                </a:tc>
                <a:tc>
                  <a:txBody>
                    <a:bodyPr/>
                    <a:lstStyle/>
                    <a:p>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extLst>
                  <a:ext uri="{0D108BD9-81ED-4DB2-BD59-A6C34878D82A}">
                    <a16:rowId xmlns:a16="http://schemas.microsoft.com/office/drawing/2014/main" val="2341235884"/>
                  </a:ext>
                </a:extLst>
              </a:tr>
              <a:tr h="370840">
                <a:tc>
                  <a:txBody>
                    <a:bodyPr/>
                    <a:lstStyle/>
                    <a:p>
                      <a:r>
                        <a:rPr lang="en-US" dirty="0"/>
                        <a:t>2</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HIGH</a:t>
                      </a:r>
                      <a:endParaRPr lang="en-GB" dirty="0"/>
                    </a:p>
                  </a:txBody>
                  <a:tcPr/>
                </a:tc>
                <a:tc>
                  <a:txBody>
                    <a:bodyPr/>
                    <a:lstStyle/>
                    <a:p>
                      <a:r>
                        <a:rPr lang="en-US" dirty="0"/>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extLst>
                  <a:ext uri="{0D108BD9-81ED-4DB2-BD59-A6C34878D82A}">
                    <a16:rowId xmlns:a16="http://schemas.microsoft.com/office/drawing/2014/main" val="932396932"/>
                  </a:ext>
                </a:extLst>
              </a:tr>
              <a:tr h="370840">
                <a:tc>
                  <a:txBody>
                    <a:bodyPr/>
                    <a:lstStyle/>
                    <a:p>
                      <a:r>
                        <a:rPr lang="en-US" dirty="0"/>
                        <a:t>3</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HIGH</a:t>
                      </a:r>
                      <a:endParaRPr lang="en-GB" dirty="0"/>
                    </a:p>
                  </a:txBody>
                  <a:tcPr/>
                </a:tc>
                <a:tc>
                  <a:txBody>
                    <a:bodyPr/>
                    <a:lstStyle/>
                    <a:p>
                      <a:r>
                        <a:rPr lang="en-US" dirty="0"/>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extLst>
                  <a:ext uri="{0D108BD9-81ED-4DB2-BD59-A6C34878D82A}">
                    <a16:rowId xmlns:a16="http://schemas.microsoft.com/office/drawing/2014/main" val="3495529319"/>
                  </a:ext>
                </a:extLst>
              </a:tr>
              <a:tr h="370840">
                <a:tc>
                  <a:txBody>
                    <a:bodyPr/>
                    <a:lstStyle/>
                    <a:p>
                      <a:r>
                        <a:rPr lang="en-US" dirty="0"/>
                        <a:t>4</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HIGH</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extLst>
                  <a:ext uri="{0D108BD9-81ED-4DB2-BD59-A6C34878D82A}">
                    <a16:rowId xmlns:a16="http://schemas.microsoft.com/office/drawing/2014/main" val="1774000015"/>
                  </a:ext>
                </a:extLst>
              </a:tr>
              <a:tr h="370840">
                <a:tc>
                  <a:txBody>
                    <a:bodyPr/>
                    <a:lstStyle/>
                    <a:p>
                      <a:r>
                        <a:rPr lang="en-US" dirty="0"/>
                        <a:t>5</a:t>
                      </a:r>
                      <a:endParaRPr lang="en-GB" dirty="0"/>
                    </a:p>
                  </a:txBody>
                  <a:tcPr/>
                </a:tc>
                <a:tc>
                  <a:txBody>
                    <a:bodyPr/>
                    <a:lstStyle/>
                    <a:p>
                      <a:r>
                        <a:rPr lang="en-US" dirty="0"/>
                        <a:t>HIGH</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LOW</a:t>
                      </a:r>
                      <a:endParaRPr lang="en-GB" dirty="0"/>
                    </a:p>
                  </a:txBody>
                  <a:tcPr/>
                </a:tc>
                <a:extLst>
                  <a:ext uri="{0D108BD9-81ED-4DB2-BD59-A6C34878D82A}">
                    <a16:rowId xmlns:a16="http://schemas.microsoft.com/office/drawing/2014/main" val="4242263474"/>
                  </a:ext>
                </a:extLst>
              </a:tr>
              <a:tr h="370840">
                <a:tc>
                  <a:txBody>
                    <a:bodyPr/>
                    <a:lstStyle/>
                    <a:p>
                      <a:r>
                        <a:rPr lang="en-US" dirty="0"/>
                        <a:t>6</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extLst>
                  <a:ext uri="{0D108BD9-81ED-4DB2-BD59-A6C34878D82A}">
                    <a16:rowId xmlns:a16="http://schemas.microsoft.com/office/drawing/2014/main" val="525219083"/>
                  </a:ext>
                </a:extLst>
              </a:tr>
              <a:tr h="370840">
                <a:tc>
                  <a:txBody>
                    <a:bodyPr/>
                    <a:lstStyle/>
                    <a:p>
                      <a:r>
                        <a:rPr lang="en-US" dirty="0"/>
                        <a:t>7</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extLst>
                  <a:ext uri="{0D108BD9-81ED-4DB2-BD59-A6C34878D82A}">
                    <a16:rowId xmlns:a16="http://schemas.microsoft.com/office/drawing/2014/main" val="3105151413"/>
                  </a:ext>
                </a:extLst>
              </a:tr>
              <a:tr h="370840">
                <a:tc>
                  <a:txBody>
                    <a:bodyPr/>
                    <a:lstStyle/>
                    <a:p>
                      <a:r>
                        <a:rPr lang="en-US" dirty="0"/>
                        <a:t>8</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extLst>
                  <a:ext uri="{0D108BD9-81ED-4DB2-BD59-A6C34878D82A}">
                    <a16:rowId xmlns:a16="http://schemas.microsoft.com/office/drawing/2014/main" val="3792135892"/>
                  </a:ext>
                </a:extLst>
              </a:tr>
              <a:tr h="370840">
                <a:tc>
                  <a:txBody>
                    <a:bodyPr/>
                    <a:lstStyle/>
                    <a:p>
                      <a:r>
                        <a:rPr lang="en-US" dirty="0"/>
                        <a:t>9</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extLst>
                  <a:ext uri="{0D108BD9-81ED-4DB2-BD59-A6C34878D82A}">
                    <a16:rowId xmlns:a16="http://schemas.microsoft.com/office/drawing/2014/main" val="3400260774"/>
                  </a:ext>
                </a:extLst>
              </a:tr>
              <a:tr h="370840">
                <a:tc>
                  <a:txBody>
                    <a:bodyPr/>
                    <a:lstStyle/>
                    <a:p>
                      <a:r>
                        <a:rPr lang="en-US" dirty="0"/>
                        <a:t>10</a:t>
                      </a:r>
                      <a:endParaRPr lang="en-GB" dirty="0"/>
                    </a:p>
                  </a:txBody>
                  <a:tcPr/>
                </a:tc>
                <a:tc>
                  <a:txBody>
                    <a:bodyPr/>
                    <a:lstStyle/>
                    <a:p>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LOW</a:t>
                      </a:r>
                      <a:endParaRPr lang="en-GB" dirty="0"/>
                    </a:p>
                  </a:txBody>
                  <a:tcPr/>
                </a:tc>
                <a:extLst>
                  <a:ext uri="{0D108BD9-81ED-4DB2-BD59-A6C34878D82A}">
                    <a16:rowId xmlns:a16="http://schemas.microsoft.com/office/drawing/2014/main" val="4287580844"/>
                  </a:ext>
                </a:extLst>
              </a:tr>
            </a:tbl>
          </a:graphicData>
        </a:graphic>
      </p:graphicFrame>
      <p:graphicFrame>
        <p:nvGraphicFramePr>
          <p:cNvPr id="5" name="Table 4">
            <a:extLst>
              <a:ext uri="{FF2B5EF4-FFF2-40B4-BE49-F238E27FC236}">
                <a16:creationId xmlns:a16="http://schemas.microsoft.com/office/drawing/2014/main" id="{595A317F-AAFD-4D23-9CCE-6DF29AE34FF7}"/>
              </a:ext>
            </a:extLst>
          </p:cNvPr>
          <p:cNvGraphicFramePr>
            <a:graphicFrameLocks noGrp="1"/>
          </p:cNvGraphicFramePr>
          <p:nvPr>
            <p:extLst>
              <p:ext uri="{D42A27DB-BD31-4B8C-83A1-F6EECF244321}">
                <p14:modId xmlns:p14="http://schemas.microsoft.com/office/powerpoint/2010/main" val="155331922"/>
              </p:ext>
            </p:extLst>
          </p:nvPr>
        </p:nvGraphicFramePr>
        <p:xfrm>
          <a:off x="6096000" y="2625754"/>
          <a:ext cx="4672666" cy="4079240"/>
        </p:xfrm>
        <a:graphic>
          <a:graphicData uri="http://schemas.openxmlformats.org/drawingml/2006/table">
            <a:tbl>
              <a:tblPr firstRow="1" bandRow="1">
                <a:tableStyleId>{5C22544A-7EE6-4342-B048-85BDC9FD1C3A}</a:tableStyleId>
              </a:tblPr>
              <a:tblGrid>
                <a:gridCol w="970362">
                  <a:extLst>
                    <a:ext uri="{9D8B030D-6E8A-4147-A177-3AD203B41FA5}">
                      <a16:colId xmlns:a16="http://schemas.microsoft.com/office/drawing/2014/main" val="3018349004"/>
                    </a:ext>
                  </a:extLst>
                </a:gridCol>
                <a:gridCol w="970362">
                  <a:extLst>
                    <a:ext uri="{9D8B030D-6E8A-4147-A177-3AD203B41FA5}">
                      <a16:colId xmlns:a16="http://schemas.microsoft.com/office/drawing/2014/main" val="178800274"/>
                    </a:ext>
                  </a:extLst>
                </a:gridCol>
                <a:gridCol w="970362">
                  <a:extLst>
                    <a:ext uri="{9D8B030D-6E8A-4147-A177-3AD203B41FA5}">
                      <a16:colId xmlns:a16="http://schemas.microsoft.com/office/drawing/2014/main" val="3313727365"/>
                    </a:ext>
                  </a:extLst>
                </a:gridCol>
                <a:gridCol w="970362">
                  <a:extLst>
                    <a:ext uri="{9D8B030D-6E8A-4147-A177-3AD203B41FA5}">
                      <a16:colId xmlns:a16="http://schemas.microsoft.com/office/drawing/2014/main" val="3281072833"/>
                    </a:ext>
                  </a:extLst>
                </a:gridCol>
                <a:gridCol w="791218">
                  <a:extLst>
                    <a:ext uri="{9D8B030D-6E8A-4147-A177-3AD203B41FA5}">
                      <a16:colId xmlns:a16="http://schemas.microsoft.com/office/drawing/2014/main" val="1271545967"/>
                    </a:ext>
                  </a:extLst>
                </a:gridCol>
              </a:tblGrid>
              <a:tr h="370840">
                <a:tc>
                  <a:txBody>
                    <a:bodyPr/>
                    <a:lstStyle/>
                    <a:p>
                      <a:r>
                        <a:rPr lang="en-US" dirty="0"/>
                        <a:t>TIME</a:t>
                      </a:r>
                      <a:endParaRPr lang="en-GB" dirty="0"/>
                    </a:p>
                  </a:txBody>
                  <a:tcPr/>
                </a:tc>
                <a:tc>
                  <a:txBody>
                    <a:bodyPr/>
                    <a:lstStyle/>
                    <a:p>
                      <a:r>
                        <a:rPr lang="en-US" dirty="0"/>
                        <a:t>in1</a:t>
                      </a:r>
                      <a:endParaRPr lang="en-GB" dirty="0"/>
                    </a:p>
                  </a:txBody>
                  <a:tcPr/>
                </a:tc>
                <a:tc>
                  <a:txBody>
                    <a:bodyPr/>
                    <a:lstStyle/>
                    <a:p>
                      <a:r>
                        <a:rPr lang="en-US" dirty="0"/>
                        <a:t>in2</a:t>
                      </a:r>
                      <a:endParaRPr lang="en-GB" dirty="0"/>
                    </a:p>
                  </a:txBody>
                  <a:tcPr/>
                </a:tc>
                <a:tc>
                  <a:txBody>
                    <a:bodyPr/>
                    <a:lstStyle/>
                    <a:p>
                      <a:r>
                        <a:rPr lang="en-US" dirty="0"/>
                        <a:t>in3</a:t>
                      </a:r>
                      <a:endParaRPr lang="en-GB" dirty="0"/>
                    </a:p>
                  </a:txBody>
                  <a:tcPr/>
                </a:tc>
                <a:tc>
                  <a:txBody>
                    <a:bodyPr/>
                    <a:lstStyle/>
                    <a:p>
                      <a:r>
                        <a:rPr lang="en-US" dirty="0"/>
                        <a:t>in4</a:t>
                      </a:r>
                      <a:endParaRPr lang="en-GB" dirty="0"/>
                    </a:p>
                  </a:txBody>
                  <a:tcPr/>
                </a:tc>
                <a:extLst>
                  <a:ext uri="{0D108BD9-81ED-4DB2-BD59-A6C34878D82A}">
                    <a16:rowId xmlns:a16="http://schemas.microsoft.com/office/drawing/2014/main" val="1013400976"/>
                  </a:ext>
                </a:extLst>
              </a:tr>
              <a:tr h="370840">
                <a:tc>
                  <a:txBody>
                    <a:bodyPr/>
                    <a:lstStyle/>
                    <a:p>
                      <a:r>
                        <a:rPr lang="en-US" dirty="0"/>
                        <a:t>11</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lang="en-US" dirty="0"/>
                        <a:t>LOW</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HIGH</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extLst>
                  <a:ext uri="{0D108BD9-81ED-4DB2-BD59-A6C34878D82A}">
                    <a16:rowId xmlns:a16="http://schemas.microsoft.com/office/drawing/2014/main" val="2341235884"/>
                  </a:ext>
                </a:extLst>
              </a:tr>
              <a:tr h="370840">
                <a:tc>
                  <a:txBody>
                    <a:bodyPr/>
                    <a:lstStyle/>
                    <a:p>
                      <a:r>
                        <a:rPr lang="en-US" dirty="0"/>
                        <a:t>12</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lang="en-US" dirty="0"/>
                        <a:t>LOW</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HIGH</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extLst>
                  <a:ext uri="{0D108BD9-81ED-4DB2-BD59-A6C34878D82A}">
                    <a16:rowId xmlns:a16="http://schemas.microsoft.com/office/drawing/2014/main" val="932396932"/>
                  </a:ext>
                </a:extLst>
              </a:tr>
              <a:tr h="370840">
                <a:tc>
                  <a:txBody>
                    <a:bodyPr/>
                    <a:lstStyle/>
                    <a:p>
                      <a:r>
                        <a:rPr lang="en-US" dirty="0"/>
                        <a:t>13</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lang="en-US" dirty="0"/>
                        <a:t>LOW</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HIGH</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extLst>
                  <a:ext uri="{0D108BD9-81ED-4DB2-BD59-A6C34878D82A}">
                    <a16:rowId xmlns:a16="http://schemas.microsoft.com/office/drawing/2014/main" val="3495529319"/>
                  </a:ext>
                </a:extLst>
              </a:tr>
              <a:tr h="370840">
                <a:tc>
                  <a:txBody>
                    <a:bodyPr/>
                    <a:lstStyle/>
                    <a:p>
                      <a:r>
                        <a:rPr lang="en-US" dirty="0"/>
                        <a:t>14</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HIGH</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extLst>
                  <a:ext uri="{0D108BD9-81ED-4DB2-BD59-A6C34878D82A}">
                    <a16:rowId xmlns:a16="http://schemas.microsoft.com/office/drawing/2014/main" val="1774000015"/>
                  </a:ext>
                </a:extLst>
              </a:tr>
              <a:tr h="370840">
                <a:tc>
                  <a:txBody>
                    <a:bodyPr/>
                    <a:lstStyle/>
                    <a:p>
                      <a:r>
                        <a:rPr lang="en-US" dirty="0"/>
                        <a:t>15</a:t>
                      </a:r>
                      <a:endParaRPr lang="en-GB" dirty="0"/>
                    </a:p>
                  </a:txBody>
                  <a:tcPr/>
                </a:tc>
                <a:tc>
                  <a:txBody>
                    <a:bodyPr/>
                    <a:lstStyle/>
                    <a:p>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HIGH</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extLst>
                  <a:ext uri="{0D108BD9-81ED-4DB2-BD59-A6C34878D82A}">
                    <a16:rowId xmlns:a16="http://schemas.microsoft.com/office/drawing/2014/main" val="4242263474"/>
                  </a:ext>
                </a:extLst>
              </a:tr>
              <a:tr h="370840">
                <a:tc>
                  <a:txBody>
                    <a:bodyPr/>
                    <a:lstStyle/>
                    <a:p>
                      <a:r>
                        <a:rPr lang="en-US" dirty="0"/>
                        <a:t>16</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extLst>
                  <a:ext uri="{0D108BD9-81ED-4DB2-BD59-A6C34878D82A}">
                    <a16:rowId xmlns:a16="http://schemas.microsoft.com/office/drawing/2014/main" val="525219083"/>
                  </a:ext>
                </a:extLst>
              </a:tr>
              <a:tr h="370840">
                <a:tc>
                  <a:txBody>
                    <a:bodyPr/>
                    <a:lstStyle/>
                    <a:p>
                      <a:r>
                        <a:rPr lang="en-US" dirty="0"/>
                        <a:t>17</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extLst>
                  <a:ext uri="{0D108BD9-81ED-4DB2-BD59-A6C34878D82A}">
                    <a16:rowId xmlns:a16="http://schemas.microsoft.com/office/drawing/2014/main" val="3105151413"/>
                  </a:ext>
                </a:extLst>
              </a:tr>
              <a:tr h="370840">
                <a:tc>
                  <a:txBody>
                    <a:bodyPr/>
                    <a:lstStyle/>
                    <a:p>
                      <a:r>
                        <a:rPr lang="en-US" dirty="0"/>
                        <a:t>18</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extLst>
                  <a:ext uri="{0D108BD9-81ED-4DB2-BD59-A6C34878D82A}">
                    <a16:rowId xmlns:a16="http://schemas.microsoft.com/office/drawing/2014/main" val="3792135892"/>
                  </a:ext>
                </a:extLst>
              </a:tr>
              <a:tr h="370840">
                <a:tc>
                  <a:txBody>
                    <a:bodyPr/>
                    <a:lstStyle/>
                    <a:p>
                      <a:r>
                        <a:rPr lang="en-US" dirty="0"/>
                        <a:t>19</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LOW</a:t>
                      </a:r>
                      <a:endParaRPr lang="en-GB" dirty="0"/>
                    </a:p>
                  </a:txBody>
                  <a:tcPr/>
                </a:tc>
                <a:extLst>
                  <a:ext uri="{0D108BD9-81ED-4DB2-BD59-A6C34878D82A}">
                    <a16:rowId xmlns:a16="http://schemas.microsoft.com/office/drawing/2014/main" val="3400260774"/>
                  </a:ext>
                </a:extLst>
              </a:tr>
              <a:tr h="370840">
                <a:tc>
                  <a:txBody>
                    <a:bodyPr/>
                    <a:lstStyle/>
                    <a:p>
                      <a:r>
                        <a:rPr lang="en-US" dirty="0"/>
                        <a:t>20</a:t>
                      </a:r>
                      <a:endParaRPr lang="en-GB" dirty="0"/>
                    </a:p>
                  </a:txBody>
                  <a:tcPr/>
                </a:tc>
                <a:tc>
                  <a:txBody>
                    <a:bodyPr/>
                    <a:lstStyle/>
                    <a:p>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LOW</a:t>
                      </a:r>
                      <a:endParaRPr lang="en-GB" dirty="0"/>
                    </a:p>
                  </a:txBody>
                  <a:tcPr/>
                </a:tc>
                <a:tc>
                  <a:txBody>
                    <a:bodyPr/>
                    <a:lstStyle/>
                    <a:p>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LOW</a:t>
                      </a:r>
                      <a:endParaRPr lang="en-GB" dirty="0"/>
                    </a:p>
                  </a:txBody>
                  <a:tcPr/>
                </a:tc>
                <a:extLst>
                  <a:ext uri="{0D108BD9-81ED-4DB2-BD59-A6C34878D82A}">
                    <a16:rowId xmlns:a16="http://schemas.microsoft.com/office/drawing/2014/main" val="4287580844"/>
                  </a:ext>
                </a:extLst>
              </a:tr>
            </a:tbl>
          </a:graphicData>
        </a:graphic>
      </p:graphicFrame>
      <p:sp>
        <p:nvSpPr>
          <p:cNvPr id="6" name="TextBox 5">
            <a:extLst>
              <a:ext uri="{FF2B5EF4-FFF2-40B4-BE49-F238E27FC236}">
                <a16:creationId xmlns:a16="http://schemas.microsoft.com/office/drawing/2014/main" id="{D9D66632-DE11-4918-A0BB-481F7EA01453}"/>
              </a:ext>
            </a:extLst>
          </p:cNvPr>
          <p:cNvSpPr txBox="1"/>
          <p:nvPr/>
        </p:nvSpPr>
        <p:spPr>
          <a:xfrm>
            <a:off x="645952" y="335560"/>
            <a:ext cx="10914077" cy="461665"/>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If we set motor1Speed = 5, and motor2Speed=5, we get some logic like this</a:t>
            </a:r>
            <a:endParaRPr lang="en-GB" sz="24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4CA9DEF-A596-44A7-9142-392962B0B14F}"/>
              </a:ext>
            </a:extLst>
          </p:cNvPr>
          <p:cNvSpPr txBox="1"/>
          <p:nvPr/>
        </p:nvSpPr>
        <p:spPr>
          <a:xfrm>
            <a:off x="394284" y="960512"/>
            <a:ext cx="4672666" cy="1477328"/>
          </a:xfrm>
          <a:prstGeom prst="rect">
            <a:avLst/>
          </a:prstGeom>
          <a:noFill/>
          <a:ln w="76200">
            <a:solidFill>
              <a:schemeClr val="tx1"/>
            </a:solidFill>
          </a:ln>
        </p:spPr>
        <p:txBody>
          <a:bodyPr wrap="square">
            <a:spAutoFit/>
          </a:bodyPr>
          <a:lstStyle/>
          <a:p>
            <a:r>
              <a:rPr lang="en-GB" sz="1800" dirty="0" err="1">
                <a:latin typeface="Arial" panose="020B0604020202020204" pitchFamily="34" charset="0"/>
                <a:cs typeface="Arial" panose="020B0604020202020204" pitchFamily="34" charset="0"/>
              </a:rPr>
              <a:t>setMotor</a:t>
            </a:r>
            <a:r>
              <a:rPr lang="en-GB" sz="1800" dirty="0">
                <a:latin typeface="Arial" panose="020B0604020202020204" pitchFamily="34" charset="0"/>
                <a:cs typeface="Arial" panose="020B0604020202020204" pitchFamily="34" charset="0"/>
              </a:rPr>
              <a:t>(in1Pin, in2Pin, motor1Speed);</a:t>
            </a:r>
          </a:p>
          <a:p>
            <a:endParaRPr lang="en-GB"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set in1 = high, set in2 = low, delay(5)</a:t>
            </a:r>
          </a:p>
          <a:p>
            <a:r>
              <a:rPr lang="en-US" dirty="0">
                <a:latin typeface="Arial" panose="020B0604020202020204" pitchFamily="34" charset="0"/>
                <a:cs typeface="Arial" panose="020B0604020202020204" pitchFamily="34" charset="0"/>
              </a:rPr>
              <a:t>set in1 = low, set in2 = low, delay(10-5)</a:t>
            </a:r>
            <a:endParaRPr lang="en-GB" dirty="0">
              <a:latin typeface="Arial" panose="020B0604020202020204" pitchFamily="34" charset="0"/>
              <a:cs typeface="Arial" panose="020B0604020202020204" pitchFamily="34" charset="0"/>
            </a:endParaRPr>
          </a:p>
          <a:p>
            <a:endParaRPr lang="en-GB" dirty="0"/>
          </a:p>
        </p:txBody>
      </p:sp>
      <p:sp>
        <p:nvSpPr>
          <p:cNvPr id="10" name="TextBox 9">
            <a:extLst>
              <a:ext uri="{FF2B5EF4-FFF2-40B4-BE49-F238E27FC236}">
                <a16:creationId xmlns:a16="http://schemas.microsoft.com/office/drawing/2014/main" id="{5769A1DC-B226-4402-A356-5A5A615BEE82}"/>
              </a:ext>
            </a:extLst>
          </p:cNvPr>
          <p:cNvSpPr txBox="1"/>
          <p:nvPr/>
        </p:nvSpPr>
        <p:spPr>
          <a:xfrm>
            <a:off x="6102990" y="960512"/>
            <a:ext cx="4665676" cy="1477328"/>
          </a:xfrm>
          <a:prstGeom prst="rect">
            <a:avLst/>
          </a:prstGeom>
          <a:noFill/>
          <a:ln w="76200">
            <a:solidFill>
              <a:schemeClr val="tx1"/>
            </a:solidFill>
          </a:ln>
        </p:spPr>
        <p:txBody>
          <a:bodyPr wrap="square">
            <a:spAutoFit/>
          </a:bodyPr>
          <a:lstStyle/>
          <a:p>
            <a:r>
              <a:rPr lang="en-GB" sz="1800" dirty="0" err="1">
                <a:latin typeface="Arial" panose="020B0604020202020204" pitchFamily="34" charset="0"/>
                <a:cs typeface="Arial" panose="020B0604020202020204" pitchFamily="34" charset="0"/>
              </a:rPr>
              <a:t>setMotor</a:t>
            </a:r>
            <a:r>
              <a:rPr lang="en-GB" sz="1800" dirty="0">
                <a:latin typeface="Arial" panose="020B0604020202020204" pitchFamily="34" charset="0"/>
                <a:cs typeface="Arial" panose="020B0604020202020204" pitchFamily="34" charset="0"/>
              </a:rPr>
              <a:t>(in3Pin, in4Pin, motor2Speed);</a:t>
            </a:r>
          </a:p>
          <a:p>
            <a:endParaRPr lang="en-GB"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set in3 = high, set in4 = low, delay(5)</a:t>
            </a:r>
          </a:p>
          <a:p>
            <a:r>
              <a:rPr lang="en-US" dirty="0">
                <a:latin typeface="Arial" panose="020B0604020202020204" pitchFamily="34" charset="0"/>
                <a:cs typeface="Arial" panose="020B0604020202020204" pitchFamily="34" charset="0"/>
              </a:rPr>
              <a:t>set in3 = low, set in4 = low, delay(10-5)</a:t>
            </a:r>
            <a:endParaRPr lang="en-GB" dirty="0">
              <a:latin typeface="Arial" panose="020B0604020202020204" pitchFamily="34" charset="0"/>
              <a:cs typeface="Arial" panose="020B0604020202020204" pitchFamily="34" charset="0"/>
            </a:endParaRPr>
          </a:p>
          <a:p>
            <a:endParaRPr lang="en-GB" dirty="0"/>
          </a:p>
        </p:txBody>
      </p:sp>
    </p:spTree>
    <p:extLst>
      <p:ext uri="{BB962C8B-B14F-4D97-AF65-F5344CB8AC3E}">
        <p14:creationId xmlns:p14="http://schemas.microsoft.com/office/powerpoint/2010/main" val="760864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87F96-D8CF-406B-B549-4144F4DFE8A7}"/>
              </a:ext>
            </a:extLst>
          </p:cNvPr>
          <p:cNvSpPr>
            <a:spLocks noGrp="1"/>
          </p:cNvSpPr>
          <p:nvPr>
            <p:ph type="title"/>
          </p:nvPr>
        </p:nvSpPr>
        <p:spPr>
          <a:xfrm>
            <a:off x="838200" y="365126"/>
            <a:ext cx="10515600" cy="977114"/>
          </a:xfrm>
        </p:spPr>
        <p:txBody>
          <a:bodyPr/>
          <a:lstStyle/>
          <a:p>
            <a:r>
              <a:rPr lang="en-US" dirty="0">
                <a:latin typeface="Arial Black" panose="020B0A04020102020204" pitchFamily="34" charset="0"/>
              </a:rPr>
              <a:t>Delay, delay, delay</a:t>
            </a:r>
            <a:endParaRPr lang="en-GB" dirty="0">
              <a:latin typeface="Arial Black" panose="020B0A04020102020204" pitchFamily="34" charset="0"/>
            </a:endParaRPr>
          </a:p>
        </p:txBody>
      </p:sp>
      <p:sp>
        <p:nvSpPr>
          <p:cNvPr id="3" name="Content Placeholder 2">
            <a:extLst>
              <a:ext uri="{FF2B5EF4-FFF2-40B4-BE49-F238E27FC236}">
                <a16:creationId xmlns:a16="http://schemas.microsoft.com/office/drawing/2014/main" id="{9C2836D9-44E5-4417-84FD-F936E402318F}"/>
              </a:ext>
            </a:extLst>
          </p:cNvPr>
          <p:cNvSpPr>
            <a:spLocks noGrp="1"/>
          </p:cNvSpPr>
          <p:nvPr>
            <p:ph idx="1"/>
          </p:nvPr>
        </p:nvSpPr>
        <p:spPr>
          <a:xfrm>
            <a:off x="838199" y="1825625"/>
            <a:ext cx="10637939" cy="4351338"/>
          </a:xfrm>
        </p:spPr>
        <p:txBody>
          <a:bodyPr>
            <a:normAutofit lnSpcReduction="10000"/>
          </a:bodyPr>
          <a:lstStyle/>
          <a:p>
            <a:pPr marL="0" indent="0">
              <a:buNone/>
            </a:pPr>
            <a:r>
              <a:rPr lang="en-US" dirty="0">
                <a:latin typeface="Arial" panose="020B0604020202020204" pitchFamily="34" charset="0"/>
                <a:cs typeface="Arial" panose="020B0604020202020204" pitchFamily="34" charset="0"/>
              </a:rPr>
              <a:t>Each call to </a:t>
            </a:r>
            <a:r>
              <a:rPr lang="en-US" dirty="0" err="1">
                <a:latin typeface="Arial" panose="020B0604020202020204" pitchFamily="34" charset="0"/>
                <a:cs typeface="Arial" panose="020B0604020202020204" pitchFamily="34" charset="0"/>
              </a:rPr>
              <a:t>setMotor</a:t>
            </a:r>
            <a:r>
              <a:rPr lang="en-US" dirty="0">
                <a:latin typeface="Arial" panose="020B0604020202020204" pitchFamily="34" charset="0"/>
                <a:cs typeface="Arial" panose="020B0604020202020204" pitchFamily="34" charset="0"/>
              </a:rPr>
              <a:t> causes a delay of 10ms.  So each motor will be turned off for 10ms.  Even if we set them to the maximum speed (10), they will still spend half of their time turned off.</a:t>
            </a:r>
          </a:p>
          <a:p>
            <a:pPr marL="0" indent="0">
              <a:buNone/>
            </a:pPr>
            <a:r>
              <a:rPr lang="en-US" dirty="0">
                <a:latin typeface="Arial" panose="020B0604020202020204" pitchFamily="34" charset="0"/>
                <a:cs typeface="Arial" panose="020B0604020202020204" pitchFamily="34" charset="0"/>
              </a:rPr>
              <a:t>We can try to do some complicated logic with the </a:t>
            </a:r>
            <a:r>
              <a:rPr lang="en-US" dirty="0" err="1">
                <a:latin typeface="Arial" panose="020B0604020202020204" pitchFamily="34" charset="0"/>
                <a:cs typeface="Arial" panose="020B0604020202020204" pitchFamily="34" charset="0"/>
              </a:rPr>
              <a:t>setMotor</a:t>
            </a:r>
            <a:r>
              <a:rPr lang="en-US" dirty="0">
                <a:latin typeface="Arial" panose="020B0604020202020204" pitchFamily="34" charset="0"/>
                <a:cs typeface="Arial" panose="020B0604020202020204" pitchFamily="34" charset="0"/>
              </a:rPr>
              <a:t> function, by making it look at the two motors and their speeds, but that will get very complicated and messy.  It becomes almost impossible to debug.</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It is much better to keep things simple, and to remove the delay to somewhere else.  This is where the concept of </a:t>
            </a:r>
            <a:r>
              <a:rPr lang="en-US" dirty="0" err="1">
                <a:latin typeface="Arial" panose="020B0604020202020204" pitchFamily="34" charset="0"/>
                <a:cs typeface="Arial" panose="020B0604020202020204" pitchFamily="34" charset="0"/>
              </a:rPr>
              <a:t>motorTimers</a:t>
            </a:r>
            <a:r>
              <a:rPr lang="en-US" dirty="0">
                <a:latin typeface="Arial" panose="020B0604020202020204" pitchFamily="34" charset="0"/>
                <a:cs typeface="Arial" panose="020B0604020202020204" pitchFamily="34" charset="0"/>
              </a:rPr>
              <a:t> comes in.</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39560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0E9032-3B4B-428F-B2FB-D39CE287B4FE}"/>
              </a:ext>
            </a:extLst>
          </p:cNvPr>
          <p:cNvSpPr>
            <a:spLocks noGrp="1"/>
          </p:cNvSpPr>
          <p:nvPr>
            <p:ph idx="1"/>
          </p:nvPr>
        </p:nvSpPr>
        <p:spPr>
          <a:xfrm>
            <a:off x="838200" y="1476462"/>
            <a:ext cx="10515600" cy="4700501"/>
          </a:xfrm>
        </p:spPr>
        <p:txBody>
          <a:bodyPr/>
          <a:lstStyle/>
          <a:p>
            <a:pPr marL="0" indent="0">
              <a:buNone/>
            </a:pPr>
            <a:r>
              <a:rPr lang="en-US" dirty="0"/>
              <a:t>We are not talking about an actual clock.  We can use a general delay of 1ms, check if we need to do any work, then loop again.</a:t>
            </a:r>
          </a:p>
          <a:p>
            <a:pPr marL="0" indent="0">
              <a:buNone/>
            </a:pPr>
            <a:endParaRPr lang="en-US" dirty="0"/>
          </a:p>
          <a:p>
            <a:pPr marL="0" indent="0">
              <a:buNone/>
            </a:pPr>
            <a:r>
              <a:rPr lang="en-GB" sz="2800" dirty="0">
                <a:solidFill>
                  <a:srgbClr val="FF0000"/>
                </a:solidFill>
                <a:latin typeface="Arial" panose="020B0604020202020204" pitchFamily="34" charset="0"/>
                <a:cs typeface="Arial" panose="020B0604020202020204" pitchFamily="34" charset="0"/>
              </a:rPr>
              <a:t>void loop() {</a:t>
            </a:r>
            <a:br>
              <a:rPr lang="da-DK" sz="2800" dirty="0">
                <a:solidFill>
                  <a:srgbClr val="FF0000"/>
                </a:solidFill>
                <a:latin typeface="Arial" panose="020B0604020202020204" pitchFamily="34" charset="0"/>
                <a:cs typeface="Arial" panose="020B0604020202020204" pitchFamily="34" charset="0"/>
              </a:rPr>
            </a:br>
            <a:r>
              <a:rPr lang="en-GB" sz="2800" dirty="0">
                <a:solidFill>
                  <a:srgbClr val="FF0000"/>
                </a:solidFill>
                <a:latin typeface="Arial" panose="020B0604020202020204" pitchFamily="34" charset="0"/>
                <a:cs typeface="Arial" panose="020B0604020202020204" pitchFamily="34" charset="0"/>
              </a:rPr>
              <a:t> do work</a:t>
            </a:r>
            <a:br>
              <a:rPr lang="en-GB" sz="2800" dirty="0">
                <a:solidFill>
                  <a:srgbClr val="FF0000"/>
                </a:solidFill>
                <a:latin typeface="Arial" panose="020B0604020202020204" pitchFamily="34" charset="0"/>
                <a:cs typeface="Arial" panose="020B0604020202020204" pitchFamily="34" charset="0"/>
              </a:rPr>
            </a:br>
            <a:r>
              <a:rPr lang="en-GB" sz="2800" dirty="0">
                <a:solidFill>
                  <a:srgbClr val="FF0000"/>
                </a:solidFill>
                <a:latin typeface="Arial" panose="020B0604020202020204" pitchFamily="34" charset="0"/>
                <a:cs typeface="Arial" panose="020B0604020202020204" pitchFamily="34" charset="0"/>
              </a:rPr>
              <a:t> delay(1);</a:t>
            </a:r>
            <a:br>
              <a:rPr lang="en-GB" sz="2800" dirty="0">
                <a:solidFill>
                  <a:srgbClr val="FF0000"/>
                </a:solidFill>
                <a:latin typeface="Arial" panose="020B0604020202020204" pitchFamily="34" charset="0"/>
                <a:cs typeface="Arial" panose="020B0604020202020204" pitchFamily="34" charset="0"/>
              </a:rPr>
            </a:br>
            <a:r>
              <a:rPr lang="en-GB" sz="2800" dirty="0">
                <a:solidFill>
                  <a:srgbClr val="FF0000"/>
                </a:solidFill>
                <a:latin typeface="Arial" panose="020B0604020202020204" pitchFamily="34" charset="0"/>
                <a:cs typeface="Arial" panose="020B0604020202020204" pitchFamily="34" charset="0"/>
              </a:rPr>
              <a:t>}</a:t>
            </a:r>
          </a:p>
          <a:p>
            <a:pPr marL="0" indent="0">
              <a:buNone/>
            </a:pPr>
            <a:endParaRPr lang="en-GB" dirty="0"/>
          </a:p>
          <a:p>
            <a:pPr marL="0" indent="0">
              <a:buNone/>
            </a:pPr>
            <a:r>
              <a:rPr lang="en-GB" dirty="0"/>
              <a:t>We can use a simple variable to count, then do some work when it is the correct time.</a:t>
            </a:r>
          </a:p>
        </p:txBody>
      </p:sp>
    </p:spTree>
    <p:extLst>
      <p:ext uri="{BB962C8B-B14F-4D97-AF65-F5344CB8AC3E}">
        <p14:creationId xmlns:p14="http://schemas.microsoft.com/office/powerpoint/2010/main" val="12960067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B07368-4A38-4A8B-941C-937364CEDC5D}"/>
              </a:ext>
            </a:extLst>
          </p:cNvPr>
          <p:cNvSpPr>
            <a:spLocks noGrp="1"/>
          </p:cNvSpPr>
          <p:nvPr>
            <p:ph idx="1"/>
          </p:nvPr>
        </p:nvSpPr>
        <p:spPr>
          <a:xfrm>
            <a:off x="327171" y="746620"/>
            <a:ext cx="11026629" cy="5430343"/>
          </a:xfrm>
        </p:spPr>
        <p:txBody>
          <a:bodyPr/>
          <a:lstStyle/>
          <a:p>
            <a:pPr marL="0" indent="0">
              <a:buNone/>
            </a:pPr>
            <a:r>
              <a:rPr lang="en-US" dirty="0">
                <a:latin typeface="Arial" panose="020B0604020202020204" pitchFamily="34" charset="0"/>
                <a:cs typeface="Arial" panose="020B0604020202020204" pitchFamily="34" charset="0"/>
              </a:rPr>
              <a:t>We can make a </a:t>
            </a:r>
            <a:r>
              <a:rPr lang="en-US" dirty="0" err="1">
                <a:latin typeface="Arial" panose="020B0604020202020204" pitchFamily="34" charset="0"/>
                <a:cs typeface="Arial" panose="020B0604020202020204" pitchFamily="34" charset="0"/>
              </a:rPr>
              <a:t>motorTimer</a:t>
            </a:r>
            <a:r>
              <a:rPr lang="en-US" dirty="0">
                <a:latin typeface="Arial" panose="020B0604020202020204" pitchFamily="34" charset="0"/>
                <a:cs typeface="Arial" panose="020B0604020202020204" pitchFamily="34" charset="0"/>
              </a:rPr>
              <a:t> variable for the motor, this will count the current clock cycle. We can use it to determine if we need to do any work this clock cycle.</a:t>
            </a:r>
          </a:p>
          <a:p>
            <a:pPr marL="0" indent="0">
              <a:buNone/>
            </a:pPr>
            <a:r>
              <a:rPr lang="en-US" dirty="0">
                <a:latin typeface="Arial" panose="020B0604020202020204" pitchFamily="34" charset="0"/>
                <a:cs typeface="Arial" panose="020B0604020202020204" pitchFamily="34" charset="0"/>
              </a:rPr>
              <a:t>We need a variable to hold the maximum speed of the motor, just a simple integer is enough.</a:t>
            </a:r>
          </a:p>
          <a:p>
            <a:pPr marL="0" indent="0">
              <a:buNone/>
            </a:pPr>
            <a:r>
              <a:rPr lang="en-US" dirty="0">
                <a:latin typeface="Arial" panose="020B0604020202020204" pitchFamily="34" charset="0"/>
                <a:cs typeface="Arial" panose="020B0604020202020204" pitchFamily="34" charset="0"/>
              </a:rPr>
              <a:t>When our timer is less than the desired speed, we turn the motor on.</a:t>
            </a:r>
          </a:p>
          <a:p>
            <a:pPr marL="0" indent="0">
              <a:buNone/>
            </a:pPr>
            <a:r>
              <a:rPr lang="en-US" dirty="0">
                <a:latin typeface="Arial" panose="020B0604020202020204" pitchFamily="34" charset="0"/>
                <a:cs typeface="Arial" panose="020B0604020202020204" pitchFamily="34" charset="0"/>
              </a:rPr>
              <a:t>When the timer is greater than the speed, we turn the motor off.</a:t>
            </a:r>
          </a:p>
          <a:p>
            <a:pPr marL="0" indent="0">
              <a:buNone/>
            </a:pPr>
            <a:r>
              <a:rPr lang="en-US" dirty="0">
                <a:latin typeface="Arial" panose="020B0604020202020204" pitchFamily="34" charset="0"/>
                <a:cs typeface="Arial" panose="020B0604020202020204" pitchFamily="34" charset="0"/>
              </a:rPr>
              <a:t>When the timer reaches our limit (maximum speed), we reset it to 0.</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593942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4E061785-1569-4D1F-8123-183778BD843C}"/>
              </a:ext>
            </a:extLst>
          </p:cNvPr>
          <p:cNvGraphicFramePr>
            <a:graphicFrameLocks noGrp="1"/>
          </p:cNvGraphicFramePr>
          <p:nvPr>
            <p:extLst>
              <p:ext uri="{D42A27DB-BD31-4B8C-83A1-F6EECF244321}">
                <p14:modId xmlns:p14="http://schemas.microsoft.com/office/powerpoint/2010/main" val="1288446563"/>
              </p:ext>
            </p:extLst>
          </p:nvPr>
        </p:nvGraphicFramePr>
        <p:xfrm>
          <a:off x="402673" y="1389380"/>
          <a:ext cx="11157359" cy="4450080"/>
        </p:xfrm>
        <a:graphic>
          <a:graphicData uri="http://schemas.openxmlformats.org/drawingml/2006/table">
            <a:tbl>
              <a:tblPr firstRow="1" bandRow="1">
                <a:tableStyleId>{5C22544A-7EE6-4342-B048-85BDC9FD1C3A}</a:tableStyleId>
              </a:tblPr>
              <a:tblGrid>
                <a:gridCol w="1520668">
                  <a:extLst>
                    <a:ext uri="{9D8B030D-6E8A-4147-A177-3AD203B41FA5}">
                      <a16:colId xmlns:a16="http://schemas.microsoft.com/office/drawing/2014/main" val="1708055525"/>
                    </a:ext>
                  </a:extLst>
                </a:gridCol>
                <a:gridCol w="5777604">
                  <a:extLst>
                    <a:ext uri="{9D8B030D-6E8A-4147-A177-3AD203B41FA5}">
                      <a16:colId xmlns:a16="http://schemas.microsoft.com/office/drawing/2014/main" val="3018349004"/>
                    </a:ext>
                  </a:extLst>
                </a:gridCol>
                <a:gridCol w="991449">
                  <a:extLst>
                    <a:ext uri="{9D8B030D-6E8A-4147-A177-3AD203B41FA5}">
                      <a16:colId xmlns:a16="http://schemas.microsoft.com/office/drawing/2014/main" val="178800274"/>
                    </a:ext>
                  </a:extLst>
                </a:gridCol>
                <a:gridCol w="890632">
                  <a:extLst>
                    <a:ext uri="{9D8B030D-6E8A-4147-A177-3AD203B41FA5}">
                      <a16:colId xmlns:a16="http://schemas.microsoft.com/office/drawing/2014/main" val="3313727365"/>
                    </a:ext>
                  </a:extLst>
                </a:gridCol>
                <a:gridCol w="929780">
                  <a:extLst>
                    <a:ext uri="{9D8B030D-6E8A-4147-A177-3AD203B41FA5}">
                      <a16:colId xmlns:a16="http://schemas.microsoft.com/office/drawing/2014/main" val="3281072833"/>
                    </a:ext>
                  </a:extLst>
                </a:gridCol>
                <a:gridCol w="1047226">
                  <a:extLst>
                    <a:ext uri="{9D8B030D-6E8A-4147-A177-3AD203B41FA5}">
                      <a16:colId xmlns:a16="http://schemas.microsoft.com/office/drawing/2014/main" val="1271545967"/>
                    </a:ext>
                  </a:extLst>
                </a:gridCol>
              </a:tblGrid>
              <a:tr h="370840">
                <a:tc>
                  <a:txBody>
                    <a:bodyPr/>
                    <a:lstStyle/>
                    <a:p>
                      <a:r>
                        <a:rPr lang="en-US" dirty="0" err="1">
                          <a:latin typeface="Arial" panose="020B0604020202020204" pitchFamily="34" charset="0"/>
                          <a:cs typeface="Arial" panose="020B0604020202020204" pitchFamily="34" charset="0"/>
                        </a:rPr>
                        <a:t>motorTimer</a:t>
                      </a:r>
                      <a:endParaRPr lang="en-GB"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Logic</a:t>
                      </a:r>
                      <a:endParaRPr lang="en-GB"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in1</a:t>
                      </a:r>
                      <a:endParaRPr lang="en-GB"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in2</a:t>
                      </a:r>
                      <a:endParaRPr lang="en-GB"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in3</a:t>
                      </a:r>
                      <a:endParaRPr lang="en-GB"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in4</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13400976"/>
                  </a:ext>
                </a:extLst>
              </a:tr>
              <a:tr h="370840">
                <a:tc>
                  <a:txBody>
                    <a:bodyPr/>
                    <a:lstStyle/>
                    <a:p>
                      <a:r>
                        <a:rPr lang="en-US" dirty="0">
                          <a:latin typeface="Arial" panose="020B0604020202020204" pitchFamily="34" charset="0"/>
                          <a:cs typeface="Arial" panose="020B0604020202020204" pitchFamily="34" charset="0"/>
                        </a:rPr>
                        <a:t>0</a:t>
                      </a:r>
                      <a:endParaRPr lang="en-GB" dirty="0">
                        <a:latin typeface="Arial" panose="020B0604020202020204" pitchFamily="34" charset="0"/>
                        <a:cs typeface="Arial" panose="020B0604020202020204" pitchFamily="34" charset="0"/>
                      </a:endParaRPr>
                    </a:p>
                  </a:txBody>
                  <a:tcPr/>
                </a:tc>
                <a:tc>
                  <a:txBody>
                    <a:bodyPr/>
                    <a:lstStyle/>
                    <a:p>
                      <a:r>
                        <a:rPr lang="en-US" dirty="0" err="1">
                          <a:latin typeface="Arial" panose="020B0604020202020204" pitchFamily="34" charset="0"/>
                          <a:cs typeface="Arial" panose="020B0604020202020204" pitchFamily="34" charset="0"/>
                        </a:rPr>
                        <a:t>motorTimer</a:t>
                      </a:r>
                      <a:r>
                        <a:rPr lang="en-US" dirty="0">
                          <a:latin typeface="Arial" panose="020B0604020202020204" pitchFamily="34" charset="0"/>
                          <a:cs typeface="Arial" panose="020B0604020202020204" pitchFamily="34" charset="0"/>
                        </a:rPr>
                        <a:t> &lt; speed (so turn motor on)</a:t>
                      </a:r>
                      <a:endParaRPr lang="en-GB"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HIGH</a:t>
                      </a:r>
                      <a:endParaRPr lang="en-GB"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LOW</a:t>
                      </a:r>
                      <a:endParaRPr lang="en-GB"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HIGH</a:t>
                      </a:r>
                      <a:endParaRPr lang="en-GB" dirty="0">
                        <a:latin typeface="Arial" panose="020B0604020202020204" pitchFamily="34" charset="0"/>
                        <a:cs typeface="Arial" panose="020B0604020202020204" pitchFamily="34" charset="0"/>
                      </a:endParaRPr>
                    </a:p>
                  </a:txBody>
                  <a:tcPr/>
                </a:tc>
                <a:tc>
                  <a:txBody>
                    <a:bodyPr/>
                    <a:lstStyle/>
                    <a:p>
                      <a:r>
                        <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LOW</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341235884"/>
                  </a:ext>
                </a:extLst>
              </a:tr>
              <a:tr h="370840">
                <a:tc>
                  <a:txBody>
                    <a:bodyPr/>
                    <a:lstStyle/>
                    <a:p>
                      <a:r>
                        <a:rPr lang="en-US" dirty="0">
                          <a:latin typeface="Arial" panose="020B0604020202020204" pitchFamily="34" charset="0"/>
                          <a:cs typeface="Arial" panose="020B0604020202020204" pitchFamily="34" charset="0"/>
                        </a:rPr>
                        <a:t>1</a:t>
                      </a:r>
                      <a:endParaRPr lang="en-GB"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Arial" panose="020B0604020202020204" pitchFamily="34" charset="0"/>
                          <a:cs typeface="Arial" panose="020B0604020202020204" pitchFamily="34" charset="0"/>
                        </a:rPr>
                        <a:t>motorTimer</a:t>
                      </a:r>
                      <a:r>
                        <a:rPr lang="en-US" dirty="0">
                          <a:latin typeface="Arial" panose="020B0604020202020204" pitchFamily="34" charset="0"/>
                          <a:cs typeface="Arial" panose="020B0604020202020204" pitchFamily="34" charset="0"/>
                        </a:rPr>
                        <a:t> &lt; speed (so turn motor on)</a:t>
                      </a:r>
                      <a:endParaRPr lang="en-GB"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HIGH</a:t>
                      </a:r>
                      <a:endParaRPr lang="en-GB"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LOW</a:t>
                      </a:r>
                      <a:endParaRPr lang="en-GB"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HIGH</a:t>
                      </a:r>
                      <a:endParaRPr lang="en-GB" dirty="0">
                        <a:latin typeface="Arial" panose="020B0604020202020204" pitchFamily="34" charset="0"/>
                        <a:cs typeface="Arial" panose="020B0604020202020204" pitchFamily="34" charset="0"/>
                      </a:endParaRPr>
                    </a:p>
                  </a:txBody>
                  <a:tcPr/>
                </a:tc>
                <a:tc>
                  <a:txBody>
                    <a:bodyPr/>
                    <a:lstStyle/>
                    <a:p>
                      <a:r>
                        <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LOW</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932396932"/>
                  </a:ext>
                </a:extLst>
              </a:tr>
              <a:tr h="370840">
                <a:tc>
                  <a:txBody>
                    <a:bodyPr/>
                    <a:lstStyle/>
                    <a:p>
                      <a:r>
                        <a:rPr lang="en-US" dirty="0">
                          <a:latin typeface="Arial" panose="020B0604020202020204" pitchFamily="34" charset="0"/>
                          <a:cs typeface="Arial" panose="020B0604020202020204" pitchFamily="34" charset="0"/>
                        </a:rPr>
                        <a:t>2</a:t>
                      </a:r>
                      <a:endParaRPr lang="en-GB"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Arial" panose="020B0604020202020204" pitchFamily="34" charset="0"/>
                          <a:cs typeface="Arial" panose="020B0604020202020204" pitchFamily="34" charset="0"/>
                        </a:rPr>
                        <a:t>motorTimer</a:t>
                      </a:r>
                      <a:r>
                        <a:rPr lang="en-US" dirty="0">
                          <a:latin typeface="Arial" panose="020B0604020202020204" pitchFamily="34" charset="0"/>
                          <a:cs typeface="Arial" panose="020B0604020202020204" pitchFamily="34" charset="0"/>
                        </a:rPr>
                        <a:t> &lt; speed (so turn motor on)</a:t>
                      </a:r>
                      <a:endParaRPr lang="en-GB"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HIGH</a:t>
                      </a:r>
                      <a:endParaRPr lang="en-GB"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LOW</a:t>
                      </a:r>
                      <a:endParaRPr lang="en-GB"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HIGH</a:t>
                      </a:r>
                      <a:endParaRPr lang="en-GB" dirty="0">
                        <a:latin typeface="Arial" panose="020B0604020202020204" pitchFamily="34" charset="0"/>
                        <a:cs typeface="Arial" panose="020B0604020202020204" pitchFamily="34" charset="0"/>
                      </a:endParaRPr>
                    </a:p>
                  </a:txBody>
                  <a:tcPr/>
                </a:tc>
                <a:tc>
                  <a:txBody>
                    <a:bodyPr/>
                    <a:lstStyle/>
                    <a:p>
                      <a:r>
                        <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LOW</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495529319"/>
                  </a:ext>
                </a:extLst>
              </a:tr>
              <a:tr h="370840">
                <a:tc>
                  <a:txBody>
                    <a:bodyPr/>
                    <a:lstStyle/>
                    <a:p>
                      <a:r>
                        <a:rPr lang="en-US" dirty="0">
                          <a:latin typeface="Arial" panose="020B0604020202020204" pitchFamily="34" charset="0"/>
                          <a:cs typeface="Arial" panose="020B0604020202020204" pitchFamily="34" charset="0"/>
                        </a:rPr>
                        <a:t>3</a:t>
                      </a:r>
                      <a:endParaRPr lang="en-GB"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Arial" panose="020B0604020202020204" pitchFamily="34" charset="0"/>
                          <a:cs typeface="Arial" panose="020B0604020202020204" pitchFamily="34" charset="0"/>
                        </a:rPr>
                        <a:t>motorTimer</a:t>
                      </a:r>
                      <a:r>
                        <a:rPr lang="en-US" dirty="0">
                          <a:latin typeface="Arial" panose="020B0604020202020204" pitchFamily="34" charset="0"/>
                          <a:cs typeface="Arial" panose="020B0604020202020204" pitchFamily="34" charset="0"/>
                        </a:rPr>
                        <a:t> &lt; speed (so turn motor on)</a:t>
                      </a:r>
                      <a:endParaRPr lang="en-GB"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HIGH</a:t>
                      </a:r>
                      <a:endParaRPr lang="en-GB" dirty="0">
                        <a:latin typeface="Arial" panose="020B0604020202020204" pitchFamily="34" charset="0"/>
                        <a:cs typeface="Arial" panose="020B0604020202020204" pitchFamily="34" charset="0"/>
                      </a:endParaRPr>
                    </a:p>
                  </a:txBody>
                  <a:tcPr/>
                </a:tc>
                <a:tc>
                  <a:txBody>
                    <a:bodyPr/>
                    <a:lstStyle/>
                    <a:p>
                      <a:r>
                        <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LOW</a:t>
                      </a:r>
                      <a:endParaRPr lang="en-GB"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HIGH</a:t>
                      </a:r>
                      <a:endParaRPr lang="en-GB" dirty="0">
                        <a:latin typeface="Arial" panose="020B0604020202020204" pitchFamily="34" charset="0"/>
                        <a:cs typeface="Arial" panose="020B0604020202020204" pitchFamily="34" charset="0"/>
                      </a:endParaRPr>
                    </a:p>
                  </a:txBody>
                  <a:tcPr/>
                </a:tc>
                <a:tc>
                  <a:txBody>
                    <a:bodyPr/>
                    <a:lstStyle/>
                    <a:p>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LOW</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774000015"/>
                  </a:ext>
                </a:extLst>
              </a:tr>
              <a:tr h="370840">
                <a:tc>
                  <a:txBody>
                    <a:bodyPr/>
                    <a:lstStyle/>
                    <a:p>
                      <a:r>
                        <a:rPr lang="en-US" dirty="0">
                          <a:latin typeface="Arial" panose="020B0604020202020204" pitchFamily="34" charset="0"/>
                          <a:cs typeface="Arial" panose="020B0604020202020204" pitchFamily="34" charset="0"/>
                        </a:rPr>
                        <a:t>4</a:t>
                      </a:r>
                      <a:endParaRPr lang="en-GB"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Arial" panose="020B0604020202020204" pitchFamily="34" charset="0"/>
                          <a:cs typeface="Arial" panose="020B0604020202020204" pitchFamily="34" charset="0"/>
                        </a:rPr>
                        <a:t>motorTimer</a:t>
                      </a:r>
                      <a:r>
                        <a:rPr lang="en-US" dirty="0">
                          <a:latin typeface="Arial" panose="020B0604020202020204" pitchFamily="34" charset="0"/>
                          <a:cs typeface="Arial" panose="020B0604020202020204" pitchFamily="34" charset="0"/>
                        </a:rPr>
                        <a:t> &lt; speed (so turn motor on)</a:t>
                      </a:r>
                      <a:endParaRPr lang="en-GB"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HIGH</a:t>
                      </a:r>
                      <a:endParaRPr lang="en-GB" dirty="0">
                        <a:latin typeface="Arial" panose="020B0604020202020204" pitchFamily="34" charset="0"/>
                        <a:cs typeface="Arial" panose="020B0604020202020204" pitchFamily="34" charset="0"/>
                      </a:endParaRPr>
                    </a:p>
                  </a:txBody>
                  <a:tcPr/>
                </a:tc>
                <a:tc>
                  <a:txBody>
                    <a:bodyPr/>
                    <a:lstStyle/>
                    <a:p>
                      <a:r>
                        <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LOW</a:t>
                      </a:r>
                      <a:endParaRPr lang="en-GB"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HIGH</a:t>
                      </a:r>
                      <a:endParaRPr lang="en-GB" dirty="0">
                        <a:latin typeface="Arial" panose="020B0604020202020204" pitchFamily="34" charset="0"/>
                        <a:cs typeface="Arial" panose="020B0604020202020204" pitchFamily="34" charset="0"/>
                      </a:endParaRPr>
                    </a:p>
                  </a:txBody>
                  <a:tcPr/>
                </a:tc>
                <a:tc>
                  <a:txBody>
                    <a:bodyPr/>
                    <a:lstStyle/>
                    <a:p>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LOW</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42263474"/>
                  </a:ext>
                </a:extLst>
              </a:tr>
              <a:tr h="370840">
                <a:tc>
                  <a:txBody>
                    <a:bodyPr/>
                    <a:lstStyle/>
                    <a:p>
                      <a:r>
                        <a:rPr lang="en-US" dirty="0">
                          <a:latin typeface="Arial" panose="020B0604020202020204" pitchFamily="34" charset="0"/>
                          <a:cs typeface="Arial" panose="020B0604020202020204" pitchFamily="34" charset="0"/>
                        </a:rPr>
                        <a:t>5</a:t>
                      </a:r>
                      <a:endParaRPr lang="en-GB"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Arial" panose="020B0604020202020204" pitchFamily="34" charset="0"/>
                          <a:cs typeface="Arial" panose="020B0604020202020204" pitchFamily="34" charset="0"/>
                        </a:rPr>
                        <a:t>motorTimer</a:t>
                      </a:r>
                      <a:r>
                        <a:rPr lang="en-US" dirty="0">
                          <a:latin typeface="Arial" panose="020B0604020202020204" pitchFamily="34" charset="0"/>
                          <a:cs typeface="Arial" panose="020B0604020202020204" pitchFamily="34" charset="0"/>
                        </a:rPr>
                        <a:t> = speed (so turn motor off)</a:t>
                      </a:r>
                      <a:endParaRPr lang="en-GB" dirty="0">
                        <a:latin typeface="Arial" panose="020B0604020202020204" pitchFamily="34" charset="0"/>
                        <a:cs typeface="Arial" panose="020B0604020202020204" pitchFamily="34" charset="0"/>
                      </a:endParaRPr>
                    </a:p>
                  </a:txBody>
                  <a:tcPr/>
                </a:tc>
                <a:tc>
                  <a:txBody>
                    <a:bodyPr/>
                    <a:lstStyle/>
                    <a:p>
                      <a:r>
                        <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LOW</a:t>
                      </a:r>
                      <a:endParaRPr lang="en-GB" dirty="0">
                        <a:latin typeface="Arial" panose="020B0604020202020204" pitchFamily="34" charset="0"/>
                        <a:cs typeface="Arial" panose="020B0604020202020204" pitchFamily="34" charset="0"/>
                      </a:endParaRPr>
                    </a:p>
                  </a:txBody>
                  <a:tcPr/>
                </a:tc>
                <a:tc>
                  <a:txBody>
                    <a:bodyPr/>
                    <a:lstStyle/>
                    <a:p>
                      <a:r>
                        <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LOW</a:t>
                      </a:r>
                      <a:endParaRPr lang="en-GB" dirty="0">
                        <a:latin typeface="Arial" panose="020B0604020202020204" pitchFamily="34" charset="0"/>
                        <a:cs typeface="Arial" panose="020B0604020202020204" pitchFamily="34" charset="0"/>
                      </a:endParaRPr>
                    </a:p>
                  </a:txBody>
                  <a:tcPr/>
                </a:tc>
                <a:tc>
                  <a:txBody>
                    <a:bodyPr/>
                    <a:lstStyle/>
                    <a:p>
                      <a:r>
                        <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LOW</a:t>
                      </a:r>
                      <a:endParaRPr lang="en-GB" dirty="0">
                        <a:latin typeface="Arial" panose="020B0604020202020204" pitchFamily="34" charset="0"/>
                        <a:cs typeface="Arial" panose="020B0604020202020204" pitchFamily="34" charset="0"/>
                      </a:endParaRPr>
                    </a:p>
                  </a:txBody>
                  <a:tcPr/>
                </a:tc>
                <a:tc>
                  <a:txBody>
                    <a:bodyPr/>
                    <a:lstStyle/>
                    <a:p>
                      <a:r>
                        <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LOW</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525219083"/>
                  </a:ext>
                </a:extLst>
              </a:tr>
              <a:tr h="370840">
                <a:tc>
                  <a:txBody>
                    <a:bodyPr/>
                    <a:lstStyle/>
                    <a:p>
                      <a:r>
                        <a:rPr lang="en-US" dirty="0">
                          <a:latin typeface="Arial" panose="020B0604020202020204" pitchFamily="34" charset="0"/>
                          <a:cs typeface="Arial" panose="020B0604020202020204" pitchFamily="34" charset="0"/>
                        </a:rPr>
                        <a:t>6</a:t>
                      </a:r>
                      <a:endParaRPr lang="en-GB"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Arial" panose="020B0604020202020204" pitchFamily="34" charset="0"/>
                          <a:cs typeface="Arial" panose="020B0604020202020204" pitchFamily="34" charset="0"/>
                        </a:rPr>
                        <a:t>motorTimer</a:t>
                      </a:r>
                      <a:r>
                        <a:rPr lang="en-US" dirty="0">
                          <a:latin typeface="Arial" panose="020B0604020202020204" pitchFamily="34" charset="0"/>
                          <a:cs typeface="Arial" panose="020B0604020202020204" pitchFamily="34" charset="0"/>
                        </a:rPr>
                        <a:t> &gt; speed (so turn motor off)</a:t>
                      </a:r>
                      <a:endParaRPr lang="en-GB" dirty="0">
                        <a:latin typeface="Arial" panose="020B0604020202020204" pitchFamily="34" charset="0"/>
                        <a:cs typeface="Arial" panose="020B0604020202020204" pitchFamily="34" charset="0"/>
                      </a:endParaRPr>
                    </a:p>
                  </a:txBody>
                  <a:tcPr/>
                </a:tc>
                <a:tc>
                  <a:txBody>
                    <a:bodyPr/>
                    <a:lstStyle/>
                    <a:p>
                      <a:r>
                        <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LOW</a:t>
                      </a:r>
                      <a:endParaRPr lang="en-GB" dirty="0">
                        <a:latin typeface="Arial" panose="020B0604020202020204" pitchFamily="34" charset="0"/>
                        <a:cs typeface="Arial" panose="020B0604020202020204" pitchFamily="34" charset="0"/>
                      </a:endParaRPr>
                    </a:p>
                  </a:txBody>
                  <a:tcPr/>
                </a:tc>
                <a:tc>
                  <a:txBody>
                    <a:bodyPr/>
                    <a:lstStyle/>
                    <a:p>
                      <a:r>
                        <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LOW</a:t>
                      </a:r>
                      <a:endParaRPr lang="en-GB" dirty="0">
                        <a:latin typeface="Arial" panose="020B0604020202020204" pitchFamily="34" charset="0"/>
                        <a:cs typeface="Arial" panose="020B0604020202020204" pitchFamily="34" charset="0"/>
                      </a:endParaRPr>
                    </a:p>
                  </a:txBody>
                  <a:tcPr/>
                </a:tc>
                <a:tc>
                  <a:txBody>
                    <a:bodyPr/>
                    <a:lstStyle/>
                    <a:p>
                      <a:r>
                        <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LOW</a:t>
                      </a:r>
                      <a:endParaRPr lang="en-GB" dirty="0">
                        <a:latin typeface="Arial" panose="020B0604020202020204" pitchFamily="34" charset="0"/>
                        <a:cs typeface="Arial" panose="020B0604020202020204" pitchFamily="34" charset="0"/>
                      </a:endParaRPr>
                    </a:p>
                  </a:txBody>
                  <a:tcPr/>
                </a:tc>
                <a:tc>
                  <a:txBody>
                    <a:bodyPr/>
                    <a:lstStyle/>
                    <a:p>
                      <a:r>
                        <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LOW</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105151413"/>
                  </a:ext>
                </a:extLst>
              </a:tr>
              <a:tr h="370840">
                <a:tc>
                  <a:txBody>
                    <a:bodyPr/>
                    <a:lstStyle/>
                    <a:p>
                      <a:r>
                        <a:rPr lang="en-US" dirty="0">
                          <a:latin typeface="Arial" panose="020B0604020202020204" pitchFamily="34" charset="0"/>
                          <a:cs typeface="Arial" panose="020B0604020202020204" pitchFamily="34" charset="0"/>
                        </a:rPr>
                        <a:t>7</a:t>
                      </a:r>
                      <a:endParaRPr lang="en-GB"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motorTimer</a:t>
                      </a: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&gt; </a:t>
                      </a:r>
                      <a:r>
                        <a:rPr lang="en-US" dirty="0">
                          <a:latin typeface="Arial" panose="020B0604020202020204" pitchFamily="34" charset="0"/>
                          <a:cs typeface="Arial" panose="020B0604020202020204" pitchFamily="34" charset="0"/>
                        </a:rPr>
                        <a:t>speed (so turn motor off)</a:t>
                      </a:r>
                      <a:endParaRPr kumimoji="0" lang="en-GB"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r>
                        <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LOW</a:t>
                      </a:r>
                      <a:endParaRPr lang="en-GB" dirty="0">
                        <a:latin typeface="Arial" panose="020B0604020202020204" pitchFamily="34" charset="0"/>
                        <a:cs typeface="Arial" panose="020B0604020202020204" pitchFamily="34" charset="0"/>
                      </a:endParaRPr>
                    </a:p>
                  </a:txBody>
                  <a:tcPr/>
                </a:tc>
                <a:tc>
                  <a:txBody>
                    <a:bodyPr/>
                    <a:lstStyle/>
                    <a:p>
                      <a:r>
                        <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LOW</a:t>
                      </a:r>
                      <a:endParaRPr lang="en-GB" dirty="0">
                        <a:latin typeface="Arial" panose="020B0604020202020204" pitchFamily="34" charset="0"/>
                        <a:cs typeface="Arial" panose="020B0604020202020204" pitchFamily="34" charset="0"/>
                      </a:endParaRPr>
                    </a:p>
                  </a:txBody>
                  <a:tcPr/>
                </a:tc>
                <a:tc>
                  <a:txBody>
                    <a:bodyPr/>
                    <a:lstStyle/>
                    <a:p>
                      <a:r>
                        <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LOW</a:t>
                      </a:r>
                      <a:endParaRPr lang="en-GB" dirty="0">
                        <a:latin typeface="Arial" panose="020B0604020202020204" pitchFamily="34" charset="0"/>
                        <a:cs typeface="Arial" panose="020B0604020202020204" pitchFamily="34" charset="0"/>
                      </a:endParaRPr>
                    </a:p>
                  </a:txBody>
                  <a:tcPr/>
                </a:tc>
                <a:tc>
                  <a:txBody>
                    <a:bodyPr/>
                    <a:lstStyle/>
                    <a:p>
                      <a:r>
                        <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LOW</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92135892"/>
                  </a:ext>
                </a:extLst>
              </a:tr>
              <a:tr h="370840">
                <a:tc>
                  <a:txBody>
                    <a:bodyPr/>
                    <a:lstStyle/>
                    <a:p>
                      <a:r>
                        <a:rPr lang="en-US" dirty="0">
                          <a:latin typeface="Arial" panose="020B0604020202020204" pitchFamily="34" charset="0"/>
                          <a:cs typeface="Arial" panose="020B0604020202020204" pitchFamily="34" charset="0"/>
                        </a:rPr>
                        <a:t>8</a:t>
                      </a:r>
                      <a:endParaRPr lang="en-GB"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motorTimer</a:t>
                      </a: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&gt; </a:t>
                      </a:r>
                      <a:r>
                        <a:rPr lang="en-US" dirty="0">
                          <a:latin typeface="Arial" panose="020B0604020202020204" pitchFamily="34" charset="0"/>
                          <a:cs typeface="Arial" panose="020B0604020202020204" pitchFamily="34" charset="0"/>
                        </a:rPr>
                        <a:t>speed (so turn motor off)</a:t>
                      </a:r>
                      <a:endParaRPr kumimoji="0" lang="en-GB"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r>
                        <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LOW</a:t>
                      </a:r>
                      <a:endParaRPr lang="en-GB" dirty="0">
                        <a:latin typeface="Arial" panose="020B0604020202020204" pitchFamily="34" charset="0"/>
                        <a:cs typeface="Arial" panose="020B0604020202020204" pitchFamily="34" charset="0"/>
                      </a:endParaRPr>
                    </a:p>
                  </a:txBody>
                  <a:tcPr/>
                </a:tc>
                <a:tc>
                  <a:txBody>
                    <a:bodyPr/>
                    <a:lstStyle/>
                    <a:p>
                      <a:r>
                        <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LOW</a:t>
                      </a:r>
                      <a:endParaRPr lang="en-GB" dirty="0">
                        <a:latin typeface="Arial" panose="020B0604020202020204" pitchFamily="34" charset="0"/>
                        <a:cs typeface="Arial" panose="020B0604020202020204" pitchFamily="34" charset="0"/>
                      </a:endParaRPr>
                    </a:p>
                  </a:txBody>
                  <a:tcPr/>
                </a:tc>
                <a:tc>
                  <a:txBody>
                    <a:bodyPr/>
                    <a:lstStyle/>
                    <a:p>
                      <a:r>
                        <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LOW</a:t>
                      </a:r>
                      <a:endParaRPr lang="en-GB" dirty="0">
                        <a:latin typeface="Arial" panose="020B0604020202020204" pitchFamily="34" charset="0"/>
                        <a:cs typeface="Arial" panose="020B0604020202020204" pitchFamily="34" charset="0"/>
                      </a:endParaRPr>
                    </a:p>
                  </a:txBody>
                  <a:tcPr/>
                </a:tc>
                <a:tc>
                  <a:txBody>
                    <a:bodyPr/>
                    <a:lstStyle/>
                    <a:p>
                      <a:r>
                        <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LOW</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400260774"/>
                  </a:ext>
                </a:extLst>
              </a:tr>
              <a:tr h="370840">
                <a:tc>
                  <a:txBody>
                    <a:bodyPr/>
                    <a:lstStyle/>
                    <a:p>
                      <a:r>
                        <a:rPr lang="en-US" dirty="0">
                          <a:latin typeface="Arial" panose="020B0604020202020204" pitchFamily="34" charset="0"/>
                          <a:cs typeface="Arial" panose="020B0604020202020204" pitchFamily="34" charset="0"/>
                        </a:rPr>
                        <a:t>9</a:t>
                      </a:r>
                      <a:endParaRPr lang="en-GB"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motorTimer</a:t>
                      </a: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&gt; </a:t>
                      </a:r>
                      <a:r>
                        <a:rPr lang="en-US" dirty="0">
                          <a:latin typeface="Arial" panose="020B0604020202020204" pitchFamily="34" charset="0"/>
                          <a:cs typeface="Arial" panose="020B0604020202020204" pitchFamily="34" charset="0"/>
                        </a:rPr>
                        <a:t>speed (so turn motor off)</a:t>
                      </a:r>
                      <a:endParaRPr kumimoji="0" lang="en-GB"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LOW</a:t>
                      </a:r>
                      <a:endParaRPr lang="en-GB" dirty="0">
                        <a:latin typeface="Arial" panose="020B0604020202020204" pitchFamily="34" charset="0"/>
                        <a:cs typeface="Arial" panose="020B0604020202020204" pitchFamily="34" charset="0"/>
                      </a:endParaRPr>
                    </a:p>
                  </a:txBody>
                  <a:tcPr/>
                </a:tc>
                <a:tc>
                  <a:txBody>
                    <a:bodyPr/>
                    <a:lstStyle/>
                    <a:p>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LOW</a:t>
                      </a:r>
                      <a:endParaRPr lang="en-GB" dirty="0">
                        <a:latin typeface="Arial" panose="020B0604020202020204" pitchFamily="34" charset="0"/>
                        <a:cs typeface="Arial" panose="020B0604020202020204" pitchFamily="34" charset="0"/>
                      </a:endParaRPr>
                    </a:p>
                  </a:txBody>
                  <a:tcPr/>
                </a:tc>
                <a:tc>
                  <a:txBody>
                    <a:bodyPr/>
                    <a:lstStyle/>
                    <a:p>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LOW</a:t>
                      </a:r>
                      <a:endParaRPr lang="en-GB" dirty="0">
                        <a:latin typeface="Arial" panose="020B0604020202020204" pitchFamily="34" charset="0"/>
                        <a:cs typeface="Arial" panose="020B0604020202020204" pitchFamily="34" charset="0"/>
                      </a:endParaRPr>
                    </a:p>
                  </a:txBody>
                  <a:tcPr/>
                </a:tc>
                <a:tc>
                  <a:txBody>
                    <a:bodyPr/>
                    <a:lstStyle/>
                    <a:p>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LOW</a:t>
                      </a:r>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87580844"/>
                  </a:ext>
                </a:extLst>
              </a:tr>
              <a:tr h="370840">
                <a:tc>
                  <a:txBody>
                    <a:bodyPr/>
                    <a:lstStyle/>
                    <a:p>
                      <a:r>
                        <a:rPr lang="en-US" dirty="0">
                          <a:latin typeface="Arial" panose="020B0604020202020204" pitchFamily="34" charset="0"/>
                          <a:cs typeface="Arial" panose="020B0604020202020204" pitchFamily="34" charset="0"/>
                        </a:rPr>
                        <a:t>10</a:t>
                      </a:r>
                      <a:endParaRPr lang="en-GB"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motorTimer</a:t>
                      </a: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&gt;= </a:t>
                      </a:r>
                      <a:r>
                        <a:rPr kumimoji="0" lang="en-US" sz="1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maxMotorSpeed</a:t>
                      </a: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(set </a:t>
                      </a:r>
                      <a:r>
                        <a:rPr kumimoji="0" lang="en-US" sz="1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motorTimer</a:t>
                      </a: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en-GB"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endParaRPr lang="en-GB" dirty="0">
                        <a:latin typeface="Arial" panose="020B0604020202020204" pitchFamily="34" charset="0"/>
                        <a:cs typeface="Arial" panose="020B0604020202020204" pitchFamily="34" charset="0"/>
                      </a:endParaRPr>
                    </a:p>
                  </a:txBody>
                  <a:tcPr/>
                </a:tc>
                <a:tc>
                  <a:txBody>
                    <a:bodyPr/>
                    <a:lstStyle/>
                    <a:p>
                      <a:endParaRPr lang="en-GB" dirty="0">
                        <a:latin typeface="Arial" panose="020B0604020202020204" pitchFamily="34" charset="0"/>
                        <a:cs typeface="Arial" panose="020B0604020202020204" pitchFamily="34" charset="0"/>
                      </a:endParaRPr>
                    </a:p>
                  </a:txBody>
                  <a:tcPr/>
                </a:tc>
                <a:tc>
                  <a:txBody>
                    <a:bodyPr/>
                    <a:lstStyle/>
                    <a:p>
                      <a:endParaRPr lang="en-GB" dirty="0">
                        <a:latin typeface="Arial" panose="020B0604020202020204" pitchFamily="34" charset="0"/>
                        <a:cs typeface="Arial" panose="020B0604020202020204" pitchFamily="34" charset="0"/>
                      </a:endParaRPr>
                    </a:p>
                  </a:txBody>
                  <a:tcPr/>
                </a:tc>
                <a:tc>
                  <a:txBody>
                    <a:bodyPr/>
                    <a:lstStyle/>
                    <a:p>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712378761"/>
                  </a:ext>
                </a:extLst>
              </a:tr>
            </a:tbl>
          </a:graphicData>
        </a:graphic>
      </p:graphicFrame>
      <p:sp>
        <p:nvSpPr>
          <p:cNvPr id="6" name="TextBox 5">
            <a:extLst>
              <a:ext uri="{FF2B5EF4-FFF2-40B4-BE49-F238E27FC236}">
                <a16:creationId xmlns:a16="http://schemas.microsoft.com/office/drawing/2014/main" id="{D9D66632-DE11-4918-A0BB-481F7EA01453}"/>
              </a:ext>
            </a:extLst>
          </p:cNvPr>
          <p:cNvSpPr txBox="1"/>
          <p:nvPr/>
        </p:nvSpPr>
        <p:spPr>
          <a:xfrm>
            <a:off x="645952" y="335560"/>
            <a:ext cx="10914077" cy="461665"/>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If we set speed = 5, and </a:t>
            </a:r>
            <a:r>
              <a:rPr lang="en-US" sz="2400" dirty="0" err="1">
                <a:latin typeface="Arial" panose="020B0604020202020204" pitchFamily="34" charset="0"/>
                <a:cs typeface="Arial" panose="020B0604020202020204" pitchFamily="34" charset="0"/>
              </a:rPr>
              <a:t>maxMotorSpeed</a:t>
            </a:r>
            <a:r>
              <a:rPr lang="en-US" sz="2400" dirty="0">
                <a:latin typeface="Arial" panose="020B0604020202020204" pitchFamily="34" charset="0"/>
                <a:cs typeface="Arial" panose="020B0604020202020204" pitchFamily="34" charset="0"/>
              </a:rPr>
              <a:t> = 10, we get some logic like this:</a:t>
            </a:r>
            <a:endParaRPr lang="en-GB"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12334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F66B56-A983-4359-80ED-4CA73B9F4B05}"/>
              </a:ext>
            </a:extLst>
          </p:cNvPr>
          <p:cNvSpPr>
            <a:spLocks noGrp="1"/>
          </p:cNvSpPr>
          <p:nvPr>
            <p:ph idx="1"/>
          </p:nvPr>
        </p:nvSpPr>
        <p:spPr>
          <a:xfrm>
            <a:off x="2292097" y="0"/>
            <a:ext cx="8006787" cy="6858000"/>
          </a:xfrm>
        </p:spPr>
        <p:txBody>
          <a:bodyPr>
            <a:noAutofit/>
          </a:bodyPr>
          <a:lstStyle/>
          <a:p>
            <a:pPr marL="0" indent="0">
              <a:buNone/>
            </a:pPr>
            <a:r>
              <a:rPr lang="en-GB" sz="1700" dirty="0">
                <a:latin typeface="Arial" panose="020B0604020202020204" pitchFamily="34" charset="0"/>
                <a:cs typeface="Arial" panose="020B0604020202020204" pitchFamily="34" charset="0"/>
              </a:rPr>
              <a:t>void setup() {</a:t>
            </a: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  </a:t>
            </a:r>
            <a:r>
              <a:rPr lang="en-GB" sz="1700" dirty="0" err="1">
                <a:latin typeface="Arial" panose="020B0604020202020204" pitchFamily="34" charset="0"/>
                <a:cs typeface="Arial" panose="020B0604020202020204" pitchFamily="34" charset="0"/>
              </a:rPr>
              <a:t>pinMode</a:t>
            </a:r>
            <a:r>
              <a:rPr lang="en-GB" sz="1700" dirty="0">
                <a:latin typeface="Arial" panose="020B0604020202020204" pitchFamily="34" charset="0"/>
                <a:cs typeface="Arial" panose="020B0604020202020204" pitchFamily="34" charset="0"/>
              </a:rPr>
              <a:t>(in1Pin, OUTPUT);</a:t>
            </a: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  </a:t>
            </a:r>
            <a:r>
              <a:rPr lang="en-GB" sz="1700" dirty="0" err="1">
                <a:latin typeface="Arial" panose="020B0604020202020204" pitchFamily="34" charset="0"/>
                <a:cs typeface="Arial" panose="020B0604020202020204" pitchFamily="34" charset="0"/>
              </a:rPr>
              <a:t>pinMode</a:t>
            </a:r>
            <a:r>
              <a:rPr lang="en-GB" sz="1700" dirty="0">
                <a:latin typeface="Arial" panose="020B0604020202020204" pitchFamily="34" charset="0"/>
                <a:cs typeface="Arial" panose="020B0604020202020204" pitchFamily="34" charset="0"/>
              </a:rPr>
              <a:t>(in2Pin, OUTPUT);</a:t>
            </a: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  </a:t>
            </a:r>
            <a:r>
              <a:rPr lang="en-GB" sz="1700" dirty="0" err="1">
                <a:latin typeface="Arial" panose="020B0604020202020204" pitchFamily="34" charset="0"/>
                <a:cs typeface="Arial" panose="020B0604020202020204" pitchFamily="34" charset="0"/>
              </a:rPr>
              <a:t>pinMode</a:t>
            </a:r>
            <a:r>
              <a:rPr lang="en-GB" sz="1700" dirty="0">
                <a:latin typeface="Arial" panose="020B0604020202020204" pitchFamily="34" charset="0"/>
                <a:cs typeface="Arial" panose="020B0604020202020204" pitchFamily="34" charset="0"/>
              </a:rPr>
              <a:t>(in3Pin, OUTPUT);</a:t>
            </a: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  </a:t>
            </a:r>
            <a:r>
              <a:rPr lang="en-GB" sz="1700" dirty="0" err="1">
                <a:latin typeface="Arial" panose="020B0604020202020204" pitchFamily="34" charset="0"/>
                <a:cs typeface="Arial" panose="020B0604020202020204" pitchFamily="34" charset="0"/>
              </a:rPr>
              <a:t>pinMode</a:t>
            </a:r>
            <a:r>
              <a:rPr lang="en-GB" sz="1700" dirty="0">
                <a:latin typeface="Arial" panose="020B0604020202020204" pitchFamily="34" charset="0"/>
                <a:cs typeface="Arial" panose="020B0604020202020204" pitchFamily="34" charset="0"/>
              </a:rPr>
              <a:t>(in4Pin, OUTPUT);</a:t>
            </a: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a:t>
            </a:r>
            <a:br>
              <a:rPr lang="en-GB" sz="1700" dirty="0">
                <a:latin typeface="Arial" panose="020B0604020202020204" pitchFamily="34" charset="0"/>
                <a:cs typeface="Arial" panose="020B0604020202020204" pitchFamily="34" charset="0"/>
              </a:rPr>
            </a:b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void loop() {</a:t>
            </a:r>
            <a:br>
              <a:rPr lang="en-GB" sz="1700" dirty="0">
                <a:latin typeface="Arial" panose="020B0604020202020204" pitchFamily="34" charset="0"/>
                <a:cs typeface="Arial" panose="020B0604020202020204" pitchFamily="34" charset="0"/>
              </a:rPr>
            </a:br>
            <a:r>
              <a:rPr lang="da-DK" sz="1700" dirty="0">
                <a:latin typeface="Arial" panose="020B0604020202020204" pitchFamily="34" charset="0"/>
                <a:cs typeface="Arial" panose="020B0604020202020204" pitchFamily="34" charset="0"/>
              </a:rPr>
              <a:t> if (motorTimer &gt;= maxMotorSpeed) {</a:t>
            </a:r>
            <a:br>
              <a:rPr lang="da-DK" sz="1700" dirty="0">
                <a:latin typeface="Arial" panose="020B0604020202020204" pitchFamily="34" charset="0"/>
                <a:cs typeface="Arial" panose="020B0604020202020204" pitchFamily="34" charset="0"/>
              </a:rPr>
            </a:br>
            <a:r>
              <a:rPr lang="da-DK" sz="1700" dirty="0">
                <a:latin typeface="Arial" panose="020B0604020202020204" pitchFamily="34" charset="0"/>
                <a:cs typeface="Arial" panose="020B0604020202020204" pitchFamily="34" charset="0"/>
              </a:rPr>
              <a:t>    motorTimer = 0;</a:t>
            </a:r>
            <a:br>
              <a:rPr lang="da-DK" sz="1700" dirty="0">
                <a:latin typeface="Arial" panose="020B0604020202020204" pitchFamily="34" charset="0"/>
                <a:cs typeface="Arial" panose="020B0604020202020204" pitchFamily="34" charset="0"/>
              </a:rPr>
            </a:br>
            <a:r>
              <a:rPr lang="da-DK" sz="1700" dirty="0">
                <a:latin typeface="Arial" panose="020B0604020202020204" pitchFamily="34" charset="0"/>
                <a:cs typeface="Arial" panose="020B0604020202020204" pitchFamily="34" charset="0"/>
              </a:rPr>
              <a:t>  }</a:t>
            </a:r>
            <a:br>
              <a:rPr lang="da-DK"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  </a:t>
            </a:r>
            <a:r>
              <a:rPr lang="en-GB" sz="1700" dirty="0" err="1">
                <a:latin typeface="Arial" panose="020B0604020202020204" pitchFamily="34" charset="0"/>
                <a:cs typeface="Arial" panose="020B0604020202020204" pitchFamily="34" charset="0"/>
              </a:rPr>
              <a:t>setMotor</a:t>
            </a:r>
            <a:r>
              <a:rPr lang="en-GB" sz="1700" dirty="0">
                <a:latin typeface="Arial" panose="020B0604020202020204" pitchFamily="34" charset="0"/>
                <a:cs typeface="Arial" panose="020B0604020202020204" pitchFamily="34" charset="0"/>
              </a:rPr>
              <a:t>(in1Pin, in2Pin, motor1Speed);</a:t>
            </a: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  </a:t>
            </a:r>
            <a:r>
              <a:rPr lang="en-GB" sz="1700" dirty="0" err="1">
                <a:latin typeface="Arial" panose="020B0604020202020204" pitchFamily="34" charset="0"/>
                <a:cs typeface="Arial" panose="020B0604020202020204" pitchFamily="34" charset="0"/>
              </a:rPr>
              <a:t>setMotor</a:t>
            </a:r>
            <a:r>
              <a:rPr lang="en-GB" sz="1700" dirty="0">
                <a:latin typeface="Arial" panose="020B0604020202020204" pitchFamily="34" charset="0"/>
                <a:cs typeface="Arial" panose="020B0604020202020204" pitchFamily="34" charset="0"/>
              </a:rPr>
              <a:t>(in3Pin, in4Pin, motor2Speed);</a:t>
            </a: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 delay(2);</a:t>
            </a: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  </a:t>
            </a:r>
            <a:r>
              <a:rPr lang="en-GB" sz="1700" dirty="0" err="1">
                <a:latin typeface="Arial" panose="020B0604020202020204" pitchFamily="34" charset="0"/>
                <a:cs typeface="Arial" panose="020B0604020202020204" pitchFamily="34" charset="0"/>
              </a:rPr>
              <a:t>motorTimer</a:t>
            </a:r>
            <a:r>
              <a:rPr lang="en-GB" sz="1700" dirty="0">
                <a:latin typeface="Arial" panose="020B0604020202020204" pitchFamily="34" charset="0"/>
                <a:cs typeface="Arial" panose="020B0604020202020204" pitchFamily="34" charset="0"/>
              </a:rPr>
              <a:t>++;</a:t>
            </a: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a:t>
            </a:r>
          </a:p>
          <a:p>
            <a:pPr marL="0" indent="0">
              <a:buNone/>
            </a:pP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void </a:t>
            </a:r>
            <a:r>
              <a:rPr lang="en-GB" sz="1700" dirty="0" err="1">
                <a:latin typeface="Arial" panose="020B0604020202020204" pitchFamily="34" charset="0"/>
                <a:cs typeface="Arial" panose="020B0604020202020204" pitchFamily="34" charset="0"/>
              </a:rPr>
              <a:t>setMotor</a:t>
            </a:r>
            <a:r>
              <a:rPr lang="en-GB" sz="1700" dirty="0">
                <a:latin typeface="Arial" panose="020B0604020202020204" pitchFamily="34" charset="0"/>
                <a:cs typeface="Arial" panose="020B0604020202020204" pitchFamily="34" charset="0"/>
              </a:rPr>
              <a:t>(int motorPin1, int motorPin2, int speed){</a:t>
            </a: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   if (</a:t>
            </a:r>
            <a:r>
              <a:rPr lang="en-GB" sz="1700" dirty="0" err="1">
                <a:latin typeface="Arial" panose="020B0604020202020204" pitchFamily="34" charset="0"/>
                <a:cs typeface="Arial" panose="020B0604020202020204" pitchFamily="34" charset="0"/>
              </a:rPr>
              <a:t>motorTimer</a:t>
            </a:r>
            <a:r>
              <a:rPr lang="en-GB" sz="1700" dirty="0">
                <a:latin typeface="Arial" panose="020B0604020202020204" pitchFamily="34" charset="0"/>
                <a:cs typeface="Arial" panose="020B0604020202020204" pitchFamily="34" charset="0"/>
              </a:rPr>
              <a:t> &lt; speed) {</a:t>
            </a: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      </a:t>
            </a:r>
            <a:r>
              <a:rPr lang="en-GB" sz="1700" dirty="0" err="1">
                <a:latin typeface="Arial" panose="020B0604020202020204" pitchFamily="34" charset="0"/>
                <a:cs typeface="Arial" panose="020B0604020202020204" pitchFamily="34" charset="0"/>
              </a:rPr>
              <a:t>digitalWrite</a:t>
            </a:r>
            <a:r>
              <a:rPr lang="en-GB" sz="1700" dirty="0">
                <a:latin typeface="Arial" panose="020B0604020202020204" pitchFamily="34" charset="0"/>
                <a:cs typeface="Arial" panose="020B0604020202020204" pitchFamily="34" charset="0"/>
              </a:rPr>
              <a:t>(motorPin1, HIGH);</a:t>
            </a: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      </a:t>
            </a:r>
            <a:r>
              <a:rPr lang="en-GB" sz="1700" dirty="0" err="1">
                <a:latin typeface="Arial" panose="020B0604020202020204" pitchFamily="34" charset="0"/>
                <a:cs typeface="Arial" panose="020B0604020202020204" pitchFamily="34" charset="0"/>
              </a:rPr>
              <a:t>digitalWrite</a:t>
            </a:r>
            <a:r>
              <a:rPr lang="en-GB" sz="1700" dirty="0">
                <a:latin typeface="Arial" panose="020B0604020202020204" pitchFamily="34" charset="0"/>
                <a:cs typeface="Arial" panose="020B0604020202020204" pitchFamily="34" charset="0"/>
              </a:rPr>
              <a:t>(motorPin2, LOW);</a:t>
            </a: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   } else {</a:t>
            </a: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      </a:t>
            </a:r>
            <a:r>
              <a:rPr lang="en-GB" sz="1700" dirty="0" err="1">
                <a:latin typeface="Arial" panose="020B0604020202020204" pitchFamily="34" charset="0"/>
                <a:cs typeface="Arial" panose="020B0604020202020204" pitchFamily="34" charset="0"/>
              </a:rPr>
              <a:t>digitalWrite</a:t>
            </a:r>
            <a:r>
              <a:rPr lang="en-GB" sz="1700" dirty="0">
                <a:latin typeface="Arial" panose="020B0604020202020204" pitchFamily="34" charset="0"/>
                <a:cs typeface="Arial" panose="020B0604020202020204" pitchFamily="34" charset="0"/>
              </a:rPr>
              <a:t>(motorPin1, LOW);</a:t>
            </a: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      </a:t>
            </a:r>
            <a:r>
              <a:rPr lang="en-GB" sz="1700" dirty="0" err="1">
                <a:latin typeface="Arial" panose="020B0604020202020204" pitchFamily="34" charset="0"/>
                <a:cs typeface="Arial" panose="020B0604020202020204" pitchFamily="34" charset="0"/>
              </a:rPr>
              <a:t>digitalWrite</a:t>
            </a:r>
            <a:r>
              <a:rPr lang="en-GB" sz="1700" dirty="0">
                <a:latin typeface="Arial" panose="020B0604020202020204" pitchFamily="34" charset="0"/>
                <a:cs typeface="Arial" panose="020B0604020202020204" pitchFamily="34" charset="0"/>
              </a:rPr>
              <a:t>(motorPin2, LOW);</a:t>
            </a: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 }</a:t>
            </a: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a:t>
            </a:r>
            <a:br>
              <a:rPr lang="en-GB" sz="1700" dirty="0">
                <a:latin typeface="Arial" panose="020B0604020202020204" pitchFamily="34" charset="0"/>
                <a:cs typeface="Arial" panose="020B0604020202020204" pitchFamily="34" charset="0"/>
              </a:rPr>
            </a:br>
            <a:endParaRPr lang="en-GB" sz="17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7BCEAEA2-9200-4C7E-B6B3-FC40D8E0E523}"/>
              </a:ext>
            </a:extLst>
          </p:cNvPr>
          <p:cNvSpPr txBox="1"/>
          <p:nvPr/>
        </p:nvSpPr>
        <p:spPr>
          <a:xfrm>
            <a:off x="7639575" y="112977"/>
            <a:ext cx="2919370" cy="2585323"/>
          </a:xfrm>
          <a:prstGeom prst="rect">
            <a:avLst/>
          </a:prstGeom>
          <a:noFill/>
          <a:ln w="76200">
            <a:solidFill>
              <a:schemeClr val="tx1"/>
            </a:solidFill>
          </a:ln>
        </p:spPr>
        <p:txBody>
          <a:bodyPr wrap="square" rtlCol="0">
            <a:spAutoFit/>
          </a:bodyPr>
          <a:lstStyle/>
          <a:p>
            <a:r>
              <a:rPr lang="en-GB" dirty="0">
                <a:latin typeface="Arial" panose="020B0604020202020204" pitchFamily="34" charset="0"/>
                <a:cs typeface="Arial" panose="020B0604020202020204" pitchFamily="34" charset="0"/>
              </a:rPr>
              <a:t>int in1Pin = 2;</a:t>
            </a:r>
            <a:br>
              <a:rPr lang="en-GB" dirty="0">
                <a:latin typeface="Arial" panose="020B0604020202020204" pitchFamily="34" charset="0"/>
                <a:cs typeface="Arial" panose="020B0604020202020204" pitchFamily="34" charset="0"/>
              </a:rPr>
            </a:br>
            <a:r>
              <a:rPr lang="en-GB" dirty="0">
                <a:latin typeface="Arial" panose="020B0604020202020204" pitchFamily="34" charset="0"/>
                <a:cs typeface="Arial" panose="020B0604020202020204" pitchFamily="34" charset="0"/>
              </a:rPr>
              <a:t>int in2Pin = 3;</a:t>
            </a:r>
            <a:br>
              <a:rPr lang="en-GB" dirty="0">
                <a:latin typeface="Arial" panose="020B0604020202020204" pitchFamily="34" charset="0"/>
                <a:cs typeface="Arial" panose="020B0604020202020204" pitchFamily="34" charset="0"/>
              </a:rPr>
            </a:br>
            <a:r>
              <a:rPr lang="en-GB" dirty="0">
                <a:latin typeface="Arial" panose="020B0604020202020204" pitchFamily="34" charset="0"/>
                <a:cs typeface="Arial" panose="020B0604020202020204" pitchFamily="34" charset="0"/>
              </a:rPr>
              <a:t>int in3Pin = 4;</a:t>
            </a:r>
            <a:br>
              <a:rPr lang="en-GB" dirty="0">
                <a:latin typeface="Arial" panose="020B0604020202020204" pitchFamily="34" charset="0"/>
                <a:cs typeface="Arial" panose="020B0604020202020204" pitchFamily="34" charset="0"/>
              </a:rPr>
            </a:br>
            <a:r>
              <a:rPr lang="en-GB" dirty="0">
                <a:latin typeface="Arial" panose="020B0604020202020204" pitchFamily="34" charset="0"/>
                <a:cs typeface="Arial" panose="020B0604020202020204" pitchFamily="34" charset="0"/>
              </a:rPr>
              <a:t>int in4Pin = 5;</a:t>
            </a:r>
            <a:br>
              <a:rPr lang="en-GB" dirty="0">
                <a:latin typeface="Arial" panose="020B0604020202020204" pitchFamily="34" charset="0"/>
                <a:cs typeface="Arial" panose="020B0604020202020204" pitchFamily="34" charset="0"/>
              </a:rPr>
            </a:br>
            <a:br>
              <a:rPr lang="en-GB" dirty="0">
                <a:latin typeface="Arial" panose="020B0604020202020204" pitchFamily="34" charset="0"/>
                <a:cs typeface="Arial" panose="020B0604020202020204" pitchFamily="34" charset="0"/>
              </a:rPr>
            </a:br>
            <a:r>
              <a:rPr lang="en-GB" dirty="0">
                <a:latin typeface="Arial" panose="020B0604020202020204" pitchFamily="34" charset="0"/>
                <a:cs typeface="Arial" panose="020B0604020202020204" pitchFamily="34" charset="0"/>
              </a:rPr>
              <a:t>int motor1Speed = 0; </a:t>
            </a:r>
          </a:p>
          <a:p>
            <a:r>
              <a:rPr lang="en-GB" dirty="0">
                <a:latin typeface="Arial" panose="020B0604020202020204" pitchFamily="34" charset="0"/>
                <a:cs typeface="Arial" panose="020B0604020202020204" pitchFamily="34" charset="0"/>
              </a:rPr>
              <a:t>int motor2Speed = 0;</a:t>
            </a:r>
          </a:p>
          <a:p>
            <a:r>
              <a:rPr lang="en-GB" dirty="0">
                <a:latin typeface="Arial" panose="020B0604020202020204" pitchFamily="34" charset="0"/>
                <a:cs typeface="Arial" panose="020B0604020202020204" pitchFamily="34" charset="0"/>
              </a:rPr>
              <a:t>int </a:t>
            </a:r>
            <a:r>
              <a:rPr lang="en-GB" dirty="0" err="1">
                <a:latin typeface="Arial" panose="020B0604020202020204" pitchFamily="34" charset="0"/>
                <a:cs typeface="Arial" panose="020B0604020202020204" pitchFamily="34" charset="0"/>
              </a:rPr>
              <a:t>maxMotorSpeed</a:t>
            </a:r>
            <a:r>
              <a:rPr lang="en-GB" dirty="0">
                <a:latin typeface="Arial" panose="020B0604020202020204" pitchFamily="34" charset="0"/>
                <a:cs typeface="Arial" panose="020B0604020202020204" pitchFamily="34" charset="0"/>
              </a:rPr>
              <a:t> = 10;</a:t>
            </a:r>
            <a:br>
              <a:rPr lang="en-GB" dirty="0">
                <a:latin typeface="Arial" panose="020B0604020202020204" pitchFamily="34" charset="0"/>
                <a:cs typeface="Arial" panose="020B0604020202020204" pitchFamily="34" charset="0"/>
              </a:rPr>
            </a:br>
            <a:r>
              <a:rPr lang="en-GB" dirty="0">
                <a:latin typeface="Arial" panose="020B0604020202020204" pitchFamily="34" charset="0"/>
                <a:cs typeface="Arial" panose="020B0604020202020204" pitchFamily="34" charset="0"/>
              </a:rPr>
              <a:t>int </a:t>
            </a:r>
            <a:r>
              <a:rPr lang="en-GB" dirty="0" err="1">
                <a:latin typeface="Arial" panose="020B0604020202020204" pitchFamily="34" charset="0"/>
                <a:cs typeface="Arial" panose="020B0604020202020204" pitchFamily="34" charset="0"/>
              </a:rPr>
              <a:t>motorTimer</a:t>
            </a:r>
            <a:r>
              <a:rPr lang="en-GB" dirty="0">
                <a:latin typeface="Arial" panose="020B0604020202020204" pitchFamily="34" charset="0"/>
                <a:cs typeface="Arial" panose="020B0604020202020204" pitchFamily="34" charset="0"/>
              </a:rPr>
              <a:t> = 0;</a:t>
            </a:r>
          </a:p>
        </p:txBody>
      </p:sp>
    </p:spTree>
    <p:extLst>
      <p:ext uri="{BB962C8B-B14F-4D97-AF65-F5344CB8AC3E}">
        <p14:creationId xmlns:p14="http://schemas.microsoft.com/office/powerpoint/2010/main" val="19778026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1079</TotalTime>
  <Words>2218</Words>
  <Application>Microsoft Office PowerPoint</Application>
  <PresentationFormat>Widescreen</PresentationFormat>
  <Paragraphs>327</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Arial Black</vt:lpstr>
      <vt:lpstr>Calibri</vt:lpstr>
      <vt:lpstr>Calibri Light</vt:lpstr>
      <vt:lpstr>Office Theme</vt:lpstr>
      <vt:lpstr>What is a jumper?</vt:lpstr>
      <vt:lpstr>pin connector names</vt:lpstr>
      <vt:lpstr>L298 Wiring</vt:lpstr>
      <vt:lpstr>Speed control connections</vt:lpstr>
      <vt:lpstr>We added a simple power switch</vt:lpstr>
      <vt:lpstr>We used some code like this…</vt:lpstr>
      <vt:lpstr>PowerPoint Presentation</vt:lpstr>
      <vt:lpstr>Now, our robot should be finished</vt:lpstr>
      <vt:lpstr>First, we need to check our robot</vt:lpstr>
      <vt:lpstr>Second, we need to categorise our robot</vt:lpstr>
      <vt:lpstr>example table</vt:lpstr>
      <vt:lpstr>Taking it further</vt:lpstr>
      <vt:lpstr>We know that we can control our robot speed with 6 pins</vt:lpstr>
      <vt:lpstr>Can we control our robot speed with only 5 pins? </vt:lpstr>
      <vt:lpstr>Yes, we can</vt:lpstr>
      <vt:lpstr>Can we control our robot speed with only 4 pins? or 3 pins?  Or even 2 or 1 pin. </vt:lpstr>
      <vt:lpstr>By using less pins we lose flexibility</vt:lpstr>
      <vt:lpstr>Last class we used the following code to test the motors</vt:lpstr>
      <vt:lpstr>Can we use this to vary the speed?</vt:lpstr>
      <vt:lpstr>Yes, we can.</vt:lpstr>
      <vt:lpstr>How can we use this?</vt:lpstr>
      <vt:lpstr>PowerPoint Presentation</vt:lpstr>
      <vt:lpstr>PowerPoint Presentation</vt:lpstr>
      <vt:lpstr>Delay, delay, delay</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Leon Bullock</dc:creator>
  <cp:lastModifiedBy>Leon Bullock</cp:lastModifiedBy>
  <cp:revision>25</cp:revision>
  <dcterms:created xsi:type="dcterms:W3CDTF">2021-04-14T12:20:14Z</dcterms:created>
  <dcterms:modified xsi:type="dcterms:W3CDTF">2021-04-15T07:09:26Z</dcterms:modified>
</cp:coreProperties>
</file>